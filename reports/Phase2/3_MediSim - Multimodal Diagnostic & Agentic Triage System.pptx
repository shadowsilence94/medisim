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Liter"/>
      <p:regular r:id="rId17"/>
    </p:embeddedFont>
    <p:embeddedFont>
      <p:font typeface="Quattrocento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UwY8R0R/kkk+GXIRWEgLZVj/y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Quattrocento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iter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attrocentoSans-bold.fntdata"/><Relationship Id="rId6" Type="http://schemas.openxmlformats.org/officeDocument/2006/relationships/slide" Target="slides/slide2.xml"/><Relationship Id="rId18" Type="http://schemas.openxmlformats.org/officeDocument/2006/relationships/font" Target="fonts/Quattrocento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8" name="Google Shape;65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3" name="Google Shape;72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513b5962f61579bdb097c6aa646c599f450b4bdc.jpg" id="86" name="Google Shape;86;p1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5098"/>
                </a:srgbClr>
              </a:gs>
              <a:gs pos="100000">
                <a:srgbClr val="4A908A">
                  <a:alpha val="30196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381000" y="381000"/>
            <a:ext cx="76200" cy="457200"/>
          </a:xfrm>
          <a:custGeom>
            <a:rect b="b" l="l" r="r" t="t"/>
            <a:pathLst>
              <a:path extrusionOk="0" h="457200" w="76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571500" y="495300"/>
            <a:ext cx="3028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2 Progress Report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381000" y="2343150"/>
            <a:ext cx="1200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MediSim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81000" y="371475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Multimodal Diagnostic &amp; Agentic Triage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04813" y="4281488"/>
            <a:ext cx="190500" cy="190500"/>
          </a:xfrm>
          <a:custGeom>
            <a:rect b="b" l="l" r="r" t="t"/>
            <a:pathLst>
              <a:path extrusionOk="0" h="190500" w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76275" y="4248150"/>
            <a:ext cx="1790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CNN-BiLSTM Fusion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2595786" y="4248150"/>
            <a:ext cx="161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2886894" y="4281488"/>
            <a:ext cx="238125" cy="190500"/>
          </a:xfrm>
          <a:custGeom>
            <a:rect b="b" l="l" r="r" t="t"/>
            <a:pathLst>
              <a:path extrusionOk="0" h="190500" w="238125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182169" y="4248150"/>
            <a:ext cx="2085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Multi-Agent Verification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81000" y="6019800"/>
            <a:ext cx="1971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Asian Institute of Technology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381000" y="6286500"/>
            <a:ext cx="1962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NLP 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478063" y="53340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Htut Ko Ko • Michael R. Lacar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6478063" y="59055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Imtiaz Ahmad • Aashutosh Raut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381000" y="419100"/>
            <a:ext cx="76200" cy="381000"/>
          </a:xfrm>
          <a:custGeom>
            <a:rect b="b" l="l" r="r" t="t"/>
            <a:pathLst>
              <a:path extrusionOk="0" h="381000" w="762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</p:sp>
      <p:sp>
        <p:nvSpPr>
          <p:cNvPr id="107" name="Google Shape;107;p2"/>
          <p:cNvSpPr/>
          <p:nvPr/>
        </p:nvSpPr>
        <p:spPr>
          <a:xfrm>
            <a:off x="571500" y="381000"/>
            <a:ext cx="3648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Project Overview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 &amp; MediSim Solution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00050" y="1409700"/>
            <a:ext cx="5581650" cy="3315081"/>
          </a:xfrm>
          <a:custGeom>
            <a:rect b="b" l="l" r="r" t="t"/>
            <a:pathLst>
              <a:path extrusionOk="0" h="4305300" w="5581650">
                <a:moveTo>
                  <a:pt x="38100" y="0"/>
                </a:moveTo>
                <a:lnTo>
                  <a:pt x="5429242" y="0"/>
                </a:lnTo>
                <a:cubicBezTo>
                  <a:pt x="5513415" y="0"/>
                  <a:pt x="5581650" y="68235"/>
                  <a:pt x="5581650" y="152408"/>
                </a:cubicBezTo>
                <a:lnTo>
                  <a:pt x="5581650" y="4152892"/>
                </a:lnTo>
                <a:cubicBezTo>
                  <a:pt x="5581650" y="4237065"/>
                  <a:pt x="5513415" y="4305300"/>
                  <a:pt x="5429242" y="4305300"/>
                </a:cubicBezTo>
                <a:lnTo>
                  <a:pt x="38100" y="4305300"/>
                </a:lnTo>
                <a:cubicBezTo>
                  <a:pt x="17072" y="4305300"/>
                  <a:pt x="0" y="4288228"/>
                  <a:pt x="0" y="4267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00050" y="1409700"/>
            <a:ext cx="38100" cy="3315081"/>
          </a:xfrm>
          <a:custGeom>
            <a:rect b="b" l="l" r="r" t="t"/>
            <a:pathLst>
              <a:path extrusionOk="0" h="4305300" w="38100">
                <a:moveTo>
                  <a:pt x="38100" y="0"/>
                </a:moveTo>
                <a:lnTo>
                  <a:pt x="38100" y="0"/>
                </a:lnTo>
                <a:lnTo>
                  <a:pt x="38100" y="4305300"/>
                </a:lnTo>
                <a:lnTo>
                  <a:pt x="38100" y="4305300"/>
                </a:lnTo>
                <a:cubicBezTo>
                  <a:pt x="17072" y="4305300"/>
                  <a:pt x="0" y="4288228"/>
                  <a:pt x="0" y="4267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47700" y="1638300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773906" y="1762125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295400" y="1733550"/>
            <a:ext cx="2066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E07A5F"/>
                </a:solidFill>
                <a:latin typeface="Liter"/>
                <a:ea typeface="Liter"/>
                <a:cs typeface="Liter"/>
                <a:sym typeface="Liter"/>
              </a:rPr>
              <a:t>THE PROBLEM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71513" y="2419350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976312" y="2362200"/>
            <a:ext cx="3800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Fragmented Systems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976312" y="2667000"/>
            <a:ext cx="3790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imaging and triage operate as </a:t>
            </a:r>
            <a:r>
              <a:rPr b="1" i="0" lang="en-US" sz="12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separate pipelines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71513" y="3105150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976312" y="3048000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 Limitations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976312" y="3352800"/>
            <a:ext cx="4638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LLMs are </a:t>
            </a:r>
            <a:r>
              <a:rPr b="1" i="0" lang="en-US" sz="12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computationally dense</a:t>
            </a: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i="0" lang="en-US" sz="12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hallucination-prone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71513" y="3790950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976312" y="3733800"/>
            <a:ext cx="2971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 Verification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976312" y="4038600"/>
            <a:ext cx="2962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</a:t>
            </a:r>
            <a:r>
              <a:rPr b="1" i="0" lang="en-US" sz="12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cross-verification layer</a:t>
            </a: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clinical safety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6229350" y="1409700"/>
            <a:ext cx="5581650" cy="3315081"/>
          </a:xfrm>
          <a:custGeom>
            <a:rect b="b" l="l" r="r" t="t"/>
            <a:pathLst>
              <a:path extrusionOk="0" h="4305300" w="5581650">
                <a:moveTo>
                  <a:pt x="38100" y="0"/>
                </a:moveTo>
                <a:lnTo>
                  <a:pt x="5429242" y="0"/>
                </a:lnTo>
                <a:cubicBezTo>
                  <a:pt x="5513415" y="0"/>
                  <a:pt x="5581650" y="68235"/>
                  <a:pt x="5581650" y="152408"/>
                </a:cubicBezTo>
                <a:lnTo>
                  <a:pt x="5581650" y="4152892"/>
                </a:lnTo>
                <a:cubicBezTo>
                  <a:pt x="5581650" y="4237065"/>
                  <a:pt x="5513415" y="4305300"/>
                  <a:pt x="5429242" y="4305300"/>
                </a:cubicBezTo>
                <a:lnTo>
                  <a:pt x="38100" y="4305300"/>
                </a:lnTo>
                <a:cubicBezTo>
                  <a:pt x="17072" y="4305300"/>
                  <a:pt x="0" y="4288228"/>
                  <a:pt x="0" y="4267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267450" y="1409700"/>
            <a:ext cx="38100" cy="3315081"/>
          </a:xfrm>
          <a:custGeom>
            <a:rect b="b" l="l" r="r" t="t"/>
            <a:pathLst>
              <a:path extrusionOk="0" h="4305300" w="38100">
                <a:moveTo>
                  <a:pt x="38100" y="0"/>
                </a:moveTo>
                <a:lnTo>
                  <a:pt x="38100" y="0"/>
                </a:lnTo>
                <a:lnTo>
                  <a:pt x="38100" y="4305300"/>
                </a:lnTo>
                <a:lnTo>
                  <a:pt x="38100" y="4305300"/>
                </a:lnTo>
                <a:cubicBezTo>
                  <a:pt x="17072" y="4305300"/>
                  <a:pt x="0" y="4288228"/>
                  <a:pt x="0" y="4267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477000" y="1638300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603206" y="1762125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7124700" y="1733550"/>
            <a:ext cx="2809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MEDISIM SOLUTION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6500813" y="2419350"/>
            <a:ext cx="171450" cy="171450"/>
          </a:xfrm>
          <a:custGeom>
            <a:rect b="b" l="l" r="r" t="t"/>
            <a:pathLst>
              <a:path extrusionOk="0" h="171450" w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6805613" y="2362200"/>
            <a:ext cx="3724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A: Multimodal Fusion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6805613" y="2667000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CNN + BiLSTM</a:t>
            </a: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chest X-ray + symptom classification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6479381" y="3105150"/>
            <a:ext cx="214313" cy="171450"/>
          </a:xfrm>
          <a:custGeom>
            <a:rect b="b" l="l" r="r" t="t"/>
            <a:pathLst>
              <a:path extrusionOk="0" h="171450" w="214313">
                <a:moveTo>
                  <a:pt x="107156" y="75009"/>
                </a:moveTo>
                <a:cubicBezTo>
                  <a:pt x="126377" y="75009"/>
                  <a:pt x="141982" y="59404"/>
                  <a:pt x="141982" y="40184"/>
                </a:cubicBezTo>
                <a:cubicBezTo>
                  <a:pt x="141982" y="20963"/>
                  <a:pt x="126377" y="5358"/>
                  <a:pt x="107156" y="5358"/>
                </a:cubicBezTo>
                <a:cubicBezTo>
                  <a:pt x="87935" y="5358"/>
                  <a:pt x="72330" y="20963"/>
                  <a:pt x="72330" y="40184"/>
                </a:cubicBezTo>
                <a:cubicBezTo>
                  <a:pt x="72330" y="59404"/>
                  <a:pt x="87935" y="75009"/>
                  <a:pt x="107156" y="75009"/>
                </a:cubicBezTo>
                <a:close/>
                <a:moveTo>
                  <a:pt x="32147" y="77688"/>
                </a:moveTo>
                <a:cubicBezTo>
                  <a:pt x="45454" y="77688"/>
                  <a:pt x="56257" y="66885"/>
                  <a:pt x="56257" y="53578"/>
                </a:cubicBezTo>
                <a:cubicBezTo>
                  <a:pt x="56257" y="40271"/>
                  <a:pt x="45454" y="29468"/>
                  <a:pt x="32147" y="29468"/>
                </a:cubicBezTo>
                <a:cubicBezTo>
                  <a:pt x="18840" y="29468"/>
                  <a:pt x="8037" y="40271"/>
                  <a:pt x="8037" y="53578"/>
                </a:cubicBezTo>
                <a:cubicBezTo>
                  <a:pt x="8037" y="66885"/>
                  <a:pt x="18840" y="77688"/>
                  <a:pt x="32147" y="77688"/>
                </a:cubicBezTo>
                <a:close/>
                <a:moveTo>
                  <a:pt x="0" y="139303"/>
                </a:moveTo>
                <a:lnTo>
                  <a:pt x="0" y="150019"/>
                </a:lnTo>
                <a:cubicBezTo>
                  <a:pt x="0" y="155946"/>
                  <a:pt x="4789" y="160734"/>
                  <a:pt x="10716" y="160734"/>
                </a:cubicBezTo>
                <a:lnTo>
                  <a:pt x="39748" y="160734"/>
                </a:lnTo>
                <a:cubicBezTo>
                  <a:pt x="38308" y="157453"/>
                  <a:pt x="37505" y="153836"/>
                  <a:pt x="37505" y="150019"/>
                </a:cubicBezTo>
                <a:lnTo>
                  <a:pt x="37505" y="144661"/>
                </a:lnTo>
                <a:cubicBezTo>
                  <a:pt x="37505" y="126846"/>
                  <a:pt x="44202" y="110572"/>
                  <a:pt x="55219" y="98249"/>
                </a:cubicBezTo>
                <a:cubicBezTo>
                  <a:pt x="51301" y="97077"/>
                  <a:pt x="47149" y="96441"/>
                  <a:pt x="42863" y="96441"/>
                </a:cubicBezTo>
                <a:cubicBezTo>
                  <a:pt x="19188" y="96441"/>
                  <a:pt x="0" y="115628"/>
                  <a:pt x="0" y="139303"/>
                </a:cubicBezTo>
                <a:close/>
                <a:moveTo>
                  <a:pt x="206276" y="53578"/>
                </a:moveTo>
                <a:cubicBezTo>
                  <a:pt x="206276" y="40271"/>
                  <a:pt x="195472" y="29468"/>
                  <a:pt x="182166" y="29468"/>
                </a:cubicBezTo>
                <a:cubicBezTo>
                  <a:pt x="168859" y="29468"/>
                  <a:pt x="158055" y="40271"/>
                  <a:pt x="158055" y="53578"/>
                </a:cubicBezTo>
                <a:cubicBezTo>
                  <a:pt x="158055" y="66885"/>
                  <a:pt x="168859" y="77688"/>
                  <a:pt x="182166" y="77688"/>
                </a:cubicBezTo>
                <a:cubicBezTo>
                  <a:pt x="195472" y="77688"/>
                  <a:pt x="206276" y="66885"/>
                  <a:pt x="206276" y="53578"/>
                </a:cubicBezTo>
                <a:close/>
                <a:moveTo>
                  <a:pt x="53578" y="144661"/>
                </a:moveTo>
                <a:lnTo>
                  <a:pt x="53578" y="150019"/>
                </a:lnTo>
                <a:cubicBezTo>
                  <a:pt x="53578" y="155946"/>
                  <a:pt x="58367" y="160734"/>
                  <a:pt x="64294" y="160734"/>
                </a:cubicBezTo>
                <a:lnTo>
                  <a:pt x="116800" y="160734"/>
                </a:lnTo>
                <a:cubicBezTo>
                  <a:pt x="114423" y="153501"/>
                  <a:pt x="114691" y="145866"/>
                  <a:pt x="120383" y="139303"/>
                </a:cubicBezTo>
                <a:cubicBezTo>
                  <a:pt x="115695" y="133878"/>
                  <a:pt x="113519" y="126009"/>
                  <a:pt x="116566" y="118106"/>
                </a:cubicBezTo>
                <a:cubicBezTo>
                  <a:pt x="118776" y="112380"/>
                  <a:pt x="121890" y="107022"/>
                  <a:pt x="125741" y="102267"/>
                </a:cubicBezTo>
                <a:cubicBezTo>
                  <a:pt x="127549" y="100057"/>
                  <a:pt x="129626" y="98349"/>
                  <a:pt x="131869" y="97110"/>
                </a:cubicBezTo>
                <a:cubicBezTo>
                  <a:pt x="124469" y="93259"/>
                  <a:pt x="116064" y="91083"/>
                  <a:pt x="107156" y="91083"/>
                </a:cubicBezTo>
                <a:cubicBezTo>
                  <a:pt x="77554" y="91083"/>
                  <a:pt x="53578" y="115059"/>
                  <a:pt x="53578" y="144661"/>
                </a:cubicBezTo>
                <a:close/>
                <a:moveTo>
                  <a:pt x="209156" y="129893"/>
                </a:moveTo>
                <a:cubicBezTo>
                  <a:pt x="211265" y="128688"/>
                  <a:pt x="212337" y="126176"/>
                  <a:pt x="211433" y="123866"/>
                </a:cubicBezTo>
                <a:cubicBezTo>
                  <a:pt x="209825" y="119714"/>
                  <a:pt x="207582" y="115796"/>
                  <a:pt x="204769" y="112347"/>
                </a:cubicBezTo>
                <a:cubicBezTo>
                  <a:pt x="203229" y="110438"/>
                  <a:pt x="200516" y="110103"/>
                  <a:pt x="198406" y="111342"/>
                </a:cubicBezTo>
                <a:cubicBezTo>
                  <a:pt x="191106" y="115561"/>
                  <a:pt x="182132" y="110404"/>
                  <a:pt x="182132" y="101932"/>
                </a:cubicBezTo>
                <a:cubicBezTo>
                  <a:pt x="182132" y="99488"/>
                  <a:pt x="180491" y="97311"/>
                  <a:pt x="178080" y="96943"/>
                </a:cubicBezTo>
                <a:cubicBezTo>
                  <a:pt x="173761" y="96273"/>
                  <a:pt x="169106" y="96273"/>
                  <a:pt x="164786" y="96943"/>
                </a:cubicBezTo>
                <a:cubicBezTo>
                  <a:pt x="162375" y="97311"/>
                  <a:pt x="160734" y="99488"/>
                  <a:pt x="160734" y="101932"/>
                </a:cubicBezTo>
                <a:cubicBezTo>
                  <a:pt x="160734" y="110371"/>
                  <a:pt x="151760" y="115561"/>
                  <a:pt x="144460" y="111342"/>
                </a:cubicBezTo>
                <a:cubicBezTo>
                  <a:pt x="142350" y="110137"/>
                  <a:pt x="139638" y="110471"/>
                  <a:pt x="138098" y="112347"/>
                </a:cubicBezTo>
                <a:cubicBezTo>
                  <a:pt x="135285" y="115796"/>
                  <a:pt x="133041" y="119714"/>
                  <a:pt x="131434" y="123866"/>
                </a:cubicBezTo>
                <a:cubicBezTo>
                  <a:pt x="130563" y="126143"/>
                  <a:pt x="131601" y="128654"/>
                  <a:pt x="133711" y="129860"/>
                </a:cubicBezTo>
                <a:cubicBezTo>
                  <a:pt x="141044" y="134079"/>
                  <a:pt x="141044" y="144427"/>
                  <a:pt x="133711" y="148679"/>
                </a:cubicBezTo>
                <a:cubicBezTo>
                  <a:pt x="131601" y="149885"/>
                  <a:pt x="130530" y="152396"/>
                  <a:pt x="131434" y="154673"/>
                </a:cubicBezTo>
                <a:cubicBezTo>
                  <a:pt x="133041" y="158826"/>
                  <a:pt x="135285" y="162744"/>
                  <a:pt x="138098" y="166193"/>
                </a:cubicBezTo>
                <a:cubicBezTo>
                  <a:pt x="139638" y="168101"/>
                  <a:pt x="142350" y="168436"/>
                  <a:pt x="144460" y="167197"/>
                </a:cubicBezTo>
                <a:cubicBezTo>
                  <a:pt x="151760" y="162978"/>
                  <a:pt x="160734" y="168168"/>
                  <a:pt x="160734" y="176607"/>
                </a:cubicBezTo>
                <a:cubicBezTo>
                  <a:pt x="160734" y="179051"/>
                  <a:pt x="162375" y="181228"/>
                  <a:pt x="164786" y="181596"/>
                </a:cubicBezTo>
                <a:cubicBezTo>
                  <a:pt x="169106" y="182266"/>
                  <a:pt x="173761" y="182266"/>
                  <a:pt x="178080" y="181596"/>
                </a:cubicBezTo>
                <a:cubicBezTo>
                  <a:pt x="180491" y="181228"/>
                  <a:pt x="182132" y="179051"/>
                  <a:pt x="182132" y="176607"/>
                </a:cubicBezTo>
                <a:cubicBezTo>
                  <a:pt x="182132" y="168168"/>
                  <a:pt x="191106" y="162978"/>
                  <a:pt x="198406" y="167197"/>
                </a:cubicBezTo>
                <a:cubicBezTo>
                  <a:pt x="200516" y="168403"/>
                  <a:pt x="203229" y="168068"/>
                  <a:pt x="204769" y="166193"/>
                </a:cubicBezTo>
                <a:cubicBezTo>
                  <a:pt x="207582" y="162744"/>
                  <a:pt x="209825" y="158826"/>
                  <a:pt x="211433" y="154673"/>
                </a:cubicBezTo>
                <a:cubicBezTo>
                  <a:pt x="212303" y="152396"/>
                  <a:pt x="211265" y="149885"/>
                  <a:pt x="209156" y="148679"/>
                </a:cubicBezTo>
                <a:cubicBezTo>
                  <a:pt x="201822" y="144460"/>
                  <a:pt x="201822" y="134113"/>
                  <a:pt x="209156" y="129860"/>
                </a:cubicBezTo>
                <a:close/>
                <a:moveTo>
                  <a:pt x="158055" y="139303"/>
                </a:moveTo>
                <a:cubicBezTo>
                  <a:pt x="158055" y="131910"/>
                  <a:pt x="164057" y="125909"/>
                  <a:pt x="171450" y="125909"/>
                </a:cubicBezTo>
                <a:cubicBezTo>
                  <a:pt x="178843" y="125909"/>
                  <a:pt x="184845" y="131910"/>
                  <a:pt x="184845" y="139303"/>
                </a:cubicBezTo>
                <a:cubicBezTo>
                  <a:pt x="184845" y="146696"/>
                  <a:pt x="178843" y="152698"/>
                  <a:pt x="171450" y="152698"/>
                </a:cubicBezTo>
                <a:cubicBezTo>
                  <a:pt x="164057" y="152698"/>
                  <a:pt x="158055" y="146696"/>
                  <a:pt x="158055" y="139303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805613" y="304800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B: Multi-Agent Triage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805613" y="3352800"/>
            <a:ext cx="3990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Nurse → Specialist → Fact-Checker</a:t>
            </a: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via LangChain + Gemini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500813" y="3790950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805613" y="373380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Self-Verification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805613" y="4038600"/>
            <a:ext cx="3648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Grounded outputs</a:t>
            </a: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 deterministic model anchoring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385750" y="5254313"/>
            <a:ext cx="11420475" cy="600075"/>
          </a:xfrm>
          <a:custGeom>
            <a:rect b="b" l="l" r="r" t="t"/>
            <a:pathLst>
              <a:path extrusionOk="0" h="600075" w="11420475">
                <a:moveTo>
                  <a:pt x="114302" y="0"/>
                </a:moveTo>
                <a:lnTo>
                  <a:pt x="11306173" y="0"/>
                </a:lnTo>
                <a:cubicBezTo>
                  <a:pt x="11369258" y="0"/>
                  <a:pt x="11420475" y="51217"/>
                  <a:pt x="11420475" y="114302"/>
                </a:cubicBezTo>
                <a:lnTo>
                  <a:pt x="11420475" y="485773"/>
                </a:lnTo>
                <a:cubicBezTo>
                  <a:pt x="11420475" y="548858"/>
                  <a:pt x="11369258" y="600075"/>
                  <a:pt x="11306173" y="600075"/>
                </a:cubicBezTo>
                <a:lnTo>
                  <a:pt x="114302" y="600075"/>
                </a:lnTo>
                <a:cubicBezTo>
                  <a:pt x="51217" y="600075"/>
                  <a:pt x="0" y="548858"/>
                  <a:pt x="0" y="4857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581013" y="5411475"/>
            <a:ext cx="285750" cy="285750"/>
          </a:xfrm>
          <a:custGeom>
            <a:rect b="b" l="l" r="r" t="t"/>
            <a:pathLst>
              <a:path extrusionOk="0" h="285750" w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1014400" y="5421000"/>
            <a:ext cx="566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Goal: Unified, cross-verified clinical pipeline on consumer hardware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9102384" y="5440050"/>
            <a:ext cx="222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M-series / Cuda GPU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8857718" y="5478150"/>
            <a:ext cx="152400" cy="152400"/>
          </a:xfrm>
          <a:custGeom>
            <a:rect b="b" l="l" r="r" t="t"/>
            <a:pathLst>
              <a:path extrusionOk="0" h="152400" w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>
            <a:off x="379813" y="417794"/>
            <a:ext cx="75963" cy="379813"/>
          </a:xfrm>
          <a:custGeom>
            <a:rect b="b" l="l" r="r" t="t"/>
            <a:pathLst>
              <a:path extrusionOk="0" h="379813" w="75963">
                <a:moveTo>
                  <a:pt x="0" y="0"/>
                </a:moveTo>
                <a:lnTo>
                  <a:pt x="75963" y="0"/>
                </a:lnTo>
                <a:lnTo>
                  <a:pt x="75963" y="379813"/>
                </a:lnTo>
                <a:lnTo>
                  <a:pt x="0" y="379813"/>
                </a:lnTo>
                <a:lnTo>
                  <a:pt x="0" y="0"/>
                </a:lnTo>
                <a:close/>
              </a:path>
            </a:pathLst>
          </a:custGeom>
          <a:solidFill>
            <a:srgbClr val="4A908A"/>
          </a:solidFill>
          <a:ln>
            <a:noFill/>
          </a:ln>
        </p:spPr>
      </p:sp>
      <p:sp>
        <p:nvSpPr>
          <p:cNvPr id="148" name="Google Shape;148;p3"/>
          <p:cNvSpPr/>
          <p:nvPr/>
        </p:nvSpPr>
        <p:spPr>
          <a:xfrm>
            <a:off x="569720" y="379813"/>
            <a:ext cx="3731664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9"/>
              <a:buFont typeface="Arial"/>
              <a:buNone/>
            </a:pPr>
            <a:r>
              <a:rPr b="1" i="0" lang="en-US" sz="3589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Literature 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569722" y="911550"/>
            <a:ext cx="52353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5"/>
              <a:buFont typeface="Arial"/>
              <a:buNone/>
            </a:pPr>
            <a:r>
              <a:rPr b="0" i="0" lang="en-US" sz="1495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Insights from 16 ACL Anthology Papers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84550" y="1282601"/>
            <a:ext cx="5630729" cy="5047858"/>
          </a:xfrm>
          <a:custGeom>
            <a:rect b="b" l="l" r="r" t="t"/>
            <a:pathLst>
              <a:path extrusionOk="0" h="5516785" w="5630729">
                <a:moveTo>
                  <a:pt x="151932" y="0"/>
                </a:moveTo>
                <a:lnTo>
                  <a:pt x="5478797" y="0"/>
                </a:lnTo>
                <a:cubicBezTo>
                  <a:pt x="5562707" y="0"/>
                  <a:pt x="5630729" y="68022"/>
                  <a:pt x="5630729" y="151932"/>
                </a:cubicBezTo>
                <a:lnTo>
                  <a:pt x="5630729" y="5364853"/>
                </a:lnTo>
                <a:cubicBezTo>
                  <a:pt x="5630729" y="5448763"/>
                  <a:pt x="5562707" y="5516785"/>
                  <a:pt x="5478797" y="5516785"/>
                </a:cubicBezTo>
                <a:lnTo>
                  <a:pt x="151932" y="5516785"/>
                </a:lnTo>
                <a:cubicBezTo>
                  <a:pt x="68022" y="5516785"/>
                  <a:pt x="0" y="5448763"/>
                  <a:pt x="0" y="5364853"/>
                </a:cubicBezTo>
                <a:lnTo>
                  <a:pt x="0" y="151932"/>
                </a:lnTo>
                <a:cubicBezTo>
                  <a:pt x="0" y="68079"/>
                  <a:pt x="68079" y="0"/>
                  <a:pt x="151932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4A908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541234" y="1439280"/>
            <a:ext cx="455776" cy="455776"/>
          </a:xfrm>
          <a:custGeom>
            <a:rect b="b" l="l" r="r" t="t"/>
            <a:pathLst>
              <a:path extrusionOk="0" h="455776" w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55178" y="1553224"/>
            <a:ext cx="227888" cy="227888"/>
          </a:xfrm>
          <a:custGeom>
            <a:rect b="b" l="l" r="r" t="t"/>
            <a:pathLst>
              <a:path extrusionOk="0" h="227888" w="227888">
                <a:moveTo>
                  <a:pt x="0" y="28486"/>
                </a:moveTo>
                <a:cubicBezTo>
                  <a:pt x="0" y="20608"/>
                  <a:pt x="6365" y="14243"/>
                  <a:pt x="14243" y="14243"/>
                </a:cubicBezTo>
                <a:lnTo>
                  <a:pt x="213645" y="14243"/>
                </a:lnTo>
                <a:cubicBezTo>
                  <a:pt x="221523" y="14243"/>
                  <a:pt x="227888" y="20608"/>
                  <a:pt x="227888" y="28486"/>
                </a:cubicBezTo>
                <a:cubicBezTo>
                  <a:pt x="227888" y="36364"/>
                  <a:pt x="221523" y="42729"/>
                  <a:pt x="213645" y="42729"/>
                </a:cubicBezTo>
                <a:lnTo>
                  <a:pt x="213645" y="185159"/>
                </a:lnTo>
                <a:cubicBezTo>
                  <a:pt x="221523" y="185159"/>
                  <a:pt x="227888" y="191524"/>
                  <a:pt x="227888" y="199402"/>
                </a:cubicBezTo>
                <a:cubicBezTo>
                  <a:pt x="227888" y="207280"/>
                  <a:pt x="221523" y="213645"/>
                  <a:pt x="213645" y="213645"/>
                </a:cubicBezTo>
                <a:lnTo>
                  <a:pt x="14243" y="213645"/>
                </a:lnTo>
                <a:cubicBezTo>
                  <a:pt x="6365" y="213645"/>
                  <a:pt x="0" y="207280"/>
                  <a:pt x="0" y="199402"/>
                </a:cubicBezTo>
                <a:cubicBezTo>
                  <a:pt x="0" y="191524"/>
                  <a:pt x="6365" y="185159"/>
                  <a:pt x="14243" y="185159"/>
                </a:cubicBezTo>
                <a:lnTo>
                  <a:pt x="14243" y="42729"/>
                </a:lnTo>
                <a:cubicBezTo>
                  <a:pt x="6365" y="42729"/>
                  <a:pt x="0" y="36364"/>
                  <a:pt x="0" y="28486"/>
                </a:cubicBezTo>
                <a:close/>
                <a:moveTo>
                  <a:pt x="124626" y="53411"/>
                </a:moveTo>
                <a:cubicBezTo>
                  <a:pt x="124626" y="47491"/>
                  <a:pt x="119864" y="42729"/>
                  <a:pt x="113944" y="42729"/>
                </a:cubicBezTo>
                <a:cubicBezTo>
                  <a:pt x="108024" y="42729"/>
                  <a:pt x="103262" y="47491"/>
                  <a:pt x="103262" y="53411"/>
                </a:cubicBezTo>
                <a:lnTo>
                  <a:pt x="103262" y="60533"/>
                </a:lnTo>
                <a:lnTo>
                  <a:pt x="74776" y="60533"/>
                </a:lnTo>
                <a:cubicBezTo>
                  <a:pt x="68856" y="60533"/>
                  <a:pt x="64093" y="65295"/>
                  <a:pt x="64093" y="71215"/>
                </a:cubicBezTo>
                <a:cubicBezTo>
                  <a:pt x="64093" y="77135"/>
                  <a:pt x="68856" y="81897"/>
                  <a:pt x="74776" y="81897"/>
                </a:cubicBezTo>
                <a:lnTo>
                  <a:pt x="103262" y="81897"/>
                </a:lnTo>
                <a:lnTo>
                  <a:pt x="103262" y="103262"/>
                </a:lnTo>
                <a:lnTo>
                  <a:pt x="67654" y="103262"/>
                </a:lnTo>
                <a:cubicBezTo>
                  <a:pt x="61734" y="103262"/>
                  <a:pt x="56972" y="108024"/>
                  <a:pt x="56972" y="113944"/>
                </a:cubicBezTo>
                <a:cubicBezTo>
                  <a:pt x="56972" y="119864"/>
                  <a:pt x="61734" y="124626"/>
                  <a:pt x="67654" y="124626"/>
                </a:cubicBezTo>
                <a:lnTo>
                  <a:pt x="103262" y="124626"/>
                </a:lnTo>
                <a:lnTo>
                  <a:pt x="103262" y="145991"/>
                </a:lnTo>
                <a:lnTo>
                  <a:pt x="74776" y="145991"/>
                </a:lnTo>
                <a:cubicBezTo>
                  <a:pt x="68856" y="145991"/>
                  <a:pt x="64093" y="150753"/>
                  <a:pt x="64093" y="156673"/>
                </a:cubicBezTo>
                <a:cubicBezTo>
                  <a:pt x="64093" y="162593"/>
                  <a:pt x="68856" y="167355"/>
                  <a:pt x="74776" y="167355"/>
                </a:cubicBezTo>
                <a:lnTo>
                  <a:pt x="103262" y="167355"/>
                </a:lnTo>
                <a:lnTo>
                  <a:pt x="103262" y="174477"/>
                </a:lnTo>
                <a:cubicBezTo>
                  <a:pt x="103262" y="180396"/>
                  <a:pt x="108024" y="185159"/>
                  <a:pt x="113944" y="185159"/>
                </a:cubicBezTo>
                <a:cubicBezTo>
                  <a:pt x="119864" y="185159"/>
                  <a:pt x="124626" y="180396"/>
                  <a:pt x="124626" y="174477"/>
                </a:cubicBezTo>
                <a:lnTo>
                  <a:pt x="124626" y="167355"/>
                </a:lnTo>
                <a:lnTo>
                  <a:pt x="153112" y="167355"/>
                </a:lnTo>
                <a:cubicBezTo>
                  <a:pt x="159032" y="167355"/>
                  <a:pt x="163794" y="162593"/>
                  <a:pt x="163794" y="156673"/>
                </a:cubicBezTo>
                <a:cubicBezTo>
                  <a:pt x="163794" y="150753"/>
                  <a:pt x="159032" y="145991"/>
                  <a:pt x="153112" y="145991"/>
                </a:cubicBezTo>
                <a:lnTo>
                  <a:pt x="124626" y="145991"/>
                </a:lnTo>
                <a:lnTo>
                  <a:pt x="124626" y="124626"/>
                </a:lnTo>
                <a:lnTo>
                  <a:pt x="160234" y="124626"/>
                </a:lnTo>
                <a:cubicBezTo>
                  <a:pt x="166153" y="124626"/>
                  <a:pt x="170916" y="119864"/>
                  <a:pt x="170916" y="113944"/>
                </a:cubicBezTo>
                <a:cubicBezTo>
                  <a:pt x="170916" y="108024"/>
                  <a:pt x="166153" y="103262"/>
                  <a:pt x="160234" y="103262"/>
                </a:cubicBezTo>
                <a:lnTo>
                  <a:pt x="124626" y="103262"/>
                </a:lnTo>
                <a:lnTo>
                  <a:pt x="124626" y="81897"/>
                </a:lnTo>
                <a:lnTo>
                  <a:pt x="153112" y="81897"/>
                </a:lnTo>
                <a:cubicBezTo>
                  <a:pt x="159032" y="81897"/>
                  <a:pt x="163794" y="77135"/>
                  <a:pt x="163794" y="71215"/>
                </a:cubicBezTo>
                <a:cubicBezTo>
                  <a:pt x="163794" y="65295"/>
                  <a:pt x="159032" y="60533"/>
                  <a:pt x="153112" y="60533"/>
                </a:cubicBezTo>
                <a:lnTo>
                  <a:pt x="124626" y="60533"/>
                </a:lnTo>
                <a:lnTo>
                  <a:pt x="124626" y="53411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1110953" y="1515243"/>
            <a:ext cx="26016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4"/>
              <a:buFont typeface="Arial"/>
              <a:buNone/>
            </a:pPr>
            <a:r>
              <a:rPr b="1" i="0" lang="en-US" sz="1794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Multimodal X-Ray &amp; NLP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541234" y="2009000"/>
            <a:ext cx="5317383" cy="987514"/>
          </a:xfrm>
          <a:custGeom>
            <a:rect b="b" l="l" r="r" t="t"/>
            <a:pathLst>
              <a:path extrusionOk="0" h="987514" w="5317383">
                <a:moveTo>
                  <a:pt x="113939" y="0"/>
                </a:moveTo>
                <a:lnTo>
                  <a:pt x="5203444" y="0"/>
                </a:lnTo>
                <a:cubicBezTo>
                  <a:pt x="5266329" y="0"/>
                  <a:pt x="5317383" y="51055"/>
                  <a:pt x="5317383" y="113939"/>
                </a:cubicBezTo>
                <a:lnTo>
                  <a:pt x="5317383" y="873575"/>
                </a:lnTo>
                <a:cubicBezTo>
                  <a:pt x="5317383" y="936502"/>
                  <a:pt x="5266371" y="987514"/>
                  <a:pt x="5203444" y="987514"/>
                </a:cubicBezTo>
                <a:lnTo>
                  <a:pt x="113939" y="987514"/>
                </a:lnTo>
                <a:cubicBezTo>
                  <a:pt x="51012" y="987514"/>
                  <a:pt x="0" y="936502"/>
                  <a:pt x="0" y="873575"/>
                </a:cubicBezTo>
                <a:lnTo>
                  <a:pt x="0" y="113939"/>
                </a:lnTo>
                <a:cubicBezTo>
                  <a:pt x="0" y="51012"/>
                  <a:pt x="51012" y="0"/>
                  <a:pt x="1139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55178" y="2122944"/>
            <a:ext cx="1053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 et al. (2024)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5260634" y="2122944"/>
            <a:ext cx="484262" cy="227888"/>
          </a:xfrm>
          <a:custGeom>
            <a:rect b="b" l="l" r="r" t="t"/>
            <a:pathLst>
              <a:path extrusionOk="0" h="227888" w="484262">
                <a:moveTo>
                  <a:pt x="37982" y="0"/>
                </a:moveTo>
                <a:lnTo>
                  <a:pt x="446280" y="0"/>
                </a:lnTo>
                <a:cubicBezTo>
                  <a:pt x="467257" y="0"/>
                  <a:pt x="484262" y="17005"/>
                  <a:pt x="484262" y="37982"/>
                </a:cubicBezTo>
                <a:lnTo>
                  <a:pt x="484262" y="189906"/>
                </a:lnTo>
                <a:cubicBezTo>
                  <a:pt x="484262" y="210883"/>
                  <a:pt x="467257" y="227888"/>
                  <a:pt x="446280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4A908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5260634" y="2122944"/>
            <a:ext cx="5508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75" lIns="75950" spcFirstLastPara="1" rIns="75950" wrap="square" tIns="18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n-US" sz="1047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55178" y="2388813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0" i="0" lang="en-US" sz="1196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 Knowledge Prompt (DKP) for lesion grounding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655178" y="2654682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Relevance:</a:t>
            </a:r>
            <a:r>
              <a:rPr b="0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Direct blueprint for image-to-report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541234" y="3072477"/>
            <a:ext cx="5317383" cy="987514"/>
          </a:xfrm>
          <a:custGeom>
            <a:rect b="b" l="l" r="r" t="t"/>
            <a:pathLst>
              <a:path extrusionOk="0" h="987514" w="5317383">
                <a:moveTo>
                  <a:pt x="113939" y="0"/>
                </a:moveTo>
                <a:lnTo>
                  <a:pt x="5203444" y="0"/>
                </a:lnTo>
                <a:cubicBezTo>
                  <a:pt x="5266329" y="0"/>
                  <a:pt x="5317383" y="51055"/>
                  <a:pt x="5317383" y="113939"/>
                </a:cubicBezTo>
                <a:lnTo>
                  <a:pt x="5317383" y="873575"/>
                </a:lnTo>
                <a:cubicBezTo>
                  <a:pt x="5317383" y="936502"/>
                  <a:pt x="5266371" y="987514"/>
                  <a:pt x="5203444" y="987514"/>
                </a:cubicBezTo>
                <a:lnTo>
                  <a:pt x="113939" y="987514"/>
                </a:lnTo>
                <a:cubicBezTo>
                  <a:pt x="51012" y="987514"/>
                  <a:pt x="0" y="936502"/>
                  <a:pt x="0" y="873575"/>
                </a:cubicBezTo>
                <a:lnTo>
                  <a:pt x="0" y="113939"/>
                </a:lnTo>
                <a:cubicBezTo>
                  <a:pt x="0" y="51012"/>
                  <a:pt x="51012" y="0"/>
                  <a:pt x="1139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655178" y="3186421"/>
            <a:ext cx="12915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Wang et al. (2023)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375765" y="3186421"/>
            <a:ext cx="370318" cy="227888"/>
          </a:xfrm>
          <a:custGeom>
            <a:rect b="b" l="l" r="r" t="t"/>
            <a:pathLst>
              <a:path extrusionOk="0" h="227888" w="370318">
                <a:moveTo>
                  <a:pt x="37982" y="0"/>
                </a:moveTo>
                <a:lnTo>
                  <a:pt x="332336" y="0"/>
                </a:lnTo>
                <a:cubicBezTo>
                  <a:pt x="353299" y="0"/>
                  <a:pt x="370318" y="17019"/>
                  <a:pt x="370318" y="37982"/>
                </a:cubicBezTo>
                <a:lnTo>
                  <a:pt x="370318" y="189906"/>
                </a:lnTo>
                <a:cubicBezTo>
                  <a:pt x="370318" y="210883"/>
                  <a:pt x="353313" y="227888"/>
                  <a:pt x="332336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4A908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5375765" y="3186421"/>
            <a:ext cx="4368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75" lIns="75950" spcFirstLastPara="1" rIns="75950" wrap="square" tIns="18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n-US" sz="1047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V-L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655178" y="3452290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0" i="0" lang="en-US" sz="1196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Fine-grained vision-language contrastive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55178" y="3718159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Relevance:</a:t>
            </a:r>
            <a:r>
              <a:rPr b="0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Lesion-level feature alignment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541234" y="4135953"/>
            <a:ext cx="5317383" cy="987514"/>
          </a:xfrm>
          <a:custGeom>
            <a:rect b="b" l="l" r="r" t="t"/>
            <a:pathLst>
              <a:path extrusionOk="0" h="987514" w="5317383">
                <a:moveTo>
                  <a:pt x="113939" y="0"/>
                </a:moveTo>
                <a:lnTo>
                  <a:pt x="5203444" y="0"/>
                </a:lnTo>
                <a:cubicBezTo>
                  <a:pt x="5266329" y="0"/>
                  <a:pt x="5317383" y="51055"/>
                  <a:pt x="5317383" y="113939"/>
                </a:cubicBezTo>
                <a:lnTo>
                  <a:pt x="5317383" y="873575"/>
                </a:lnTo>
                <a:cubicBezTo>
                  <a:pt x="5317383" y="936502"/>
                  <a:pt x="5266371" y="987514"/>
                  <a:pt x="5203444" y="987514"/>
                </a:cubicBezTo>
                <a:lnTo>
                  <a:pt x="113939" y="987514"/>
                </a:lnTo>
                <a:cubicBezTo>
                  <a:pt x="51012" y="987514"/>
                  <a:pt x="0" y="936502"/>
                  <a:pt x="0" y="873575"/>
                </a:cubicBezTo>
                <a:lnTo>
                  <a:pt x="0" y="113939"/>
                </a:lnTo>
                <a:cubicBezTo>
                  <a:pt x="0" y="51012"/>
                  <a:pt x="51012" y="0"/>
                  <a:pt x="1139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655178" y="4249897"/>
            <a:ext cx="1044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Liu et al. (2021)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5138604" y="4249897"/>
            <a:ext cx="607701" cy="227888"/>
          </a:xfrm>
          <a:custGeom>
            <a:rect b="b" l="l" r="r" t="t"/>
            <a:pathLst>
              <a:path extrusionOk="0" h="227888" w="607701">
                <a:moveTo>
                  <a:pt x="37982" y="0"/>
                </a:moveTo>
                <a:lnTo>
                  <a:pt x="569719" y="0"/>
                </a:lnTo>
                <a:cubicBezTo>
                  <a:pt x="590696" y="0"/>
                  <a:pt x="607701" y="17005"/>
                  <a:pt x="607701" y="37982"/>
                </a:cubicBezTo>
                <a:lnTo>
                  <a:pt x="607701" y="189906"/>
                </a:lnTo>
                <a:cubicBezTo>
                  <a:pt x="607701" y="210883"/>
                  <a:pt x="590696" y="227888"/>
                  <a:pt x="569719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E07A5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5138604" y="4249897"/>
            <a:ext cx="6741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75" lIns="75950" spcFirstLastPara="1" rIns="75950" wrap="square" tIns="18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n-US" sz="1047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+14-17%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655178" y="4515766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0" i="0" lang="en-US" sz="1196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Contrastive Attention (CA) model for anomaly detection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655178" y="4781635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Relevance:</a:t>
            </a:r>
            <a:r>
              <a:rPr b="0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Efficient attention without large LLMs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541234" y="5199430"/>
            <a:ext cx="5317383" cy="987514"/>
          </a:xfrm>
          <a:custGeom>
            <a:rect b="b" l="l" r="r" t="t"/>
            <a:pathLst>
              <a:path extrusionOk="0" h="987514" w="5317383">
                <a:moveTo>
                  <a:pt x="113939" y="0"/>
                </a:moveTo>
                <a:lnTo>
                  <a:pt x="5203444" y="0"/>
                </a:lnTo>
                <a:cubicBezTo>
                  <a:pt x="5266329" y="0"/>
                  <a:pt x="5317383" y="51055"/>
                  <a:pt x="5317383" y="113939"/>
                </a:cubicBezTo>
                <a:lnTo>
                  <a:pt x="5317383" y="873575"/>
                </a:lnTo>
                <a:cubicBezTo>
                  <a:pt x="5317383" y="936502"/>
                  <a:pt x="5266371" y="987514"/>
                  <a:pt x="5203444" y="987514"/>
                </a:cubicBezTo>
                <a:lnTo>
                  <a:pt x="113939" y="987514"/>
                </a:lnTo>
                <a:cubicBezTo>
                  <a:pt x="51012" y="987514"/>
                  <a:pt x="0" y="936502"/>
                  <a:pt x="0" y="873575"/>
                </a:cubicBezTo>
                <a:lnTo>
                  <a:pt x="0" y="113939"/>
                </a:lnTo>
                <a:cubicBezTo>
                  <a:pt x="0" y="51012"/>
                  <a:pt x="51012" y="0"/>
                  <a:pt x="1139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655178" y="5313374"/>
            <a:ext cx="16332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Mullenbach et al. (2018)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5064422" y="5313374"/>
            <a:ext cx="674168" cy="227888"/>
          </a:xfrm>
          <a:custGeom>
            <a:rect b="b" l="l" r="r" t="t"/>
            <a:pathLst>
              <a:path extrusionOk="0" h="227888" w="674168">
                <a:moveTo>
                  <a:pt x="37982" y="0"/>
                </a:moveTo>
                <a:lnTo>
                  <a:pt x="636186" y="0"/>
                </a:lnTo>
                <a:cubicBezTo>
                  <a:pt x="657163" y="0"/>
                  <a:pt x="674168" y="17005"/>
                  <a:pt x="674168" y="37982"/>
                </a:cubicBezTo>
                <a:lnTo>
                  <a:pt x="674168" y="189906"/>
                </a:lnTo>
                <a:cubicBezTo>
                  <a:pt x="674168" y="210883"/>
                  <a:pt x="657163" y="227888"/>
                  <a:pt x="636186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4A908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5064422" y="5313374"/>
            <a:ext cx="7407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75" lIns="75950" spcFirstLastPara="1" rIns="75950" wrap="square" tIns="18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n-US" sz="1047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P@8=0.71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655178" y="5579243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0" i="0" lang="en-US" sz="1196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CAML: Attentional CNN for medical code prediction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655178" y="5845112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Relevance:</a:t>
            </a:r>
            <a:r>
              <a:rPr b="0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Primary CNN classification baseline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6133359" y="807844"/>
            <a:ext cx="5630729" cy="5516785"/>
          </a:xfrm>
          <a:custGeom>
            <a:rect b="b" l="l" r="r" t="t"/>
            <a:pathLst>
              <a:path extrusionOk="0" h="5516785" w="5630729">
                <a:moveTo>
                  <a:pt x="151932" y="0"/>
                </a:moveTo>
                <a:lnTo>
                  <a:pt x="5478797" y="0"/>
                </a:lnTo>
                <a:cubicBezTo>
                  <a:pt x="5562707" y="0"/>
                  <a:pt x="5630729" y="68022"/>
                  <a:pt x="5630729" y="151932"/>
                </a:cubicBezTo>
                <a:lnTo>
                  <a:pt x="5630729" y="5364853"/>
                </a:lnTo>
                <a:cubicBezTo>
                  <a:pt x="5630729" y="5448763"/>
                  <a:pt x="5562707" y="5516785"/>
                  <a:pt x="5478797" y="5516785"/>
                </a:cubicBezTo>
                <a:lnTo>
                  <a:pt x="151932" y="5516785"/>
                </a:lnTo>
                <a:cubicBezTo>
                  <a:pt x="68022" y="5516785"/>
                  <a:pt x="0" y="5448763"/>
                  <a:pt x="0" y="5364853"/>
                </a:cubicBezTo>
                <a:lnTo>
                  <a:pt x="0" y="151932"/>
                </a:lnTo>
                <a:cubicBezTo>
                  <a:pt x="0" y="68079"/>
                  <a:pt x="68079" y="0"/>
                  <a:pt x="151932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E07A5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6290032" y="964517"/>
            <a:ext cx="455776" cy="455776"/>
          </a:xfrm>
          <a:custGeom>
            <a:rect b="b" l="l" r="r" t="t"/>
            <a:pathLst>
              <a:path extrusionOk="0" h="455776" w="455776">
                <a:moveTo>
                  <a:pt x="113944" y="0"/>
                </a:moveTo>
                <a:lnTo>
                  <a:pt x="341832" y="0"/>
                </a:lnTo>
                <a:cubicBezTo>
                  <a:pt x="404761" y="0"/>
                  <a:pt x="455776" y="51014"/>
                  <a:pt x="455776" y="113944"/>
                </a:cubicBezTo>
                <a:lnTo>
                  <a:pt x="455776" y="341832"/>
                </a:lnTo>
                <a:cubicBezTo>
                  <a:pt x="455776" y="404761"/>
                  <a:pt x="404761" y="455776"/>
                  <a:pt x="341832" y="455776"/>
                </a:cubicBezTo>
                <a:lnTo>
                  <a:pt x="113944" y="455776"/>
                </a:lnTo>
                <a:cubicBezTo>
                  <a:pt x="51014" y="455776"/>
                  <a:pt x="0" y="404761"/>
                  <a:pt x="0" y="341832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6375490" y="1078461"/>
            <a:ext cx="284860" cy="227888"/>
          </a:xfrm>
          <a:custGeom>
            <a:rect b="b" l="l" r="r" t="t"/>
            <a:pathLst>
              <a:path extrusionOk="0" h="227888" w="284860">
                <a:moveTo>
                  <a:pt x="156673" y="0"/>
                </a:moveTo>
                <a:cubicBezTo>
                  <a:pt x="156673" y="-7878"/>
                  <a:pt x="150308" y="-14243"/>
                  <a:pt x="142430" y="-14243"/>
                </a:cubicBezTo>
                <a:cubicBezTo>
                  <a:pt x="134552" y="-14243"/>
                  <a:pt x="128187" y="-7878"/>
                  <a:pt x="128187" y="0"/>
                </a:cubicBezTo>
                <a:lnTo>
                  <a:pt x="128187" y="28486"/>
                </a:lnTo>
                <a:lnTo>
                  <a:pt x="85458" y="28486"/>
                </a:lnTo>
                <a:cubicBezTo>
                  <a:pt x="61868" y="28486"/>
                  <a:pt x="42729" y="47625"/>
                  <a:pt x="42729" y="71215"/>
                </a:cubicBezTo>
                <a:lnTo>
                  <a:pt x="42729" y="170916"/>
                </a:lnTo>
                <a:cubicBezTo>
                  <a:pt x="42729" y="194506"/>
                  <a:pt x="61868" y="213645"/>
                  <a:pt x="85458" y="213645"/>
                </a:cubicBezTo>
                <a:lnTo>
                  <a:pt x="199402" y="213645"/>
                </a:lnTo>
                <a:cubicBezTo>
                  <a:pt x="222992" y="213645"/>
                  <a:pt x="242131" y="194506"/>
                  <a:pt x="242131" y="170916"/>
                </a:cubicBezTo>
                <a:lnTo>
                  <a:pt x="242131" y="71215"/>
                </a:lnTo>
                <a:cubicBezTo>
                  <a:pt x="242131" y="47625"/>
                  <a:pt x="222992" y="28486"/>
                  <a:pt x="199402" y="28486"/>
                </a:cubicBezTo>
                <a:lnTo>
                  <a:pt x="156673" y="28486"/>
                </a:lnTo>
                <a:lnTo>
                  <a:pt x="156673" y="0"/>
                </a:lnTo>
                <a:close/>
                <a:moveTo>
                  <a:pt x="71215" y="163794"/>
                </a:moveTo>
                <a:cubicBezTo>
                  <a:pt x="71215" y="157875"/>
                  <a:pt x="75977" y="153112"/>
                  <a:pt x="81897" y="153112"/>
                </a:cubicBezTo>
                <a:lnTo>
                  <a:pt x="96140" y="153112"/>
                </a:lnTo>
                <a:cubicBezTo>
                  <a:pt x="102060" y="153112"/>
                  <a:pt x="106822" y="157875"/>
                  <a:pt x="106822" y="163794"/>
                </a:cubicBezTo>
                <a:cubicBezTo>
                  <a:pt x="106822" y="169714"/>
                  <a:pt x="102060" y="174477"/>
                  <a:pt x="96140" y="174477"/>
                </a:cubicBezTo>
                <a:lnTo>
                  <a:pt x="81897" y="174477"/>
                </a:lnTo>
                <a:cubicBezTo>
                  <a:pt x="75977" y="174477"/>
                  <a:pt x="71215" y="169714"/>
                  <a:pt x="71215" y="163794"/>
                </a:cubicBezTo>
                <a:close/>
                <a:moveTo>
                  <a:pt x="124626" y="163794"/>
                </a:moveTo>
                <a:cubicBezTo>
                  <a:pt x="124626" y="157875"/>
                  <a:pt x="129389" y="153112"/>
                  <a:pt x="135308" y="153112"/>
                </a:cubicBezTo>
                <a:lnTo>
                  <a:pt x="149551" y="153112"/>
                </a:lnTo>
                <a:cubicBezTo>
                  <a:pt x="155471" y="153112"/>
                  <a:pt x="160234" y="157875"/>
                  <a:pt x="160234" y="163794"/>
                </a:cubicBezTo>
                <a:cubicBezTo>
                  <a:pt x="160234" y="169714"/>
                  <a:pt x="155471" y="174477"/>
                  <a:pt x="149551" y="174477"/>
                </a:cubicBezTo>
                <a:lnTo>
                  <a:pt x="135308" y="174477"/>
                </a:lnTo>
                <a:cubicBezTo>
                  <a:pt x="129389" y="174477"/>
                  <a:pt x="124626" y="169714"/>
                  <a:pt x="124626" y="163794"/>
                </a:cubicBezTo>
                <a:close/>
                <a:moveTo>
                  <a:pt x="178037" y="163794"/>
                </a:moveTo>
                <a:cubicBezTo>
                  <a:pt x="178037" y="157875"/>
                  <a:pt x="182800" y="153112"/>
                  <a:pt x="188720" y="153112"/>
                </a:cubicBezTo>
                <a:lnTo>
                  <a:pt x="202963" y="153112"/>
                </a:lnTo>
                <a:cubicBezTo>
                  <a:pt x="208882" y="153112"/>
                  <a:pt x="213645" y="157875"/>
                  <a:pt x="213645" y="163794"/>
                </a:cubicBezTo>
                <a:cubicBezTo>
                  <a:pt x="213645" y="169714"/>
                  <a:pt x="208882" y="174477"/>
                  <a:pt x="202963" y="174477"/>
                </a:cubicBezTo>
                <a:lnTo>
                  <a:pt x="188720" y="174477"/>
                </a:lnTo>
                <a:cubicBezTo>
                  <a:pt x="182800" y="174477"/>
                  <a:pt x="178037" y="169714"/>
                  <a:pt x="178037" y="163794"/>
                </a:cubicBezTo>
                <a:close/>
                <a:moveTo>
                  <a:pt x="99701" y="78336"/>
                </a:moveTo>
                <a:cubicBezTo>
                  <a:pt x="111492" y="78336"/>
                  <a:pt x="121065" y="87910"/>
                  <a:pt x="121065" y="99701"/>
                </a:cubicBezTo>
                <a:cubicBezTo>
                  <a:pt x="121065" y="111492"/>
                  <a:pt x="111492" y="121065"/>
                  <a:pt x="99701" y="121065"/>
                </a:cubicBezTo>
                <a:cubicBezTo>
                  <a:pt x="87910" y="121065"/>
                  <a:pt x="78336" y="111492"/>
                  <a:pt x="78336" y="99701"/>
                </a:cubicBezTo>
                <a:cubicBezTo>
                  <a:pt x="78336" y="87910"/>
                  <a:pt x="87910" y="78336"/>
                  <a:pt x="99701" y="78336"/>
                </a:cubicBezTo>
                <a:close/>
                <a:moveTo>
                  <a:pt x="163794" y="99701"/>
                </a:moveTo>
                <a:cubicBezTo>
                  <a:pt x="163794" y="87910"/>
                  <a:pt x="173367" y="78336"/>
                  <a:pt x="185159" y="78336"/>
                </a:cubicBezTo>
                <a:cubicBezTo>
                  <a:pt x="196950" y="78336"/>
                  <a:pt x="206523" y="87910"/>
                  <a:pt x="206523" y="99701"/>
                </a:cubicBezTo>
                <a:cubicBezTo>
                  <a:pt x="206523" y="111492"/>
                  <a:pt x="196950" y="121065"/>
                  <a:pt x="185159" y="121065"/>
                </a:cubicBezTo>
                <a:cubicBezTo>
                  <a:pt x="173367" y="121065"/>
                  <a:pt x="163794" y="111492"/>
                  <a:pt x="163794" y="99701"/>
                </a:cubicBezTo>
                <a:close/>
                <a:moveTo>
                  <a:pt x="28486" y="99701"/>
                </a:moveTo>
                <a:cubicBezTo>
                  <a:pt x="28486" y="91823"/>
                  <a:pt x="22121" y="85458"/>
                  <a:pt x="14243" y="85458"/>
                </a:cubicBezTo>
                <a:cubicBezTo>
                  <a:pt x="6365" y="85458"/>
                  <a:pt x="0" y="91823"/>
                  <a:pt x="0" y="99701"/>
                </a:cubicBezTo>
                <a:lnTo>
                  <a:pt x="0" y="142430"/>
                </a:lnTo>
                <a:cubicBezTo>
                  <a:pt x="0" y="150308"/>
                  <a:pt x="6365" y="156673"/>
                  <a:pt x="14243" y="156673"/>
                </a:cubicBezTo>
                <a:cubicBezTo>
                  <a:pt x="22121" y="156673"/>
                  <a:pt x="28486" y="150308"/>
                  <a:pt x="28486" y="142430"/>
                </a:cubicBezTo>
                <a:lnTo>
                  <a:pt x="28486" y="99701"/>
                </a:lnTo>
                <a:close/>
                <a:moveTo>
                  <a:pt x="270617" y="85458"/>
                </a:moveTo>
                <a:cubicBezTo>
                  <a:pt x="262739" y="85458"/>
                  <a:pt x="256374" y="91823"/>
                  <a:pt x="256374" y="99701"/>
                </a:cubicBezTo>
                <a:lnTo>
                  <a:pt x="256374" y="142430"/>
                </a:lnTo>
                <a:cubicBezTo>
                  <a:pt x="256374" y="150308"/>
                  <a:pt x="262739" y="156673"/>
                  <a:pt x="270617" y="156673"/>
                </a:cubicBezTo>
                <a:cubicBezTo>
                  <a:pt x="278495" y="156673"/>
                  <a:pt x="284860" y="150308"/>
                  <a:pt x="284860" y="142430"/>
                </a:cubicBezTo>
                <a:lnTo>
                  <a:pt x="284860" y="99701"/>
                </a:lnTo>
                <a:cubicBezTo>
                  <a:pt x="284860" y="91823"/>
                  <a:pt x="278495" y="85458"/>
                  <a:pt x="270617" y="8545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6859752" y="1040480"/>
            <a:ext cx="27915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4"/>
              <a:buFont typeface="Arial"/>
              <a:buNone/>
            </a:pPr>
            <a:r>
              <a:rPr b="1" i="0" lang="en-US" sz="1794" u="none" cap="none" strike="noStrike">
                <a:solidFill>
                  <a:srgbClr val="E07A5F"/>
                </a:solidFill>
                <a:latin typeface="Liter"/>
                <a:ea typeface="Liter"/>
                <a:cs typeface="Liter"/>
                <a:sym typeface="Liter"/>
              </a:rPr>
              <a:t>Agentic LLM Triage &amp; RAG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6290032" y="1534237"/>
            <a:ext cx="5317383" cy="1215402"/>
          </a:xfrm>
          <a:custGeom>
            <a:rect b="b" l="l" r="r" t="t"/>
            <a:pathLst>
              <a:path extrusionOk="0" h="1215402" w="5317383">
                <a:moveTo>
                  <a:pt x="113944" y="0"/>
                </a:moveTo>
                <a:lnTo>
                  <a:pt x="5203439" y="0"/>
                </a:lnTo>
                <a:cubicBezTo>
                  <a:pt x="5266369" y="0"/>
                  <a:pt x="5317383" y="51014"/>
                  <a:pt x="5317383" y="113944"/>
                </a:cubicBezTo>
                <a:lnTo>
                  <a:pt x="5317383" y="1101458"/>
                </a:lnTo>
                <a:cubicBezTo>
                  <a:pt x="5317383" y="1164387"/>
                  <a:pt x="5266369" y="1215402"/>
                  <a:pt x="5203439" y="1215402"/>
                </a:cubicBezTo>
                <a:lnTo>
                  <a:pt x="113944" y="1215402"/>
                </a:lnTo>
                <a:cubicBezTo>
                  <a:pt x="51014" y="1215402"/>
                  <a:pt x="0" y="1164387"/>
                  <a:pt x="0" y="1101458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6403976" y="1648181"/>
            <a:ext cx="18612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Lu et al. (2024) TriageAgent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10862180" y="1648181"/>
            <a:ext cx="626692" cy="227888"/>
          </a:xfrm>
          <a:custGeom>
            <a:rect b="b" l="l" r="r" t="t"/>
            <a:pathLst>
              <a:path extrusionOk="0" h="227888" w="626692">
                <a:moveTo>
                  <a:pt x="37982" y="0"/>
                </a:moveTo>
                <a:lnTo>
                  <a:pt x="588710" y="0"/>
                </a:lnTo>
                <a:cubicBezTo>
                  <a:pt x="609686" y="0"/>
                  <a:pt x="626692" y="17005"/>
                  <a:pt x="626692" y="37982"/>
                </a:cubicBezTo>
                <a:lnTo>
                  <a:pt x="626692" y="189906"/>
                </a:lnTo>
                <a:cubicBezTo>
                  <a:pt x="626692" y="210883"/>
                  <a:pt x="609686" y="227888"/>
                  <a:pt x="588710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E07A5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10862180" y="1648181"/>
            <a:ext cx="6933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75" lIns="75950" spcFirstLastPara="1" rIns="75950" wrap="square" tIns="18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n-US" sz="1047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↓18.42%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403976" y="1914050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0" i="0" lang="en-US" sz="1196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5-stage multi-agent LLM framework with RAG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6403976" y="2179919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Discordance:</a:t>
            </a:r>
            <a:r>
              <a:rPr b="0" i="0" lang="en-US" sz="1196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18.98% vs. human 31.43%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6403976" y="2407807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Relevance:</a:t>
            </a:r>
            <a:r>
              <a:rPr b="0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Direct inspiration for multi-agent roles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6290032" y="2825601"/>
            <a:ext cx="5317383" cy="1215402"/>
          </a:xfrm>
          <a:custGeom>
            <a:rect b="b" l="l" r="r" t="t"/>
            <a:pathLst>
              <a:path extrusionOk="0" h="1215402" w="5317383">
                <a:moveTo>
                  <a:pt x="113944" y="0"/>
                </a:moveTo>
                <a:lnTo>
                  <a:pt x="5203439" y="0"/>
                </a:lnTo>
                <a:cubicBezTo>
                  <a:pt x="5266369" y="0"/>
                  <a:pt x="5317383" y="51014"/>
                  <a:pt x="5317383" y="113944"/>
                </a:cubicBezTo>
                <a:lnTo>
                  <a:pt x="5317383" y="1101458"/>
                </a:lnTo>
                <a:cubicBezTo>
                  <a:pt x="5317383" y="1164387"/>
                  <a:pt x="5266369" y="1215402"/>
                  <a:pt x="5203439" y="1215402"/>
                </a:cubicBezTo>
                <a:lnTo>
                  <a:pt x="113944" y="1215402"/>
                </a:lnTo>
                <a:cubicBezTo>
                  <a:pt x="51014" y="1215402"/>
                  <a:pt x="0" y="1164387"/>
                  <a:pt x="0" y="1101458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6403976" y="2939545"/>
            <a:ext cx="2003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Sahu et al. (2025) OccuTriage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11000456" y="2939545"/>
            <a:ext cx="493757" cy="227888"/>
          </a:xfrm>
          <a:custGeom>
            <a:rect b="b" l="l" r="r" t="t"/>
            <a:pathLst>
              <a:path extrusionOk="0" h="227888" w="493757">
                <a:moveTo>
                  <a:pt x="37982" y="0"/>
                </a:moveTo>
                <a:lnTo>
                  <a:pt x="455775" y="0"/>
                </a:lnTo>
                <a:cubicBezTo>
                  <a:pt x="476752" y="0"/>
                  <a:pt x="493757" y="17005"/>
                  <a:pt x="493757" y="37982"/>
                </a:cubicBezTo>
                <a:lnTo>
                  <a:pt x="493757" y="189906"/>
                </a:lnTo>
                <a:cubicBezTo>
                  <a:pt x="493757" y="210883"/>
                  <a:pt x="476752" y="227888"/>
                  <a:pt x="455775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E07A5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11000456" y="2939545"/>
            <a:ext cx="5601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75" lIns="75950" spcFirstLastPara="1" rIns="75950" wrap="square" tIns="18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n-US" sz="1047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↓3.1%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6403976" y="3205415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0" i="0" lang="en-US" sz="1196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Two-crew agent with iterative majority voting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6403976" y="3471284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Under-triage:</a:t>
            </a:r>
            <a:r>
              <a:rPr b="0" i="0" lang="en-US" sz="1196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Reduced to 3.1%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6403976" y="3699172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Relevance:</a:t>
            </a:r>
            <a:r>
              <a:rPr b="0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Safety-first defaulting logic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6290032" y="4116966"/>
            <a:ext cx="5317383" cy="987514"/>
          </a:xfrm>
          <a:custGeom>
            <a:rect b="b" l="l" r="r" t="t"/>
            <a:pathLst>
              <a:path extrusionOk="0" h="987514" w="5317383">
                <a:moveTo>
                  <a:pt x="113939" y="0"/>
                </a:moveTo>
                <a:lnTo>
                  <a:pt x="5203444" y="0"/>
                </a:lnTo>
                <a:cubicBezTo>
                  <a:pt x="5266329" y="0"/>
                  <a:pt x="5317383" y="51055"/>
                  <a:pt x="5317383" y="113939"/>
                </a:cubicBezTo>
                <a:lnTo>
                  <a:pt x="5317383" y="873575"/>
                </a:lnTo>
                <a:cubicBezTo>
                  <a:pt x="5317383" y="936502"/>
                  <a:pt x="5266371" y="987514"/>
                  <a:pt x="5203444" y="987514"/>
                </a:cubicBezTo>
                <a:lnTo>
                  <a:pt x="113939" y="987514"/>
                </a:lnTo>
                <a:cubicBezTo>
                  <a:pt x="51012" y="987514"/>
                  <a:pt x="0" y="936502"/>
                  <a:pt x="0" y="873575"/>
                </a:cubicBezTo>
                <a:lnTo>
                  <a:pt x="0" y="113939"/>
                </a:lnTo>
                <a:cubicBezTo>
                  <a:pt x="0" y="51012"/>
                  <a:pt x="51012" y="0"/>
                  <a:pt x="1139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6403976" y="4230910"/>
            <a:ext cx="19086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Xiong et al. (2024) MEDRAG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10921897" y="4230910"/>
            <a:ext cx="569720" cy="227888"/>
          </a:xfrm>
          <a:custGeom>
            <a:rect b="b" l="l" r="r" t="t"/>
            <a:pathLst>
              <a:path extrusionOk="0" h="227888" w="569720">
                <a:moveTo>
                  <a:pt x="37982" y="0"/>
                </a:moveTo>
                <a:lnTo>
                  <a:pt x="531738" y="0"/>
                </a:lnTo>
                <a:cubicBezTo>
                  <a:pt x="552714" y="0"/>
                  <a:pt x="569720" y="17005"/>
                  <a:pt x="569720" y="37982"/>
                </a:cubicBezTo>
                <a:lnTo>
                  <a:pt x="569720" y="189906"/>
                </a:lnTo>
                <a:cubicBezTo>
                  <a:pt x="569720" y="210883"/>
                  <a:pt x="552714" y="227888"/>
                  <a:pt x="531738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4A908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10921897" y="4230910"/>
            <a:ext cx="6363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75" lIns="75950" spcFirstLastPara="1" rIns="75950" wrap="square" tIns="18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n-US" sz="1047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↑1-18%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6403976" y="4496779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0" i="0" lang="en-US" sz="1196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RAG toolkit evaluation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6403976" y="4762648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Relevance:</a:t>
            </a:r>
            <a:r>
              <a:rPr b="0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Optimal corpus-retriever selection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6290032" y="5180443"/>
            <a:ext cx="5317383" cy="987514"/>
          </a:xfrm>
          <a:custGeom>
            <a:rect b="b" l="l" r="r" t="t"/>
            <a:pathLst>
              <a:path extrusionOk="0" h="987514" w="5317383">
                <a:moveTo>
                  <a:pt x="113939" y="0"/>
                </a:moveTo>
                <a:lnTo>
                  <a:pt x="5203444" y="0"/>
                </a:lnTo>
                <a:cubicBezTo>
                  <a:pt x="5266329" y="0"/>
                  <a:pt x="5317383" y="51055"/>
                  <a:pt x="5317383" y="113939"/>
                </a:cubicBezTo>
                <a:lnTo>
                  <a:pt x="5317383" y="873575"/>
                </a:lnTo>
                <a:cubicBezTo>
                  <a:pt x="5317383" y="936502"/>
                  <a:pt x="5266371" y="987514"/>
                  <a:pt x="5203444" y="987514"/>
                </a:cubicBezTo>
                <a:lnTo>
                  <a:pt x="113939" y="987514"/>
                </a:lnTo>
                <a:cubicBezTo>
                  <a:pt x="51012" y="987514"/>
                  <a:pt x="0" y="936502"/>
                  <a:pt x="0" y="873575"/>
                </a:cubicBezTo>
                <a:lnTo>
                  <a:pt x="0" y="113939"/>
                </a:lnTo>
                <a:cubicBezTo>
                  <a:pt x="0" y="51012"/>
                  <a:pt x="51012" y="0"/>
                  <a:pt x="1139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6403976" y="5294387"/>
            <a:ext cx="21648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Wu et al. (2025) MedGraphRAG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11009506" y="5294387"/>
            <a:ext cx="484262" cy="227888"/>
          </a:xfrm>
          <a:custGeom>
            <a:rect b="b" l="l" r="r" t="t"/>
            <a:pathLst>
              <a:path extrusionOk="0" h="227888" w="484262">
                <a:moveTo>
                  <a:pt x="37982" y="0"/>
                </a:moveTo>
                <a:lnTo>
                  <a:pt x="446280" y="0"/>
                </a:lnTo>
                <a:cubicBezTo>
                  <a:pt x="467257" y="0"/>
                  <a:pt x="484262" y="17005"/>
                  <a:pt x="484262" y="37982"/>
                </a:cubicBezTo>
                <a:lnTo>
                  <a:pt x="484262" y="189906"/>
                </a:lnTo>
                <a:cubicBezTo>
                  <a:pt x="484262" y="210883"/>
                  <a:pt x="467257" y="227888"/>
                  <a:pt x="446280" y="227888"/>
                </a:cubicBezTo>
                <a:lnTo>
                  <a:pt x="37982" y="227888"/>
                </a:lnTo>
                <a:cubicBezTo>
                  <a:pt x="17019" y="227888"/>
                  <a:pt x="0" y="210869"/>
                  <a:pt x="0" y="189906"/>
                </a:cubicBezTo>
                <a:lnTo>
                  <a:pt x="0" y="37982"/>
                </a:lnTo>
                <a:cubicBezTo>
                  <a:pt x="0" y="17019"/>
                  <a:pt x="17019" y="0"/>
                  <a:pt x="37982" y="0"/>
                </a:cubicBezTo>
                <a:close/>
              </a:path>
            </a:pathLst>
          </a:custGeom>
          <a:solidFill>
            <a:srgbClr val="4A908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11009506" y="5294387"/>
            <a:ext cx="5508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975" lIns="75950" spcFirstLastPara="1" rIns="75950" wrap="square" tIns="18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7"/>
              <a:buFont typeface="Arial"/>
              <a:buNone/>
            </a:pPr>
            <a:r>
              <a:rPr b="0" i="0" lang="en-US" sz="1047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6403976" y="5560256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0" i="0" lang="en-US" sz="1196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Graph-based RAG with top-down retrieval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6403976" y="5826125"/>
            <a:ext cx="5165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6"/>
              <a:buFont typeface="Arial"/>
              <a:buNone/>
            </a:pPr>
            <a:r>
              <a:rPr b="1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Relevance:</a:t>
            </a:r>
            <a:r>
              <a:rPr b="0" i="0" lang="en-US" sz="1196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Evidence-backed verification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"/>
          <p:cNvSpPr/>
          <p:nvPr/>
        </p:nvSpPr>
        <p:spPr>
          <a:xfrm>
            <a:off x="381000" y="419100"/>
            <a:ext cx="76200" cy="381000"/>
          </a:xfrm>
          <a:custGeom>
            <a:rect b="b" l="l" r="r" t="t"/>
            <a:pathLst>
              <a:path extrusionOk="0" h="381000" w="762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</p:sp>
      <p:sp>
        <p:nvSpPr>
          <p:cNvPr id="214" name="Google Shape;214;p4"/>
          <p:cNvSpPr/>
          <p:nvPr/>
        </p:nvSpPr>
        <p:spPr>
          <a:xfrm>
            <a:off x="571500" y="381000"/>
            <a:ext cx="44672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Research Framework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Research Questions &amp; Variables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385775" y="1376369"/>
            <a:ext cx="3676650" cy="1966555"/>
          </a:xfrm>
          <a:custGeom>
            <a:rect b="b" l="l" r="r" t="t"/>
            <a:pathLst>
              <a:path extrusionOk="0" h="3952875" w="3676650">
                <a:moveTo>
                  <a:pt x="152397" y="0"/>
                </a:moveTo>
                <a:lnTo>
                  <a:pt x="3524253" y="0"/>
                </a:lnTo>
                <a:cubicBezTo>
                  <a:pt x="3608363" y="0"/>
                  <a:pt x="3676650" y="68287"/>
                  <a:pt x="3676650" y="152397"/>
                </a:cubicBezTo>
                <a:lnTo>
                  <a:pt x="3676650" y="3800478"/>
                </a:lnTo>
                <a:cubicBezTo>
                  <a:pt x="3676650" y="3884588"/>
                  <a:pt x="3608363" y="3952875"/>
                  <a:pt x="3524253" y="3952875"/>
                </a:cubicBezTo>
                <a:lnTo>
                  <a:pt x="152397" y="3952875"/>
                </a:lnTo>
                <a:cubicBezTo>
                  <a:pt x="68287" y="3952875"/>
                  <a:pt x="0" y="3884588"/>
                  <a:pt x="0" y="38004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>
            <a:gsLst>
              <a:gs pos="0">
                <a:srgbClr val="4A908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581025" y="1571625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647923" y="1685925"/>
            <a:ext cx="514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RQ1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1228725" y="1704975"/>
            <a:ext cx="2171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Multimodal Performance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581025" y="2257425"/>
            <a:ext cx="3362325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effectively does a lightweight vision-language fusion model align medical images with textual symptoms compared to unimodal baselines?</a:t>
            </a:r>
            <a:endParaRPr b="0" i="0" sz="1200" u="none" cap="none" strike="noStrike">
              <a:solidFill>
                <a:srgbClr val="EDF2F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EDF2F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4259250" y="1376369"/>
            <a:ext cx="3676650" cy="1966555"/>
          </a:xfrm>
          <a:custGeom>
            <a:rect b="b" l="l" r="r" t="t"/>
            <a:pathLst>
              <a:path extrusionOk="0" h="3952875" w="3676650">
                <a:moveTo>
                  <a:pt x="152397" y="0"/>
                </a:moveTo>
                <a:lnTo>
                  <a:pt x="3524253" y="0"/>
                </a:lnTo>
                <a:cubicBezTo>
                  <a:pt x="3608363" y="0"/>
                  <a:pt x="3676650" y="68287"/>
                  <a:pt x="3676650" y="152397"/>
                </a:cubicBezTo>
                <a:lnTo>
                  <a:pt x="3676650" y="3800478"/>
                </a:lnTo>
                <a:cubicBezTo>
                  <a:pt x="3676650" y="3884588"/>
                  <a:pt x="3608363" y="3952875"/>
                  <a:pt x="3524253" y="3952875"/>
                </a:cubicBezTo>
                <a:lnTo>
                  <a:pt x="152397" y="3952875"/>
                </a:lnTo>
                <a:cubicBezTo>
                  <a:pt x="68287" y="3952875"/>
                  <a:pt x="0" y="3884588"/>
                  <a:pt x="0" y="38004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>
            <a:gsLst>
              <a:gs pos="0">
                <a:srgbClr val="E07A5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 cap="flat" cmpd="sng" w="12700">
            <a:solidFill>
              <a:srgbClr val="E07A5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4454500" y="1571625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4500711" y="1685925"/>
            <a:ext cx="55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RQ2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5102200" y="1704975"/>
            <a:ext cx="2085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07A5F"/>
                </a:solidFill>
                <a:latin typeface="Liter"/>
                <a:ea typeface="Liter"/>
                <a:cs typeface="Liter"/>
                <a:sym typeface="Liter"/>
              </a:rPr>
              <a:t>Hallucination Reduction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4454500" y="2257425"/>
            <a:ext cx="3362325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what extent does a multi-agent LLM framework minimize hallucination and omission errors in clinical triage compared to a single-agent baseline?</a:t>
            </a:r>
            <a:endParaRPr b="0" i="0" sz="1200" u="none" cap="none" strike="noStrike">
              <a:solidFill>
                <a:srgbClr val="EDF2F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EDF2F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8132725" y="1376369"/>
            <a:ext cx="3676650" cy="1966555"/>
          </a:xfrm>
          <a:custGeom>
            <a:rect b="b" l="l" r="r" t="t"/>
            <a:pathLst>
              <a:path extrusionOk="0" h="3952875" w="3676650">
                <a:moveTo>
                  <a:pt x="152397" y="0"/>
                </a:moveTo>
                <a:lnTo>
                  <a:pt x="3524253" y="0"/>
                </a:lnTo>
                <a:cubicBezTo>
                  <a:pt x="3608363" y="0"/>
                  <a:pt x="3676650" y="68287"/>
                  <a:pt x="3676650" y="152397"/>
                </a:cubicBezTo>
                <a:lnTo>
                  <a:pt x="3676650" y="3800478"/>
                </a:lnTo>
                <a:cubicBezTo>
                  <a:pt x="3676650" y="3884588"/>
                  <a:pt x="3608363" y="3952875"/>
                  <a:pt x="3524253" y="3952875"/>
                </a:cubicBezTo>
                <a:lnTo>
                  <a:pt x="152397" y="3952875"/>
                </a:lnTo>
                <a:cubicBezTo>
                  <a:pt x="68287" y="3952875"/>
                  <a:pt x="0" y="3884588"/>
                  <a:pt x="0" y="380047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>
            <a:gsLst>
              <a:gs pos="0">
                <a:srgbClr val="8D99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 cap="flat" cmpd="sng" w="12700">
            <a:solidFill>
              <a:srgbClr val="8D99A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8327975" y="1571625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8373145" y="1685925"/>
            <a:ext cx="561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Liter"/>
                <a:ea typeface="Liter"/>
                <a:cs typeface="Liter"/>
                <a:sym typeface="Liter"/>
              </a:rPr>
              <a:t>RQ3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8975675" y="1704975"/>
            <a:ext cx="18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D99AE"/>
                </a:solidFill>
                <a:latin typeface="Liter"/>
                <a:ea typeface="Liter"/>
                <a:cs typeface="Liter"/>
                <a:sym typeface="Liter"/>
              </a:rPr>
              <a:t>Latency &amp; Efficiency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8327975" y="2257425"/>
            <a:ext cx="33624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the combination of local lightweight models and API-based LLMs provide a computationally viable diagnostic system for low-resource environments?</a:t>
            </a:r>
            <a:endParaRPr b="0" i="0" sz="1200" u="none" cap="none" strike="noStrike">
              <a:solidFill>
                <a:srgbClr val="EDF2F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EDF2F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3717324" y="3839050"/>
            <a:ext cx="4658082" cy="1037272"/>
          </a:xfrm>
          <a:custGeom>
            <a:rect b="b" l="l" r="r" t="t"/>
            <a:pathLst>
              <a:path extrusionOk="0" h="838200" w="3286125">
                <a:moveTo>
                  <a:pt x="114297" y="0"/>
                </a:moveTo>
                <a:lnTo>
                  <a:pt x="3171828" y="0"/>
                </a:lnTo>
                <a:cubicBezTo>
                  <a:pt x="3234953" y="0"/>
                  <a:pt x="3286125" y="51172"/>
                  <a:pt x="3286125" y="114297"/>
                </a:cubicBezTo>
                <a:lnTo>
                  <a:pt x="3286125" y="723903"/>
                </a:lnTo>
                <a:cubicBezTo>
                  <a:pt x="3286125" y="787028"/>
                  <a:pt x="3234953" y="838200"/>
                  <a:pt x="31718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4348238" y="4072463"/>
            <a:ext cx="30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IV:</a:t>
            </a: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Model Modality &amp; Agent Configuration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4348238" y="4414300"/>
            <a:ext cx="367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DV:</a:t>
            </a: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Classification Accuracy &amp; Hallucination Rates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381000" y="5524500"/>
            <a:ext cx="11430000" cy="952500"/>
          </a:xfrm>
          <a:custGeom>
            <a:rect b="b" l="l" r="r" t="t"/>
            <a:pathLst>
              <a:path extrusionOk="0" h="952500" w="114300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838200"/>
                </a:lnTo>
                <a:cubicBezTo>
                  <a:pt x="11430000" y="901284"/>
                  <a:pt x="11378784" y="952500"/>
                  <a:pt x="11315700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1219646" y="5715000"/>
            <a:ext cx="1562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Independent Variables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1200596" y="5981700"/>
            <a:ext cx="160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4114056" y="5772150"/>
            <a:ext cx="9525" cy="457200"/>
          </a:xfrm>
          <a:custGeom>
            <a:rect b="b" l="l" r="r" t="t"/>
            <a:pathLst>
              <a:path extrusionOk="0" h="457200" w="9525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>
            <a:noFill/>
          </a:ln>
        </p:spPr>
      </p:sp>
      <p:sp>
        <p:nvSpPr>
          <p:cNvPr id="238" name="Google Shape;238;p4"/>
          <p:cNvSpPr/>
          <p:nvPr/>
        </p:nvSpPr>
        <p:spPr>
          <a:xfrm>
            <a:off x="5457974" y="5715000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Dependent Variables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5438924" y="5981700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8247385" y="5772150"/>
            <a:ext cx="9525" cy="457200"/>
          </a:xfrm>
          <a:custGeom>
            <a:rect b="b" l="l" r="r" t="t"/>
            <a:pathLst>
              <a:path extrusionOk="0" h="457200" w="9525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>
            <a:noFill/>
          </a:ln>
        </p:spPr>
      </p:sp>
      <p:sp>
        <p:nvSpPr>
          <p:cNvPr id="241" name="Google Shape;241;p4"/>
          <p:cNvSpPr/>
          <p:nvPr/>
        </p:nvSpPr>
        <p:spPr>
          <a:xfrm>
            <a:off x="9591303" y="571500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Research Questions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9572253" y="5981700"/>
            <a:ext cx="141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"/>
          <p:cNvSpPr/>
          <p:nvPr/>
        </p:nvSpPr>
        <p:spPr>
          <a:xfrm>
            <a:off x="381000" y="419100"/>
            <a:ext cx="76200" cy="381000"/>
          </a:xfrm>
          <a:custGeom>
            <a:rect b="b" l="l" r="r" t="t"/>
            <a:pathLst>
              <a:path extrusionOk="0" h="381000" w="762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</p:sp>
      <p:sp>
        <p:nvSpPr>
          <p:cNvPr id="249" name="Google Shape;249;p5"/>
          <p:cNvSpPr/>
          <p:nvPr/>
        </p:nvSpPr>
        <p:spPr>
          <a:xfrm>
            <a:off x="571500" y="381000"/>
            <a:ext cx="436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System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Dual-Pipeline Design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385763" y="1338263"/>
            <a:ext cx="4333875" cy="5133975"/>
          </a:xfrm>
          <a:custGeom>
            <a:rect b="b" l="l" r="r" t="t"/>
            <a:pathLst>
              <a:path extrusionOk="0" h="5133975" w="4333875">
                <a:moveTo>
                  <a:pt x="152379" y="0"/>
                </a:moveTo>
                <a:lnTo>
                  <a:pt x="4181496" y="0"/>
                </a:lnTo>
                <a:cubicBezTo>
                  <a:pt x="4265653" y="0"/>
                  <a:pt x="4333875" y="68222"/>
                  <a:pt x="4333875" y="152379"/>
                </a:cubicBezTo>
                <a:lnTo>
                  <a:pt x="4333875" y="4981596"/>
                </a:lnTo>
                <a:cubicBezTo>
                  <a:pt x="4333875" y="5065753"/>
                  <a:pt x="4265653" y="5133975"/>
                  <a:pt x="4181496" y="5133975"/>
                </a:cubicBezTo>
                <a:lnTo>
                  <a:pt x="152379" y="5133975"/>
                </a:lnTo>
                <a:cubicBezTo>
                  <a:pt x="68222" y="5133975"/>
                  <a:pt x="0" y="5065753"/>
                  <a:pt x="0" y="4981596"/>
                </a:cubicBezTo>
                <a:lnTo>
                  <a:pt x="0" y="152379"/>
                </a:lnTo>
                <a:cubicBezTo>
                  <a:pt x="0" y="68222"/>
                  <a:pt x="68222" y="0"/>
                  <a:pt x="152379" y="0"/>
                </a:cubicBezTo>
                <a:close/>
              </a:path>
            </a:pathLst>
          </a:custGeom>
          <a:gradFill>
            <a:gsLst>
              <a:gs pos="0">
                <a:srgbClr val="4A908A">
                  <a:alpha val="20000"/>
                </a:srgbClr>
              </a:gs>
              <a:gs pos="100000">
                <a:srgbClr val="4A908A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542925" y="15335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657225" y="1647825"/>
            <a:ext cx="228600" cy="228600"/>
          </a:xfrm>
          <a:custGeom>
            <a:rect b="b" l="l" r="r" t="t"/>
            <a:pathLst>
              <a:path extrusionOk="0" h="228600" w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1114425" y="1495425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Feature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1114425" y="1800225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Vision-Language Fusion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542925" y="2143125"/>
            <a:ext cx="4019550" cy="762000"/>
          </a:xfrm>
          <a:custGeom>
            <a:rect b="b" l="l" r="r" t="t"/>
            <a:pathLst>
              <a:path extrusionOk="0" h="762000" w="4019550">
                <a:moveTo>
                  <a:pt x="114300" y="0"/>
                </a:moveTo>
                <a:lnTo>
                  <a:pt x="3905250" y="0"/>
                </a:lnTo>
                <a:cubicBezTo>
                  <a:pt x="3968334" y="0"/>
                  <a:pt x="4019550" y="51216"/>
                  <a:pt x="4019550" y="114300"/>
                </a:cubicBezTo>
                <a:lnTo>
                  <a:pt x="4019550" y="647700"/>
                </a:lnTo>
                <a:cubicBezTo>
                  <a:pt x="4019550" y="710784"/>
                  <a:pt x="3968334" y="762000"/>
                  <a:pt x="390525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681038" y="2286000"/>
            <a:ext cx="171450" cy="171450"/>
          </a:xfrm>
          <a:custGeom>
            <a:rect b="b" l="l" r="r" t="t"/>
            <a:pathLst>
              <a:path extrusionOk="0" h="171450" w="171450">
                <a:moveTo>
                  <a:pt x="0" y="21431"/>
                </a:moveTo>
                <a:cubicBezTo>
                  <a:pt x="0" y="15504"/>
                  <a:pt x="4789" y="10716"/>
                  <a:pt x="10716" y="10716"/>
                </a:cubicBezTo>
                <a:lnTo>
                  <a:pt x="160734" y="10716"/>
                </a:lnTo>
                <a:cubicBezTo>
                  <a:pt x="166661" y="10716"/>
                  <a:pt x="171450" y="15504"/>
                  <a:pt x="171450" y="21431"/>
                </a:cubicBezTo>
                <a:cubicBezTo>
                  <a:pt x="171450" y="27358"/>
                  <a:pt x="166661" y="32147"/>
                  <a:pt x="160734" y="32147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cubicBezTo>
                  <a:pt x="0" y="144092"/>
                  <a:pt x="4789" y="139303"/>
                  <a:pt x="10716" y="139303"/>
                </a:cubicBezTo>
                <a:lnTo>
                  <a:pt x="10716" y="32147"/>
                </a:lnTo>
                <a:cubicBezTo>
                  <a:pt x="4789" y="32147"/>
                  <a:pt x="0" y="27358"/>
                  <a:pt x="0" y="21431"/>
                </a:cubicBezTo>
                <a:close/>
                <a:moveTo>
                  <a:pt x="93762" y="40184"/>
                </a:move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lnTo>
                  <a:pt x="77688" y="45541"/>
                </a:lnTo>
                <a:lnTo>
                  <a:pt x="56257" y="45541"/>
                </a:lnTo>
                <a:cubicBezTo>
                  <a:pt x="51803" y="45541"/>
                  <a:pt x="48220" y="49124"/>
                  <a:pt x="48220" y="53578"/>
                </a:cubicBezTo>
                <a:cubicBezTo>
                  <a:pt x="48220" y="58032"/>
                  <a:pt x="51803" y="61615"/>
                  <a:pt x="56257" y="61615"/>
                </a:cubicBezTo>
                <a:lnTo>
                  <a:pt x="77688" y="61615"/>
                </a:lnTo>
                <a:lnTo>
                  <a:pt x="77688" y="77688"/>
                </a:lnTo>
                <a:lnTo>
                  <a:pt x="50899" y="77688"/>
                </a:lnTo>
                <a:cubicBezTo>
                  <a:pt x="46446" y="77688"/>
                  <a:pt x="42863" y="81271"/>
                  <a:pt x="42863" y="85725"/>
                </a:cubicBezTo>
                <a:cubicBezTo>
                  <a:pt x="42863" y="90179"/>
                  <a:pt x="46446" y="93762"/>
                  <a:pt x="50899" y="93762"/>
                </a:cubicBezTo>
                <a:lnTo>
                  <a:pt x="77688" y="93762"/>
                </a:lnTo>
                <a:lnTo>
                  <a:pt x="77688" y="109835"/>
                </a:lnTo>
                <a:lnTo>
                  <a:pt x="56257" y="109835"/>
                </a:lnTo>
                <a:cubicBezTo>
                  <a:pt x="51803" y="109835"/>
                  <a:pt x="48220" y="113418"/>
                  <a:pt x="48220" y="117872"/>
                </a:cubicBezTo>
                <a:cubicBezTo>
                  <a:pt x="48220" y="122326"/>
                  <a:pt x="51803" y="125909"/>
                  <a:pt x="56257" y="125909"/>
                </a:cubicBezTo>
                <a:lnTo>
                  <a:pt x="77688" y="125909"/>
                </a:lnTo>
                <a:lnTo>
                  <a:pt x="77688" y="131266"/>
                </a:lnTo>
                <a:cubicBezTo>
                  <a:pt x="77688" y="135720"/>
                  <a:pt x="81271" y="139303"/>
                  <a:pt x="85725" y="139303"/>
                </a:cubicBezTo>
                <a:cubicBezTo>
                  <a:pt x="90179" y="139303"/>
                  <a:pt x="93762" y="135720"/>
                  <a:pt x="93762" y="131266"/>
                </a:cubicBezTo>
                <a:lnTo>
                  <a:pt x="93762" y="125909"/>
                </a:lnTo>
                <a:lnTo>
                  <a:pt x="115193" y="125909"/>
                </a:lnTo>
                <a:cubicBezTo>
                  <a:pt x="119647" y="125909"/>
                  <a:pt x="123230" y="122326"/>
                  <a:pt x="123230" y="117872"/>
                </a:cubicBezTo>
                <a:cubicBezTo>
                  <a:pt x="123230" y="113418"/>
                  <a:pt x="119647" y="109835"/>
                  <a:pt x="115193" y="109835"/>
                </a:cubicBezTo>
                <a:lnTo>
                  <a:pt x="93762" y="109835"/>
                </a:lnTo>
                <a:lnTo>
                  <a:pt x="93762" y="93762"/>
                </a:lnTo>
                <a:lnTo>
                  <a:pt x="120551" y="93762"/>
                </a:lnTo>
                <a:cubicBezTo>
                  <a:pt x="125004" y="93762"/>
                  <a:pt x="128588" y="90179"/>
                  <a:pt x="128588" y="85725"/>
                </a:cubicBezTo>
                <a:cubicBezTo>
                  <a:pt x="128588" y="81271"/>
                  <a:pt x="125004" y="77688"/>
                  <a:pt x="120551" y="77688"/>
                </a:cubicBezTo>
                <a:lnTo>
                  <a:pt x="93762" y="77688"/>
                </a:lnTo>
                <a:lnTo>
                  <a:pt x="93762" y="61615"/>
                </a:lnTo>
                <a:lnTo>
                  <a:pt x="115193" y="61615"/>
                </a:lnTo>
                <a:cubicBezTo>
                  <a:pt x="119647" y="61615"/>
                  <a:pt x="123230" y="58032"/>
                  <a:pt x="123230" y="53578"/>
                </a:cubicBezTo>
                <a:cubicBezTo>
                  <a:pt x="123230" y="49124"/>
                  <a:pt x="119647" y="45541"/>
                  <a:pt x="115193" y="45541"/>
                </a:cubicBezTo>
                <a:lnTo>
                  <a:pt x="93762" y="45541"/>
                </a:lnTo>
                <a:lnTo>
                  <a:pt x="93762" y="40184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947737" y="2257425"/>
            <a:ext cx="140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CNN Image Encoder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885825" y="2562225"/>
            <a:ext cx="3638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ResNet-18 for feature extraction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2469356" y="2981325"/>
            <a:ext cx="166688" cy="190500"/>
          </a:xfrm>
          <a:custGeom>
            <a:rect b="b" l="l" r="r" t="t"/>
            <a:pathLst>
              <a:path extrusionOk="0" h="190500" w="166688">
                <a:moveTo>
                  <a:pt x="95250" y="23812"/>
                </a:moveTo>
                <a:cubicBezTo>
                  <a:pt x="95250" y="17227"/>
                  <a:pt x="89929" y="11906"/>
                  <a:pt x="83344" y="11906"/>
                </a:cubicBezTo>
                <a:cubicBezTo>
                  <a:pt x="76758" y="11906"/>
                  <a:pt x="71438" y="17227"/>
                  <a:pt x="71438" y="23812"/>
                </a:cubicBezTo>
                <a:lnTo>
                  <a:pt x="71438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71438" y="107156"/>
                </a:lnTo>
                <a:lnTo>
                  <a:pt x="71438" y="166688"/>
                </a:lnTo>
                <a:cubicBezTo>
                  <a:pt x="71438" y="173273"/>
                  <a:pt x="76758" y="178594"/>
                  <a:pt x="83344" y="178594"/>
                </a:cubicBezTo>
                <a:cubicBezTo>
                  <a:pt x="89929" y="178594"/>
                  <a:pt x="95250" y="173273"/>
                  <a:pt x="95250" y="166688"/>
                </a:cubicBezTo>
                <a:lnTo>
                  <a:pt x="95250" y="107156"/>
                </a:lnTo>
                <a:lnTo>
                  <a:pt x="154781" y="107156"/>
                </a:lnTo>
                <a:cubicBezTo>
                  <a:pt x="161367" y="107156"/>
                  <a:pt x="166688" y="101836"/>
                  <a:pt x="166688" y="95250"/>
                </a:cubicBezTo>
                <a:cubicBezTo>
                  <a:pt x="166688" y="88664"/>
                  <a:pt x="161367" y="83344"/>
                  <a:pt x="154781" y="83344"/>
                </a:cubicBezTo>
                <a:lnTo>
                  <a:pt x="95250" y="83344"/>
                </a:lnTo>
                <a:lnTo>
                  <a:pt x="95250" y="23812"/>
                </a:ln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542925" y="3248025"/>
            <a:ext cx="4019550" cy="762000"/>
          </a:xfrm>
          <a:custGeom>
            <a:rect b="b" l="l" r="r" t="t"/>
            <a:pathLst>
              <a:path extrusionOk="0" h="762000" w="4019550">
                <a:moveTo>
                  <a:pt x="114300" y="0"/>
                </a:moveTo>
                <a:lnTo>
                  <a:pt x="3905250" y="0"/>
                </a:lnTo>
                <a:cubicBezTo>
                  <a:pt x="3968334" y="0"/>
                  <a:pt x="4019550" y="51216"/>
                  <a:pt x="4019550" y="114300"/>
                </a:cubicBezTo>
                <a:lnTo>
                  <a:pt x="4019550" y="647700"/>
                </a:lnTo>
                <a:cubicBezTo>
                  <a:pt x="4019550" y="710784"/>
                  <a:pt x="3968334" y="762000"/>
                  <a:pt x="390525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702469" y="3390900"/>
            <a:ext cx="128588" cy="171450"/>
          </a:xfrm>
          <a:custGeom>
            <a:rect b="b" l="l" r="r" t="t"/>
            <a:pathLst>
              <a:path extrusionOk="0" h="171450" w="128588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117872"/>
                </a:lnTo>
                <a:lnTo>
                  <a:pt x="20192" y="117872"/>
                </a:lnTo>
                <a:lnTo>
                  <a:pt x="36534" y="138868"/>
                </a:lnTo>
                <a:cubicBezTo>
                  <a:pt x="38241" y="141078"/>
                  <a:pt x="40987" y="142216"/>
                  <a:pt x="43767" y="141915"/>
                </a:cubicBezTo>
                <a:cubicBezTo>
                  <a:pt x="46546" y="141614"/>
                  <a:pt x="48957" y="139872"/>
                  <a:pt x="50163" y="137361"/>
                </a:cubicBezTo>
                <a:lnTo>
                  <a:pt x="64528" y="106821"/>
                </a:lnTo>
                <a:lnTo>
                  <a:pt x="67843" y="113452"/>
                </a:lnTo>
                <a:cubicBezTo>
                  <a:pt x="69216" y="116164"/>
                  <a:pt x="71996" y="117905"/>
                  <a:pt x="75043" y="117905"/>
                </a:cubicBezTo>
                <a:lnTo>
                  <a:pt x="99153" y="117905"/>
                </a:lnTo>
                <a:cubicBezTo>
                  <a:pt x="103607" y="117905"/>
                  <a:pt x="107190" y="114322"/>
                  <a:pt x="107190" y="109869"/>
                </a:cubicBezTo>
                <a:cubicBezTo>
                  <a:pt x="107190" y="105415"/>
                  <a:pt x="103607" y="101832"/>
                  <a:pt x="99153" y="101832"/>
                </a:cubicBezTo>
                <a:lnTo>
                  <a:pt x="79999" y="101832"/>
                </a:lnTo>
                <a:lnTo>
                  <a:pt x="71493" y="84854"/>
                </a:lnTo>
                <a:cubicBezTo>
                  <a:pt x="70120" y="82108"/>
                  <a:pt x="67274" y="80367"/>
                  <a:pt x="64193" y="80401"/>
                </a:cubicBezTo>
                <a:cubicBezTo>
                  <a:pt x="61113" y="80434"/>
                  <a:pt x="58333" y="82242"/>
                  <a:pt x="57027" y="85022"/>
                </a:cubicBezTo>
                <a:lnTo>
                  <a:pt x="41188" y="118709"/>
                </a:lnTo>
                <a:lnTo>
                  <a:pt x="30473" y="104946"/>
                </a:lnTo>
                <a:cubicBezTo>
                  <a:pt x="28932" y="102937"/>
                  <a:pt x="26588" y="101798"/>
                  <a:pt x="24110" y="101798"/>
                </a:cubicBezTo>
                <a:lnTo>
                  <a:pt x="0" y="101798"/>
                </a:ln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947737" y="3362325"/>
            <a:ext cx="1466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BiLSTM Text Encoder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885825" y="3667125"/>
            <a:ext cx="3638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GloVe / Word2Vec embeddings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2481263" y="4086225"/>
            <a:ext cx="142875" cy="190500"/>
          </a:xfrm>
          <a:custGeom>
            <a:rect b="b" l="l" r="r" t="t"/>
            <a:pathLst>
              <a:path extrusionOk="0" h="190500" w="142875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552450" y="4362450"/>
            <a:ext cx="4000500" cy="704850"/>
          </a:xfrm>
          <a:custGeom>
            <a:rect b="b" l="l" r="r" t="t"/>
            <a:pathLst>
              <a:path extrusionOk="0" h="704850" w="4000500">
                <a:moveTo>
                  <a:pt x="114298" y="0"/>
                </a:moveTo>
                <a:lnTo>
                  <a:pt x="3886202" y="0"/>
                </a:lnTo>
                <a:cubicBezTo>
                  <a:pt x="3949327" y="0"/>
                  <a:pt x="4000500" y="51173"/>
                  <a:pt x="4000500" y="114298"/>
                </a:cubicBezTo>
                <a:lnTo>
                  <a:pt x="4000500" y="590552"/>
                </a:lnTo>
                <a:cubicBezTo>
                  <a:pt x="4000500" y="653677"/>
                  <a:pt x="3949327" y="704850"/>
                  <a:pt x="3886202" y="704850"/>
                </a:cubicBezTo>
                <a:lnTo>
                  <a:pt x="114298" y="704850"/>
                </a:lnTo>
                <a:cubicBezTo>
                  <a:pt x="51215" y="704850"/>
                  <a:pt x="0" y="653635"/>
                  <a:pt x="0" y="59055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4A908A">
              <a:alpha val="30196"/>
            </a:srgbClr>
          </a:solidFill>
          <a:ln cap="flat" cmpd="sng" w="25400">
            <a:solidFill>
              <a:srgbClr val="4A9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638175" y="4486275"/>
            <a:ext cx="3829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Diagnostic Report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638175" y="4714875"/>
            <a:ext cx="3829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 Probs + Confidence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4881563" y="1338263"/>
            <a:ext cx="2428875" cy="5133975"/>
          </a:xfrm>
          <a:custGeom>
            <a:rect b="b" l="l" r="r" t="t"/>
            <a:pathLst>
              <a:path extrusionOk="0" h="5133975" w="2428875">
                <a:moveTo>
                  <a:pt x="152412" y="0"/>
                </a:moveTo>
                <a:lnTo>
                  <a:pt x="2276463" y="0"/>
                </a:lnTo>
                <a:cubicBezTo>
                  <a:pt x="2360638" y="0"/>
                  <a:pt x="2428875" y="68237"/>
                  <a:pt x="2428875" y="152412"/>
                </a:cubicBezTo>
                <a:lnTo>
                  <a:pt x="2428875" y="4981563"/>
                </a:lnTo>
                <a:cubicBezTo>
                  <a:pt x="2428875" y="5065738"/>
                  <a:pt x="2360638" y="5133975"/>
                  <a:pt x="2276463" y="5133975"/>
                </a:cubicBezTo>
                <a:lnTo>
                  <a:pt x="152412" y="5133975"/>
                </a:lnTo>
                <a:cubicBezTo>
                  <a:pt x="68237" y="5133975"/>
                  <a:pt x="0" y="5065738"/>
                  <a:pt x="0" y="4981563"/>
                </a:cubicBezTo>
                <a:lnTo>
                  <a:pt x="0" y="152412"/>
                </a:lnTo>
                <a:cubicBezTo>
                  <a:pt x="0" y="68237"/>
                  <a:pt x="68237" y="0"/>
                  <a:pt x="152412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8D99A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5945981" y="2247900"/>
            <a:ext cx="300038" cy="342900"/>
          </a:xfrm>
          <a:custGeom>
            <a:rect b="b" l="l" r="r" t="t"/>
            <a:pathLst>
              <a:path extrusionOk="0" h="342900" w="300038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107156"/>
                </a:lnTo>
                <a:cubicBezTo>
                  <a:pt x="0" y="130798"/>
                  <a:pt x="19221" y="150019"/>
                  <a:pt x="42863" y="150019"/>
                </a:cubicBezTo>
                <a:lnTo>
                  <a:pt x="257175" y="150019"/>
                </a:lnTo>
                <a:cubicBezTo>
                  <a:pt x="280816" y="150019"/>
                  <a:pt x="300038" y="130798"/>
                  <a:pt x="300038" y="107156"/>
                </a:cubicBezTo>
                <a:lnTo>
                  <a:pt x="300038" y="64294"/>
                </a:lnTo>
                <a:cubicBezTo>
                  <a:pt x="300038" y="40652"/>
                  <a:pt x="280816" y="21431"/>
                  <a:pt x="257175" y="21431"/>
                </a:cubicBezTo>
                <a:lnTo>
                  <a:pt x="42863" y="21431"/>
                </a:lnTo>
                <a:close/>
                <a:moveTo>
                  <a:pt x="187523" y="69652"/>
                </a:moveTo>
                <a:cubicBezTo>
                  <a:pt x="196395" y="69652"/>
                  <a:pt x="203597" y="76854"/>
                  <a:pt x="203597" y="85725"/>
                </a:cubicBezTo>
                <a:cubicBezTo>
                  <a:pt x="203597" y="94596"/>
                  <a:pt x="196395" y="101798"/>
                  <a:pt x="187523" y="101798"/>
                </a:cubicBezTo>
                <a:cubicBezTo>
                  <a:pt x="178652" y="101798"/>
                  <a:pt x="171450" y="94596"/>
                  <a:pt x="171450" y="85725"/>
                </a:cubicBezTo>
                <a:cubicBezTo>
                  <a:pt x="171450" y="76854"/>
                  <a:pt x="178652" y="69652"/>
                  <a:pt x="187523" y="69652"/>
                </a:cubicBezTo>
                <a:close/>
                <a:moveTo>
                  <a:pt x="225028" y="85725"/>
                </a:moveTo>
                <a:cubicBezTo>
                  <a:pt x="225028" y="76854"/>
                  <a:pt x="232230" y="69652"/>
                  <a:pt x="241102" y="69652"/>
                </a:cubicBezTo>
                <a:cubicBezTo>
                  <a:pt x="249973" y="69652"/>
                  <a:pt x="257175" y="76854"/>
                  <a:pt x="257175" y="85725"/>
                </a:cubicBezTo>
                <a:cubicBezTo>
                  <a:pt x="257175" y="94596"/>
                  <a:pt x="249973" y="101798"/>
                  <a:pt x="241102" y="101798"/>
                </a:cubicBezTo>
                <a:cubicBezTo>
                  <a:pt x="232230" y="101798"/>
                  <a:pt x="225028" y="94596"/>
                  <a:pt x="225028" y="85725"/>
                </a:cubicBezTo>
                <a:close/>
                <a:moveTo>
                  <a:pt x="42863" y="192881"/>
                </a:moveTo>
                <a:cubicBezTo>
                  <a:pt x="19221" y="192881"/>
                  <a:pt x="0" y="212102"/>
                  <a:pt x="0" y="235744"/>
                </a:cubicBezTo>
                <a:lnTo>
                  <a:pt x="0" y="278606"/>
                </a:lnTo>
                <a:cubicBezTo>
                  <a:pt x="0" y="302248"/>
                  <a:pt x="19221" y="321469"/>
                  <a:pt x="42863" y="321469"/>
                </a:cubicBezTo>
                <a:lnTo>
                  <a:pt x="257175" y="321469"/>
                </a:lnTo>
                <a:cubicBezTo>
                  <a:pt x="280816" y="321469"/>
                  <a:pt x="300038" y="302248"/>
                  <a:pt x="300038" y="278606"/>
                </a:cubicBezTo>
                <a:lnTo>
                  <a:pt x="300038" y="235744"/>
                </a:lnTo>
                <a:cubicBezTo>
                  <a:pt x="300038" y="212102"/>
                  <a:pt x="280816" y="192881"/>
                  <a:pt x="257175" y="192881"/>
                </a:cubicBezTo>
                <a:lnTo>
                  <a:pt x="42863" y="192881"/>
                </a:lnTo>
                <a:close/>
                <a:moveTo>
                  <a:pt x="187523" y="241102"/>
                </a:moveTo>
                <a:cubicBezTo>
                  <a:pt x="196395" y="241102"/>
                  <a:pt x="203597" y="248304"/>
                  <a:pt x="203597" y="257175"/>
                </a:cubicBezTo>
                <a:cubicBezTo>
                  <a:pt x="203597" y="266046"/>
                  <a:pt x="196395" y="273248"/>
                  <a:pt x="187523" y="273248"/>
                </a:cubicBezTo>
                <a:cubicBezTo>
                  <a:pt x="178652" y="273248"/>
                  <a:pt x="171450" y="266046"/>
                  <a:pt x="171450" y="257175"/>
                </a:cubicBezTo>
                <a:cubicBezTo>
                  <a:pt x="171450" y="248304"/>
                  <a:pt x="178652" y="241102"/>
                  <a:pt x="187523" y="241102"/>
                </a:cubicBezTo>
                <a:close/>
                <a:moveTo>
                  <a:pt x="225028" y="257175"/>
                </a:moveTo>
                <a:cubicBezTo>
                  <a:pt x="225028" y="248304"/>
                  <a:pt x="232230" y="241102"/>
                  <a:pt x="241102" y="241102"/>
                </a:cubicBezTo>
                <a:cubicBezTo>
                  <a:pt x="249973" y="241102"/>
                  <a:pt x="257175" y="248304"/>
                  <a:pt x="257175" y="257175"/>
                </a:cubicBezTo>
                <a:cubicBezTo>
                  <a:pt x="257175" y="266046"/>
                  <a:pt x="249973" y="273248"/>
                  <a:pt x="241102" y="273248"/>
                </a:cubicBezTo>
                <a:cubicBezTo>
                  <a:pt x="232230" y="273248"/>
                  <a:pt x="225028" y="266046"/>
                  <a:pt x="225028" y="257175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4991100" y="2667000"/>
            <a:ext cx="2209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Shared Infrastructure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5038725" y="3124200"/>
            <a:ext cx="2114550" cy="381000"/>
          </a:xfrm>
          <a:custGeom>
            <a:rect b="b" l="l" r="r" t="t"/>
            <a:pathLst>
              <a:path extrusionOk="0" h="381000" w="2114550">
                <a:moveTo>
                  <a:pt x="76200" y="0"/>
                </a:moveTo>
                <a:lnTo>
                  <a:pt x="2038350" y="0"/>
                </a:lnTo>
                <a:cubicBezTo>
                  <a:pt x="2080406" y="0"/>
                  <a:pt x="2114550" y="34144"/>
                  <a:pt x="2114550" y="76200"/>
                </a:cubicBezTo>
                <a:lnTo>
                  <a:pt x="2114550" y="304800"/>
                </a:lnTo>
                <a:cubicBezTo>
                  <a:pt x="2114550" y="346856"/>
                  <a:pt x="2080406" y="381000"/>
                  <a:pt x="20383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5133975" y="3238500"/>
            <a:ext cx="152400" cy="152400"/>
          </a:xfrm>
          <a:custGeom>
            <a:rect b="b" l="l" r="r" t="t"/>
            <a:pathLst>
              <a:path extrusionOk="0" h="152400" w="152400">
                <a:moveTo>
                  <a:pt x="124480" y="52745"/>
                </a:moveTo>
                <a:cubicBezTo>
                  <a:pt x="122873" y="52209"/>
                  <a:pt x="121265" y="51703"/>
                  <a:pt x="119658" y="51227"/>
                </a:cubicBezTo>
                <a:cubicBezTo>
                  <a:pt x="119926" y="50125"/>
                  <a:pt x="120164" y="49024"/>
                  <a:pt x="120402" y="47923"/>
                </a:cubicBezTo>
                <a:cubicBezTo>
                  <a:pt x="124063" y="30182"/>
                  <a:pt x="121652" y="15925"/>
                  <a:pt x="113526" y="11222"/>
                </a:cubicBezTo>
                <a:cubicBezTo>
                  <a:pt x="105698" y="6727"/>
                  <a:pt x="92928" y="11400"/>
                  <a:pt x="80010" y="22652"/>
                </a:cubicBezTo>
                <a:cubicBezTo>
                  <a:pt x="78730" y="23753"/>
                  <a:pt x="77480" y="24914"/>
                  <a:pt x="76289" y="26075"/>
                </a:cubicBezTo>
                <a:cubicBezTo>
                  <a:pt x="75486" y="25301"/>
                  <a:pt x="74652" y="24527"/>
                  <a:pt x="73819" y="23783"/>
                </a:cubicBezTo>
                <a:cubicBezTo>
                  <a:pt x="60275" y="11757"/>
                  <a:pt x="46702" y="6697"/>
                  <a:pt x="38576" y="11430"/>
                </a:cubicBezTo>
                <a:cubicBezTo>
                  <a:pt x="30778" y="15954"/>
                  <a:pt x="28456" y="29379"/>
                  <a:pt x="31730" y="46166"/>
                </a:cubicBezTo>
                <a:cubicBezTo>
                  <a:pt x="32058" y="47833"/>
                  <a:pt x="32415" y="49470"/>
                  <a:pt x="32831" y="51137"/>
                </a:cubicBezTo>
                <a:cubicBezTo>
                  <a:pt x="30926" y="51673"/>
                  <a:pt x="29051" y="52268"/>
                  <a:pt x="27295" y="52894"/>
                </a:cubicBezTo>
                <a:cubicBezTo>
                  <a:pt x="11400" y="58400"/>
                  <a:pt x="0" y="67092"/>
                  <a:pt x="0" y="76081"/>
                </a:cubicBezTo>
                <a:cubicBezTo>
                  <a:pt x="0" y="85368"/>
                  <a:pt x="12144" y="94684"/>
                  <a:pt x="28664" y="100340"/>
                </a:cubicBezTo>
                <a:cubicBezTo>
                  <a:pt x="30004" y="100786"/>
                  <a:pt x="31343" y="101233"/>
                  <a:pt x="32712" y="101620"/>
                </a:cubicBezTo>
                <a:cubicBezTo>
                  <a:pt x="32266" y="103406"/>
                  <a:pt x="31879" y="105162"/>
                  <a:pt x="31522" y="106978"/>
                </a:cubicBezTo>
                <a:cubicBezTo>
                  <a:pt x="28396" y="123498"/>
                  <a:pt x="30837" y="136594"/>
                  <a:pt x="38636" y="141089"/>
                </a:cubicBezTo>
                <a:cubicBezTo>
                  <a:pt x="46672" y="145733"/>
                  <a:pt x="60186" y="140970"/>
                  <a:pt x="73342" y="129451"/>
                </a:cubicBezTo>
                <a:cubicBezTo>
                  <a:pt x="74384" y="128528"/>
                  <a:pt x="75426" y="127575"/>
                  <a:pt x="76468" y="126563"/>
                </a:cubicBezTo>
                <a:cubicBezTo>
                  <a:pt x="77778" y="127843"/>
                  <a:pt x="79147" y="129064"/>
                  <a:pt x="80516" y="130254"/>
                </a:cubicBezTo>
                <a:cubicBezTo>
                  <a:pt x="93256" y="141208"/>
                  <a:pt x="105847" y="145643"/>
                  <a:pt x="113615" y="141149"/>
                </a:cubicBezTo>
                <a:cubicBezTo>
                  <a:pt x="121652" y="136505"/>
                  <a:pt x="124271" y="122426"/>
                  <a:pt x="120878" y="105281"/>
                </a:cubicBezTo>
                <a:cubicBezTo>
                  <a:pt x="120610" y="103971"/>
                  <a:pt x="120313" y="102632"/>
                  <a:pt x="119985" y="101263"/>
                </a:cubicBezTo>
                <a:cubicBezTo>
                  <a:pt x="120938" y="100995"/>
                  <a:pt x="121860" y="100697"/>
                  <a:pt x="122783" y="100399"/>
                </a:cubicBezTo>
                <a:cubicBezTo>
                  <a:pt x="139958" y="94714"/>
                  <a:pt x="152400" y="85517"/>
                  <a:pt x="152400" y="76081"/>
                </a:cubicBezTo>
                <a:cubicBezTo>
                  <a:pt x="152400" y="67062"/>
                  <a:pt x="140672" y="58311"/>
                  <a:pt x="124480" y="52745"/>
                </a:cubicBezTo>
                <a:close/>
                <a:moveTo>
                  <a:pt x="84207" y="27474"/>
                </a:moveTo>
                <a:cubicBezTo>
                  <a:pt x="95280" y="17830"/>
                  <a:pt x="105608" y="14049"/>
                  <a:pt x="110311" y="16758"/>
                </a:cubicBezTo>
                <a:cubicBezTo>
                  <a:pt x="115342" y="19645"/>
                  <a:pt x="117277" y="31313"/>
                  <a:pt x="114121" y="46643"/>
                </a:cubicBezTo>
                <a:cubicBezTo>
                  <a:pt x="113913" y="47655"/>
                  <a:pt x="113705" y="48637"/>
                  <a:pt x="113437" y="49619"/>
                </a:cubicBezTo>
                <a:cubicBezTo>
                  <a:pt x="106829" y="48131"/>
                  <a:pt x="100132" y="47059"/>
                  <a:pt x="93405" y="46464"/>
                </a:cubicBezTo>
                <a:cubicBezTo>
                  <a:pt x="89535" y="40928"/>
                  <a:pt x="85308" y="35629"/>
                  <a:pt x="80724" y="30659"/>
                </a:cubicBezTo>
                <a:cubicBezTo>
                  <a:pt x="81885" y="29557"/>
                  <a:pt x="83016" y="28515"/>
                  <a:pt x="84207" y="27474"/>
                </a:cubicBezTo>
                <a:close/>
                <a:moveTo>
                  <a:pt x="49768" y="91529"/>
                </a:moveTo>
                <a:cubicBezTo>
                  <a:pt x="51286" y="94119"/>
                  <a:pt x="52834" y="96709"/>
                  <a:pt x="54471" y="99239"/>
                </a:cubicBezTo>
                <a:cubicBezTo>
                  <a:pt x="49828" y="98733"/>
                  <a:pt x="45214" y="97988"/>
                  <a:pt x="40660" y="97006"/>
                </a:cubicBezTo>
                <a:cubicBezTo>
                  <a:pt x="41970" y="92720"/>
                  <a:pt x="43607" y="88285"/>
                  <a:pt x="45512" y="83760"/>
                </a:cubicBezTo>
                <a:cubicBezTo>
                  <a:pt x="46881" y="86380"/>
                  <a:pt x="48280" y="88969"/>
                  <a:pt x="49768" y="91529"/>
                </a:cubicBezTo>
                <a:close/>
                <a:moveTo>
                  <a:pt x="40749" y="55721"/>
                </a:moveTo>
                <a:cubicBezTo>
                  <a:pt x="45035" y="54769"/>
                  <a:pt x="49590" y="53995"/>
                  <a:pt x="54322" y="53400"/>
                </a:cubicBezTo>
                <a:cubicBezTo>
                  <a:pt x="52745" y="55870"/>
                  <a:pt x="51197" y="58400"/>
                  <a:pt x="49738" y="60960"/>
                </a:cubicBezTo>
                <a:cubicBezTo>
                  <a:pt x="48280" y="63490"/>
                  <a:pt x="46851" y="66080"/>
                  <a:pt x="45512" y="68699"/>
                </a:cubicBezTo>
                <a:cubicBezTo>
                  <a:pt x="43636" y="64264"/>
                  <a:pt x="42059" y="59918"/>
                  <a:pt x="40749" y="55721"/>
                </a:cubicBezTo>
                <a:close/>
                <a:moveTo>
                  <a:pt x="48905" y="76230"/>
                </a:moveTo>
                <a:cubicBezTo>
                  <a:pt x="50869" y="72122"/>
                  <a:pt x="53013" y="68104"/>
                  <a:pt x="55275" y="64145"/>
                </a:cubicBezTo>
                <a:cubicBezTo>
                  <a:pt x="57537" y="60186"/>
                  <a:pt x="59978" y="56346"/>
                  <a:pt x="62538" y="52566"/>
                </a:cubicBezTo>
                <a:cubicBezTo>
                  <a:pt x="67002" y="52239"/>
                  <a:pt x="71557" y="52060"/>
                  <a:pt x="76200" y="52060"/>
                </a:cubicBezTo>
                <a:cubicBezTo>
                  <a:pt x="80843" y="52060"/>
                  <a:pt x="85427" y="52239"/>
                  <a:pt x="89862" y="52566"/>
                </a:cubicBezTo>
                <a:cubicBezTo>
                  <a:pt x="92393" y="56317"/>
                  <a:pt x="94804" y="60156"/>
                  <a:pt x="97095" y="64085"/>
                </a:cubicBezTo>
                <a:cubicBezTo>
                  <a:pt x="99387" y="68014"/>
                  <a:pt x="101531" y="72033"/>
                  <a:pt x="103555" y="76111"/>
                </a:cubicBezTo>
                <a:cubicBezTo>
                  <a:pt x="101560" y="80218"/>
                  <a:pt x="99417" y="84266"/>
                  <a:pt x="97125" y="88255"/>
                </a:cubicBezTo>
                <a:cubicBezTo>
                  <a:pt x="94863" y="92214"/>
                  <a:pt x="92452" y="96054"/>
                  <a:pt x="89922" y="99864"/>
                </a:cubicBezTo>
                <a:cubicBezTo>
                  <a:pt x="85487" y="100191"/>
                  <a:pt x="80873" y="100340"/>
                  <a:pt x="76200" y="100340"/>
                </a:cubicBezTo>
                <a:cubicBezTo>
                  <a:pt x="71527" y="100340"/>
                  <a:pt x="67002" y="100191"/>
                  <a:pt x="62627" y="99923"/>
                </a:cubicBezTo>
                <a:cubicBezTo>
                  <a:pt x="60037" y="96143"/>
                  <a:pt x="57596" y="92273"/>
                  <a:pt x="55305" y="88315"/>
                </a:cubicBezTo>
                <a:cubicBezTo>
                  <a:pt x="53013" y="84356"/>
                  <a:pt x="50899" y="80337"/>
                  <a:pt x="48905" y="76230"/>
                </a:cubicBezTo>
                <a:close/>
                <a:moveTo>
                  <a:pt x="102662" y="91470"/>
                </a:moveTo>
                <a:cubicBezTo>
                  <a:pt x="104180" y="88850"/>
                  <a:pt x="105608" y="86201"/>
                  <a:pt x="107007" y="83522"/>
                </a:cubicBezTo>
                <a:cubicBezTo>
                  <a:pt x="108912" y="87838"/>
                  <a:pt x="110579" y="92214"/>
                  <a:pt x="112038" y="96709"/>
                </a:cubicBezTo>
                <a:cubicBezTo>
                  <a:pt x="107424" y="97750"/>
                  <a:pt x="102751" y="98554"/>
                  <a:pt x="98048" y="99090"/>
                </a:cubicBezTo>
                <a:cubicBezTo>
                  <a:pt x="99655" y="96589"/>
                  <a:pt x="101173" y="94030"/>
                  <a:pt x="102662" y="91470"/>
                </a:cubicBezTo>
                <a:close/>
                <a:moveTo>
                  <a:pt x="106948" y="68699"/>
                </a:moveTo>
                <a:cubicBezTo>
                  <a:pt x="105549" y="66080"/>
                  <a:pt x="104120" y="63460"/>
                  <a:pt x="102632" y="60900"/>
                </a:cubicBezTo>
                <a:cubicBezTo>
                  <a:pt x="101173" y="58370"/>
                  <a:pt x="99655" y="55870"/>
                  <a:pt x="98078" y="53400"/>
                </a:cubicBezTo>
                <a:cubicBezTo>
                  <a:pt x="102870" y="53995"/>
                  <a:pt x="107454" y="54799"/>
                  <a:pt x="111740" y="55781"/>
                </a:cubicBezTo>
                <a:cubicBezTo>
                  <a:pt x="110371" y="60186"/>
                  <a:pt x="108764" y="64472"/>
                  <a:pt x="106948" y="68699"/>
                </a:cubicBezTo>
                <a:close/>
                <a:moveTo>
                  <a:pt x="76260" y="35213"/>
                </a:moveTo>
                <a:cubicBezTo>
                  <a:pt x="79385" y="38606"/>
                  <a:pt x="82332" y="42178"/>
                  <a:pt x="85070" y="45869"/>
                </a:cubicBezTo>
                <a:cubicBezTo>
                  <a:pt x="79177" y="45601"/>
                  <a:pt x="73253" y="45601"/>
                  <a:pt x="67360" y="45869"/>
                </a:cubicBezTo>
                <a:cubicBezTo>
                  <a:pt x="70277" y="42029"/>
                  <a:pt x="73283" y="38457"/>
                  <a:pt x="76260" y="35213"/>
                </a:cubicBezTo>
                <a:close/>
                <a:moveTo>
                  <a:pt x="41731" y="16966"/>
                </a:moveTo>
                <a:cubicBezTo>
                  <a:pt x="46732" y="14049"/>
                  <a:pt x="57835" y="18217"/>
                  <a:pt x="69533" y="28575"/>
                </a:cubicBezTo>
                <a:cubicBezTo>
                  <a:pt x="70277" y="29230"/>
                  <a:pt x="71021" y="29944"/>
                  <a:pt x="71795" y="30659"/>
                </a:cubicBezTo>
                <a:cubicBezTo>
                  <a:pt x="67181" y="35629"/>
                  <a:pt x="62925" y="40928"/>
                  <a:pt x="59025" y="46464"/>
                </a:cubicBezTo>
                <a:cubicBezTo>
                  <a:pt x="52298" y="47059"/>
                  <a:pt x="45631" y="48101"/>
                  <a:pt x="39023" y="49560"/>
                </a:cubicBezTo>
                <a:cubicBezTo>
                  <a:pt x="38636" y="48042"/>
                  <a:pt x="38308" y="46494"/>
                  <a:pt x="37981" y="44946"/>
                </a:cubicBezTo>
                <a:cubicBezTo>
                  <a:pt x="35183" y="30540"/>
                  <a:pt x="37028" y="19675"/>
                  <a:pt x="41731" y="16966"/>
                </a:cubicBezTo>
                <a:close/>
                <a:moveTo>
                  <a:pt x="34439" y="95429"/>
                </a:moveTo>
                <a:cubicBezTo>
                  <a:pt x="33189" y="95071"/>
                  <a:pt x="31968" y="94684"/>
                  <a:pt x="30748" y="94268"/>
                </a:cubicBezTo>
                <a:cubicBezTo>
                  <a:pt x="24408" y="92273"/>
                  <a:pt x="17205" y="89118"/>
                  <a:pt x="11996" y="84981"/>
                </a:cubicBezTo>
                <a:cubicBezTo>
                  <a:pt x="8989" y="82897"/>
                  <a:pt x="6965" y="79683"/>
                  <a:pt x="6400" y="76081"/>
                </a:cubicBezTo>
                <a:cubicBezTo>
                  <a:pt x="6400" y="70634"/>
                  <a:pt x="15806" y="63669"/>
                  <a:pt x="29379" y="58936"/>
                </a:cubicBezTo>
                <a:cubicBezTo>
                  <a:pt x="31075" y="58341"/>
                  <a:pt x="32802" y="57805"/>
                  <a:pt x="34528" y="57299"/>
                </a:cubicBezTo>
                <a:cubicBezTo>
                  <a:pt x="36552" y="63758"/>
                  <a:pt x="38993" y="70098"/>
                  <a:pt x="41821" y="76230"/>
                </a:cubicBezTo>
                <a:cubicBezTo>
                  <a:pt x="38963" y="82451"/>
                  <a:pt x="36493" y="88880"/>
                  <a:pt x="34439" y="95429"/>
                </a:cubicBezTo>
                <a:close/>
                <a:moveTo>
                  <a:pt x="69146" y="124599"/>
                </a:moveTo>
                <a:cubicBezTo>
                  <a:pt x="64234" y="129094"/>
                  <a:pt x="58549" y="132665"/>
                  <a:pt x="52358" y="135106"/>
                </a:cubicBezTo>
                <a:cubicBezTo>
                  <a:pt x="49054" y="136684"/>
                  <a:pt x="45244" y="136833"/>
                  <a:pt x="41850" y="135493"/>
                </a:cubicBezTo>
                <a:cubicBezTo>
                  <a:pt x="37118" y="132755"/>
                  <a:pt x="35153" y="122247"/>
                  <a:pt x="37832" y="108109"/>
                </a:cubicBezTo>
                <a:cubicBezTo>
                  <a:pt x="38160" y="106442"/>
                  <a:pt x="38517" y="104775"/>
                  <a:pt x="38933" y="103138"/>
                </a:cubicBezTo>
                <a:cubicBezTo>
                  <a:pt x="45601" y="104567"/>
                  <a:pt x="52328" y="105549"/>
                  <a:pt x="59144" y="106055"/>
                </a:cubicBezTo>
                <a:cubicBezTo>
                  <a:pt x="63073" y="111621"/>
                  <a:pt x="67389" y="116949"/>
                  <a:pt x="72003" y="121950"/>
                </a:cubicBezTo>
                <a:cubicBezTo>
                  <a:pt x="71051" y="122873"/>
                  <a:pt x="70098" y="123765"/>
                  <a:pt x="69146" y="124599"/>
                </a:cubicBezTo>
                <a:close/>
                <a:moveTo>
                  <a:pt x="76438" y="117366"/>
                </a:moveTo>
                <a:cubicBezTo>
                  <a:pt x="73402" y="114092"/>
                  <a:pt x="70366" y="110460"/>
                  <a:pt x="67419" y="106561"/>
                </a:cubicBezTo>
                <a:cubicBezTo>
                  <a:pt x="70277" y="106680"/>
                  <a:pt x="73223" y="106740"/>
                  <a:pt x="76200" y="106740"/>
                </a:cubicBezTo>
                <a:cubicBezTo>
                  <a:pt x="79266" y="106740"/>
                  <a:pt x="82272" y="106680"/>
                  <a:pt x="85249" y="106531"/>
                </a:cubicBezTo>
                <a:cubicBezTo>
                  <a:pt x="82510" y="110311"/>
                  <a:pt x="79564" y="113913"/>
                  <a:pt x="76438" y="117366"/>
                </a:cubicBezTo>
                <a:close/>
                <a:moveTo>
                  <a:pt x="115342" y="126296"/>
                </a:moveTo>
                <a:cubicBezTo>
                  <a:pt x="115074" y="129927"/>
                  <a:pt x="113288" y="133320"/>
                  <a:pt x="110430" y="135612"/>
                </a:cubicBezTo>
                <a:cubicBezTo>
                  <a:pt x="105698" y="138351"/>
                  <a:pt x="95607" y="134779"/>
                  <a:pt x="84713" y="125432"/>
                </a:cubicBezTo>
                <a:cubicBezTo>
                  <a:pt x="83463" y="124361"/>
                  <a:pt x="82213" y="123200"/>
                  <a:pt x="80933" y="122009"/>
                </a:cubicBezTo>
                <a:cubicBezTo>
                  <a:pt x="85487" y="116979"/>
                  <a:pt x="89684" y="111651"/>
                  <a:pt x="93494" y="106055"/>
                </a:cubicBezTo>
                <a:cubicBezTo>
                  <a:pt x="100310" y="105489"/>
                  <a:pt x="107097" y="104448"/>
                  <a:pt x="113794" y="102930"/>
                </a:cubicBezTo>
                <a:cubicBezTo>
                  <a:pt x="114092" y="104150"/>
                  <a:pt x="114360" y="105370"/>
                  <a:pt x="114598" y="106561"/>
                </a:cubicBezTo>
                <a:cubicBezTo>
                  <a:pt x="116056" y="112990"/>
                  <a:pt x="116294" y="119688"/>
                  <a:pt x="115342" y="126296"/>
                </a:cubicBezTo>
                <a:close/>
                <a:moveTo>
                  <a:pt x="120759" y="94298"/>
                </a:moveTo>
                <a:cubicBezTo>
                  <a:pt x="119926" y="94565"/>
                  <a:pt x="119092" y="94833"/>
                  <a:pt x="118229" y="95071"/>
                </a:cubicBezTo>
                <a:cubicBezTo>
                  <a:pt x="116145" y="88583"/>
                  <a:pt x="113586" y="82242"/>
                  <a:pt x="110639" y="76081"/>
                </a:cubicBezTo>
                <a:cubicBezTo>
                  <a:pt x="113496" y="70009"/>
                  <a:pt x="115907" y="63758"/>
                  <a:pt x="117931" y="57358"/>
                </a:cubicBezTo>
                <a:cubicBezTo>
                  <a:pt x="119479" y="57805"/>
                  <a:pt x="120967" y="58281"/>
                  <a:pt x="122396" y="58757"/>
                </a:cubicBezTo>
                <a:cubicBezTo>
                  <a:pt x="136267" y="63520"/>
                  <a:pt x="146000" y="70604"/>
                  <a:pt x="146000" y="76021"/>
                </a:cubicBezTo>
                <a:cubicBezTo>
                  <a:pt x="146000" y="81855"/>
                  <a:pt x="135612" y="89386"/>
                  <a:pt x="120759" y="94298"/>
                </a:cubicBezTo>
                <a:close/>
                <a:moveTo>
                  <a:pt x="76200" y="89833"/>
                </a:moveTo>
                <a:cubicBezTo>
                  <a:pt x="83724" y="89833"/>
                  <a:pt x="89833" y="83724"/>
                  <a:pt x="89833" y="76200"/>
                </a:cubicBezTo>
                <a:cubicBezTo>
                  <a:pt x="89833" y="68676"/>
                  <a:pt x="83724" y="62567"/>
                  <a:pt x="76200" y="62567"/>
                </a:cubicBezTo>
                <a:cubicBezTo>
                  <a:pt x="68676" y="62567"/>
                  <a:pt x="62567" y="68676"/>
                  <a:pt x="62567" y="76200"/>
                </a:cubicBezTo>
                <a:cubicBezTo>
                  <a:pt x="62567" y="83724"/>
                  <a:pt x="68676" y="89833"/>
                  <a:pt x="76200" y="89833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5381625" y="3200400"/>
            <a:ext cx="1133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/ Firebase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5038725" y="3581400"/>
            <a:ext cx="2114550" cy="381000"/>
          </a:xfrm>
          <a:custGeom>
            <a:rect b="b" l="l" r="r" t="t"/>
            <a:pathLst>
              <a:path extrusionOk="0" h="381000" w="2114550">
                <a:moveTo>
                  <a:pt x="76200" y="0"/>
                </a:moveTo>
                <a:lnTo>
                  <a:pt x="2038350" y="0"/>
                </a:lnTo>
                <a:cubicBezTo>
                  <a:pt x="2080406" y="0"/>
                  <a:pt x="2114550" y="34144"/>
                  <a:pt x="2114550" y="76200"/>
                </a:cubicBezTo>
                <a:lnTo>
                  <a:pt x="2114550" y="304800"/>
                </a:lnTo>
                <a:cubicBezTo>
                  <a:pt x="2114550" y="346856"/>
                  <a:pt x="2080406" y="381000"/>
                  <a:pt x="20383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5143500" y="3695700"/>
            <a:ext cx="133350" cy="152400"/>
          </a:xfrm>
          <a:custGeom>
            <a:rect b="b" l="l" r="r" t="t"/>
            <a:pathLst>
              <a:path extrusionOk="0" h="152400" w="133350">
                <a:moveTo>
                  <a:pt x="130909" y="59680"/>
                </a:moveTo>
                <a:cubicBezTo>
                  <a:pt x="128617" y="50483"/>
                  <a:pt x="124271" y="43547"/>
                  <a:pt x="115014" y="43547"/>
                </a:cubicBezTo>
                <a:lnTo>
                  <a:pt x="103078" y="43547"/>
                </a:lnTo>
                <a:lnTo>
                  <a:pt x="103078" y="57656"/>
                </a:lnTo>
                <a:cubicBezTo>
                  <a:pt x="103078" y="68610"/>
                  <a:pt x="93791" y="77837"/>
                  <a:pt x="83195" y="77837"/>
                </a:cubicBezTo>
                <a:lnTo>
                  <a:pt x="51405" y="77837"/>
                </a:lnTo>
                <a:cubicBezTo>
                  <a:pt x="42714" y="77837"/>
                  <a:pt x="35510" y="85279"/>
                  <a:pt x="35510" y="94000"/>
                </a:cubicBezTo>
                <a:lnTo>
                  <a:pt x="35510" y="124301"/>
                </a:lnTo>
                <a:cubicBezTo>
                  <a:pt x="35510" y="132933"/>
                  <a:pt x="43011" y="137993"/>
                  <a:pt x="51405" y="140464"/>
                </a:cubicBezTo>
                <a:cubicBezTo>
                  <a:pt x="61466" y="143411"/>
                  <a:pt x="71140" y="143947"/>
                  <a:pt x="83195" y="140464"/>
                </a:cubicBezTo>
                <a:cubicBezTo>
                  <a:pt x="91202" y="138142"/>
                  <a:pt x="99090" y="133469"/>
                  <a:pt x="99090" y="124301"/>
                </a:cubicBezTo>
                <a:lnTo>
                  <a:pt x="99090" y="112187"/>
                </a:lnTo>
                <a:lnTo>
                  <a:pt x="67330" y="112187"/>
                </a:lnTo>
                <a:lnTo>
                  <a:pt x="67330" y="108139"/>
                </a:lnTo>
                <a:lnTo>
                  <a:pt x="115014" y="108139"/>
                </a:lnTo>
                <a:cubicBezTo>
                  <a:pt x="124271" y="108139"/>
                  <a:pt x="127695" y="101679"/>
                  <a:pt x="130909" y="92006"/>
                </a:cubicBezTo>
                <a:cubicBezTo>
                  <a:pt x="134243" y="82034"/>
                  <a:pt x="134094" y="72450"/>
                  <a:pt x="130909" y="59680"/>
                </a:cubicBezTo>
                <a:close/>
                <a:moveTo>
                  <a:pt x="85189" y="132368"/>
                </a:moveTo>
                <a:cubicBezTo>
                  <a:pt x="82924" y="132527"/>
                  <a:pt x="80759" y="131408"/>
                  <a:pt x="79578" y="129468"/>
                </a:cubicBezTo>
                <a:cubicBezTo>
                  <a:pt x="78397" y="127529"/>
                  <a:pt x="78397" y="125092"/>
                  <a:pt x="79578" y="123152"/>
                </a:cubicBezTo>
                <a:cubicBezTo>
                  <a:pt x="80759" y="121213"/>
                  <a:pt x="82924" y="120094"/>
                  <a:pt x="85189" y="120253"/>
                </a:cubicBezTo>
                <a:cubicBezTo>
                  <a:pt x="87455" y="120094"/>
                  <a:pt x="89619" y="121213"/>
                  <a:pt x="90800" y="123152"/>
                </a:cubicBezTo>
                <a:cubicBezTo>
                  <a:pt x="91982" y="125092"/>
                  <a:pt x="91982" y="127529"/>
                  <a:pt x="90800" y="129468"/>
                </a:cubicBezTo>
                <a:cubicBezTo>
                  <a:pt x="89619" y="131408"/>
                  <a:pt x="87455" y="132527"/>
                  <a:pt x="85189" y="132368"/>
                </a:cubicBezTo>
                <a:close/>
                <a:moveTo>
                  <a:pt x="49947" y="73849"/>
                </a:moveTo>
                <a:lnTo>
                  <a:pt x="81736" y="73849"/>
                </a:lnTo>
                <a:cubicBezTo>
                  <a:pt x="90577" y="73849"/>
                  <a:pt x="97631" y="66556"/>
                  <a:pt x="97631" y="57686"/>
                </a:cubicBezTo>
                <a:lnTo>
                  <a:pt x="97631" y="27355"/>
                </a:lnTo>
                <a:cubicBezTo>
                  <a:pt x="97631" y="18723"/>
                  <a:pt x="90368" y="12263"/>
                  <a:pt x="81736" y="10805"/>
                </a:cubicBezTo>
                <a:cubicBezTo>
                  <a:pt x="71080" y="9049"/>
                  <a:pt x="59501" y="9138"/>
                  <a:pt x="49947" y="10835"/>
                </a:cubicBezTo>
                <a:cubicBezTo>
                  <a:pt x="36493" y="13216"/>
                  <a:pt x="34052" y="18187"/>
                  <a:pt x="34052" y="27384"/>
                </a:cubicBezTo>
                <a:lnTo>
                  <a:pt x="34052" y="39499"/>
                </a:lnTo>
                <a:lnTo>
                  <a:pt x="65871" y="39499"/>
                </a:lnTo>
                <a:lnTo>
                  <a:pt x="65871" y="43547"/>
                </a:lnTo>
                <a:lnTo>
                  <a:pt x="22116" y="43547"/>
                </a:lnTo>
                <a:cubicBezTo>
                  <a:pt x="12859" y="43547"/>
                  <a:pt x="4763" y="49113"/>
                  <a:pt x="2232" y="59680"/>
                </a:cubicBezTo>
                <a:cubicBezTo>
                  <a:pt x="-685" y="71795"/>
                  <a:pt x="-804" y="79355"/>
                  <a:pt x="2232" y="92006"/>
                </a:cubicBezTo>
                <a:cubicBezTo>
                  <a:pt x="4495" y="101411"/>
                  <a:pt x="9882" y="108139"/>
                  <a:pt x="19139" y="108139"/>
                </a:cubicBezTo>
                <a:lnTo>
                  <a:pt x="30063" y="108139"/>
                </a:lnTo>
                <a:lnTo>
                  <a:pt x="30063" y="93613"/>
                </a:lnTo>
                <a:cubicBezTo>
                  <a:pt x="30063" y="83106"/>
                  <a:pt x="39142" y="73849"/>
                  <a:pt x="49947" y="73849"/>
                </a:cubicBezTo>
                <a:close/>
                <a:moveTo>
                  <a:pt x="47982" y="19258"/>
                </a:moveTo>
                <a:cubicBezTo>
                  <a:pt x="51334" y="19258"/>
                  <a:pt x="54054" y="21979"/>
                  <a:pt x="54054" y="25331"/>
                </a:cubicBezTo>
                <a:cubicBezTo>
                  <a:pt x="54054" y="28682"/>
                  <a:pt x="51334" y="31403"/>
                  <a:pt x="47982" y="31403"/>
                </a:cubicBezTo>
                <a:cubicBezTo>
                  <a:pt x="44631" y="31403"/>
                  <a:pt x="41910" y="28682"/>
                  <a:pt x="41910" y="25331"/>
                </a:cubicBezTo>
                <a:cubicBezTo>
                  <a:pt x="41910" y="21979"/>
                  <a:pt x="44631" y="19258"/>
                  <a:pt x="47982" y="19258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5381625" y="3657600"/>
            <a:ext cx="1609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PyTorch (CNN/BiLSTM)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5038725" y="4038600"/>
            <a:ext cx="2114550" cy="381000"/>
          </a:xfrm>
          <a:custGeom>
            <a:rect b="b" l="l" r="r" t="t"/>
            <a:pathLst>
              <a:path extrusionOk="0" h="381000" w="2114550">
                <a:moveTo>
                  <a:pt x="76200" y="0"/>
                </a:moveTo>
                <a:lnTo>
                  <a:pt x="2038350" y="0"/>
                </a:lnTo>
                <a:cubicBezTo>
                  <a:pt x="2080406" y="0"/>
                  <a:pt x="2114550" y="34144"/>
                  <a:pt x="2114550" y="76200"/>
                </a:cubicBezTo>
                <a:lnTo>
                  <a:pt x="2114550" y="304800"/>
                </a:lnTo>
                <a:cubicBezTo>
                  <a:pt x="2114550" y="346856"/>
                  <a:pt x="2080406" y="381000"/>
                  <a:pt x="20383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5124450" y="4152900"/>
            <a:ext cx="171450" cy="152400"/>
          </a:xfrm>
          <a:custGeom>
            <a:rect b="b" l="l" r="r" t="t"/>
            <a:pathLst>
              <a:path extrusionOk="0" h="152400" w="17145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5381625" y="4114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LangChain + Gemini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5038725" y="4495800"/>
            <a:ext cx="2114550" cy="381000"/>
          </a:xfrm>
          <a:custGeom>
            <a:rect b="b" l="l" r="r" t="t"/>
            <a:pathLst>
              <a:path extrusionOk="0" h="381000" w="2114550">
                <a:moveTo>
                  <a:pt x="76200" y="0"/>
                </a:moveTo>
                <a:lnTo>
                  <a:pt x="2038350" y="0"/>
                </a:lnTo>
                <a:cubicBezTo>
                  <a:pt x="2080406" y="0"/>
                  <a:pt x="2114550" y="34144"/>
                  <a:pt x="2114550" y="76200"/>
                </a:cubicBezTo>
                <a:lnTo>
                  <a:pt x="2114550" y="304800"/>
                </a:lnTo>
                <a:cubicBezTo>
                  <a:pt x="2114550" y="346856"/>
                  <a:pt x="2080406" y="381000"/>
                  <a:pt x="20383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5143500" y="4610100"/>
            <a:ext cx="133350" cy="152400"/>
          </a:xfrm>
          <a:custGeom>
            <a:rect b="b" l="l" r="r" t="t"/>
            <a:pathLst>
              <a:path extrusionOk="0" h="152400" w="13335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5381625" y="45720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IU X-Ray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5038725" y="4953000"/>
            <a:ext cx="2114550" cy="609600"/>
          </a:xfrm>
          <a:custGeom>
            <a:rect b="b" l="l" r="r" t="t"/>
            <a:pathLst>
              <a:path extrusionOk="0" h="609600" w="2114550">
                <a:moveTo>
                  <a:pt x="76200" y="0"/>
                </a:moveTo>
                <a:lnTo>
                  <a:pt x="2038350" y="0"/>
                </a:lnTo>
                <a:cubicBezTo>
                  <a:pt x="2080406" y="0"/>
                  <a:pt x="2114550" y="34144"/>
                  <a:pt x="2114550" y="76200"/>
                </a:cubicBezTo>
                <a:lnTo>
                  <a:pt x="2114550" y="533400"/>
                </a:lnTo>
                <a:cubicBezTo>
                  <a:pt x="2114550" y="575456"/>
                  <a:pt x="2080406" y="609600"/>
                  <a:pt x="20383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5119688" y="5181600"/>
            <a:ext cx="152400" cy="152400"/>
          </a:xfrm>
          <a:custGeom>
            <a:rect b="b" l="l" r="r" t="t"/>
            <a:pathLst>
              <a:path extrusionOk="0" h="152400" w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5354762" y="5029200"/>
            <a:ext cx="18002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Consumer GPU / Apple Silicon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7472363" y="1338263"/>
            <a:ext cx="4333875" cy="5133975"/>
          </a:xfrm>
          <a:custGeom>
            <a:rect b="b" l="l" r="r" t="t"/>
            <a:pathLst>
              <a:path extrusionOk="0" h="5133975" w="4333875">
                <a:moveTo>
                  <a:pt x="152379" y="0"/>
                </a:moveTo>
                <a:lnTo>
                  <a:pt x="4181496" y="0"/>
                </a:lnTo>
                <a:cubicBezTo>
                  <a:pt x="4265653" y="0"/>
                  <a:pt x="4333875" y="68222"/>
                  <a:pt x="4333875" y="152379"/>
                </a:cubicBezTo>
                <a:lnTo>
                  <a:pt x="4333875" y="4981596"/>
                </a:lnTo>
                <a:cubicBezTo>
                  <a:pt x="4333875" y="5065753"/>
                  <a:pt x="4265653" y="5133975"/>
                  <a:pt x="4181496" y="5133975"/>
                </a:cubicBezTo>
                <a:lnTo>
                  <a:pt x="152379" y="5133975"/>
                </a:lnTo>
                <a:cubicBezTo>
                  <a:pt x="68222" y="5133975"/>
                  <a:pt x="0" y="5065753"/>
                  <a:pt x="0" y="4981596"/>
                </a:cubicBezTo>
                <a:lnTo>
                  <a:pt x="0" y="152379"/>
                </a:lnTo>
                <a:cubicBezTo>
                  <a:pt x="0" y="68222"/>
                  <a:pt x="68222" y="0"/>
                  <a:pt x="152379" y="0"/>
                </a:cubicBezTo>
                <a:close/>
              </a:path>
            </a:pathLst>
          </a:custGeom>
          <a:gradFill>
            <a:gsLst>
              <a:gs pos="0">
                <a:srgbClr val="E07A5F">
                  <a:alpha val="20000"/>
                </a:srgbClr>
              </a:gs>
              <a:gs pos="100000">
                <a:srgbClr val="E07A5F">
                  <a:alpha val="5098"/>
                </a:srgbClr>
              </a:gs>
            </a:gsLst>
            <a:lin ang="2700000" scaled="0"/>
          </a:gradFill>
          <a:ln cap="flat" cmpd="sng" w="12700">
            <a:solidFill>
              <a:srgbClr val="E07A5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7629525" y="15335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7715250" y="1647825"/>
            <a:ext cx="285750" cy="228600"/>
          </a:xfrm>
          <a:custGeom>
            <a:rect b="b" l="l" r="r" t="t"/>
            <a:pathLst>
              <a:path extrusionOk="0" h="228600" w="28575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8201025" y="1495425"/>
            <a:ext cx="1343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07A5F"/>
                </a:solidFill>
                <a:latin typeface="Liter"/>
                <a:ea typeface="Liter"/>
                <a:cs typeface="Liter"/>
                <a:sym typeface="Liter"/>
              </a:rPr>
              <a:t>Feature 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8201025" y="1800225"/>
            <a:ext cx="1304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Multi-Agent Triage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7629525" y="2143125"/>
            <a:ext cx="4019550" cy="800100"/>
          </a:xfrm>
          <a:custGeom>
            <a:rect b="b" l="l" r="r" t="t"/>
            <a:pathLst>
              <a:path extrusionOk="0" h="800100" w="4019550">
                <a:moveTo>
                  <a:pt x="114302" y="0"/>
                </a:moveTo>
                <a:lnTo>
                  <a:pt x="3905248" y="0"/>
                </a:lnTo>
                <a:cubicBezTo>
                  <a:pt x="3968333" y="0"/>
                  <a:pt x="4019550" y="51217"/>
                  <a:pt x="4019550" y="114302"/>
                </a:cubicBezTo>
                <a:lnTo>
                  <a:pt x="4019550" y="685798"/>
                </a:lnTo>
                <a:cubicBezTo>
                  <a:pt x="4019550" y="748883"/>
                  <a:pt x="3968333" y="800100"/>
                  <a:pt x="39052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"/>
          <p:cNvSpPr/>
          <p:nvPr/>
        </p:nvSpPr>
        <p:spPr>
          <a:xfrm>
            <a:off x="7743825" y="22574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7710487" y="2257425"/>
            <a:ext cx="371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8124825" y="2295525"/>
            <a:ext cx="904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Triage Nurse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8124825" y="2600325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Symptom gathering &amp; assessment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9567863" y="3019425"/>
            <a:ext cx="142875" cy="190500"/>
          </a:xfrm>
          <a:custGeom>
            <a:rect b="b" l="l" r="r" t="t"/>
            <a:pathLst>
              <a:path extrusionOk="0" h="190500" w="142875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7629525" y="3286125"/>
            <a:ext cx="4019550" cy="800100"/>
          </a:xfrm>
          <a:custGeom>
            <a:rect b="b" l="l" r="r" t="t"/>
            <a:pathLst>
              <a:path extrusionOk="0" h="800100" w="4019550">
                <a:moveTo>
                  <a:pt x="114302" y="0"/>
                </a:moveTo>
                <a:lnTo>
                  <a:pt x="3905248" y="0"/>
                </a:lnTo>
                <a:cubicBezTo>
                  <a:pt x="3968333" y="0"/>
                  <a:pt x="4019550" y="51217"/>
                  <a:pt x="4019550" y="114302"/>
                </a:cubicBezTo>
                <a:lnTo>
                  <a:pt x="4019550" y="685798"/>
                </a:lnTo>
                <a:cubicBezTo>
                  <a:pt x="4019550" y="748883"/>
                  <a:pt x="3968333" y="800100"/>
                  <a:pt x="39052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7743825" y="34004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7710487" y="3400425"/>
            <a:ext cx="371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8124825" y="3438525"/>
            <a:ext cx="1190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Specialist Doctor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8124825" y="3743325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Differential diagnosis &amp; recommendations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9567863" y="4162425"/>
            <a:ext cx="142875" cy="190500"/>
          </a:xfrm>
          <a:custGeom>
            <a:rect b="b" l="l" r="r" t="t"/>
            <a:pathLst>
              <a:path extrusionOk="0" h="190500" w="142875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7629525" y="4429125"/>
            <a:ext cx="4019550" cy="800100"/>
          </a:xfrm>
          <a:custGeom>
            <a:rect b="b" l="l" r="r" t="t"/>
            <a:pathLst>
              <a:path extrusionOk="0" h="800100" w="4019550">
                <a:moveTo>
                  <a:pt x="114302" y="0"/>
                </a:moveTo>
                <a:lnTo>
                  <a:pt x="3905248" y="0"/>
                </a:lnTo>
                <a:cubicBezTo>
                  <a:pt x="3968333" y="0"/>
                  <a:pt x="4019550" y="51217"/>
                  <a:pt x="4019550" y="114302"/>
                </a:cubicBezTo>
                <a:lnTo>
                  <a:pt x="4019550" y="685798"/>
                </a:lnTo>
                <a:cubicBezTo>
                  <a:pt x="4019550" y="748883"/>
                  <a:pt x="3968333" y="800100"/>
                  <a:pt x="39052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7743825" y="45434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7710487" y="4543425"/>
            <a:ext cx="371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8124825" y="4581525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Fact-Checker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8124825" y="4886325"/>
            <a:ext cx="3486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Cross-validation against guidelines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9567863" y="5305425"/>
            <a:ext cx="142875" cy="190500"/>
          </a:xfrm>
          <a:custGeom>
            <a:rect b="b" l="l" r="r" t="t"/>
            <a:pathLst>
              <a:path extrusionOk="0" h="190500" w="142875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7639050" y="5581650"/>
            <a:ext cx="4000500" cy="476250"/>
          </a:xfrm>
          <a:custGeom>
            <a:rect b="b" l="l" r="r" t="t"/>
            <a:pathLst>
              <a:path extrusionOk="0" h="476250" w="4000500">
                <a:moveTo>
                  <a:pt x="114300" y="0"/>
                </a:moveTo>
                <a:lnTo>
                  <a:pt x="3886200" y="0"/>
                </a:lnTo>
                <a:cubicBezTo>
                  <a:pt x="3949284" y="0"/>
                  <a:pt x="4000500" y="51216"/>
                  <a:pt x="4000500" y="114300"/>
                </a:cubicBezTo>
                <a:lnTo>
                  <a:pt x="4000500" y="361950"/>
                </a:lnTo>
                <a:cubicBezTo>
                  <a:pt x="4000500" y="425034"/>
                  <a:pt x="3949284" y="476250"/>
                  <a:pt x="3886200" y="476250"/>
                </a:cubicBezTo>
                <a:lnTo>
                  <a:pt x="114300" y="476250"/>
                </a:lnTo>
                <a:cubicBezTo>
                  <a:pt x="51216" y="476250"/>
                  <a:pt x="0" y="425034"/>
                  <a:pt x="0" y="3619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30196"/>
            </a:srgbClr>
          </a:solidFill>
          <a:ln cap="flat" cmpd="sng" w="254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7724775" y="5705475"/>
            <a:ext cx="3829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Verified Clinical Next Steps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"/>
          <p:cNvSpPr/>
          <p:nvPr/>
        </p:nvSpPr>
        <p:spPr>
          <a:xfrm>
            <a:off x="381000" y="419100"/>
            <a:ext cx="76200" cy="381000"/>
          </a:xfrm>
          <a:custGeom>
            <a:rect b="b" l="l" r="r" t="t"/>
            <a:pathLst>
              <a:path extrusionOk="0" h="381000" w="762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A908A"/>
          </a:solidFill>
          <a:ln>
            <a:noFill/>
          </a:ln>
        </p:spPr>
      </p:sp>
      <p:sp>
        <p:nvSpPr>
          <p:cNvPr id="318" name="Google Shape;318;p6"/>
          <p:cNvSpPr/>
          <p:nvPr/>
        </p:nvSpPr>
        <p:spPr>
          <a:xfrm>
            <a:off x="571500" y="381000"/>
            <a:ext cx="2171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Feature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Vision-Language Fusion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385763" y="1338263"/>
            <a:ext cx="6791325" cy="5133975"/>
          </a:xfrm>
          <a:custGeom>
            <a:rect b="b" l="l" r="r" t="t"/>
            <a:pathLst>
              <a:path extrusionOk="0" h="5133975" w="6791325">
                <a:moveTo>
                  <a:pt x="152376" y="0"/>
                </a:moveTo>
                <a:lnTo>
                  <a:pt x="6638949" y="0"/>
                </a:lnTo>
                <a:cubicBezTo>
                  <a:pt x="6723104" y="0"/>
                  <a:pt x="6791325" y="68221"/>
                  <a:pt x="6791325" y="152376"/>
                </a:cubicBezTo>
                <a:lnTo>
                  <a:pt x="6791325" y="4981599"/>
                </a:lnTo>
                <a:cubicBezTo>
                  <a:pt x="6791325" y="5065754"/>
                  <a:pt x="6723104" y="5133975"/>
                  <a:pt x="6638949" y="5133975"/>
                </a:cubicBezTo>
                <a:lnTo>
                  <a:pt x="152376" y="5133975"/>
                </a:lnTo>
                <a:cubicBezTo>
                  <a:pt x="68221" y="5133975"/>
                  <a:pt x="0" y="5065754"/>
                  <a:pt x="0" y="4981599"/>
                </a:cubicBezTo>
                <a:lnTo>
                  <a:pt x="0" y="152376"/>
                </a:lnTo>
                <a:cubicBezTo>
                  <a:pt x="0" y="68278"/>
                  <a:pt x="68278" y="0"/>
                  <a:pt x="152376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4A908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609600" y="1571625"/>
            <a:ext cx="228600" cy="228600"/>
          </a:xfrm>
          <a:custGeom>
            <a:rect b="b" l="l" r="r" t="t"/>
            <a:pathLst>
              <a:path extrusionOk="0" h="228600" w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866775" y="1533525"/>
            <a:ext cx="6229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Architecture 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600075" y="1990725"/>
            <a:ext cx="2971800" cy="723900"/>
          </a:xfrm>
          <a:custGeom>
            <a:rect b="b" l="l" r="r" t="t"/>
            <a:pathLst>
              <a:path extrusionOk="0" h="723900" w="2971800">
                <a:moveTo>
                  <a:pt x="38100" y="0"/>
                </a:moveTo>
                <a:lnTo>
                  <a:pt x="2857503" y="0"/>
                </a:lnTo>
                <a:cubicBezTo>
                  <a:pt x="2920628" y="0"/>
                  <a:pt x="2971800" y="51172"/>
                  <a:pt x="2971800" y="114297"/>
                </a:cubicBezTo>
                <a:lnTo>
                  <a:pt x="2971800" y="609603"/>
                </a:lnTo>
                <a:cubicBezTo>
                  <a:pt x="2971800" y="672728"/>
                  <a:pt x="2920628" y="723900"/>
                  <a:pt x="285750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600075" y="1990725"/>
            <a:ext cx="38100" cy="723900"/>
          </a:xfrm>
          <a:custGeom>
            <a:rect b="b" l="l" r="r" t="t"/>
            <a:pathLst>
              <a:path extrusionOk="0" h="723900" w="381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762000" y="2143125"/>
            <a:ext cx="133350" cy="152400"/>
          </a:xfrm>
          <a:custGeom>
            <a:rect b="b" l="l" r="r" t="t"/>
            <a:pathLst>
              <a:path extrusionOk="0" h="152400" w="13335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1000125" y="2105025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ResNet-18 CNN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962025" y="2371725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 feature extraction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3722638" y="2200275"/>
            <a:ext cx="22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4007718" y="1990725"/>
            <a:ext cx="2971800" cy="723900"/>
          </a:xfrm>
          <a:custGeom>
            <a:rect b="b" l="l" r="r" t="t"/>
            <a:pathLst>
              <a:path extrusionOk="0" h="723900" w="2971800">
                <a:moveTo>
                  <a:pt x="38100" y="0"/>
                </a:moveTo>
                <a:lnTo>
                  <a:pt x="2857503" y="0"/>
                </a:lnTo>
                <a:cubicBezTo>
                  <a:pt x="2920628" y="0"/>
                  <a:pt x="2971800" y="51172"/>
                  <a:pt x="2971800" y="114297"/>
                </a:cubicBezTo>
                <a:lnTo>
                  <a:pt x="2971800" y="609603"/>
                </a:lnTo>
                <a:cubicBezTo>
                  <a:pt x="2971800" y="672728"/>
                  <a:pt x="2920628" y="723900"/>
                  <a:pt x="285750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4007718" y="1990725"/>
            <a:ext cx="38100" cy="723900"/>
          </a:xfrm>
          <a:custGeom>
            <a:rect b="b" l="l" r="r" t="t"/>
            <a:pathLst>
              <a:path extrusionOk="0" h="723900" w="381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160118" y="2143125"/>
            <a:ext cx="152400" cy="152400"/>
          </a:xfrm>
          <a:custGeom>
            <a:rect b="b" l="l" r="r" t="t"/>
            <a:pathLst>
              <a:path extrusionOk="0" h="152400" w="152400">
                <a:moveTo>
                  <a:pt x="84862" y="15091"/>
                </a:moveTo>
                <a:cubicBezTo>
                  <a:pt x="83314" y="11698"/>
                  <a:pt x="79921" y="9525"/>
                  <a:pt x="76200" y="9525"/>
                </a:cubicBezTo>
                <a:cubicBezTo>
                  <a:pt x="72479" y="9525"/>
                  <a:pt x="69086" y="11698"/>
                  <a:pt x="67538" y="15091"/>
                </a:cubicBezTo>
                <a:lnTo>
                  <a:pt x="17711" y="123825"/>
                </a:lnTo>
                <a:lnTo>
                  <a:pt x="14288" y="123825"/>
                </a:lnTo>
                <a:cubicBezTo>
                  <a:pt x="9019" y="123825"/>
                  <a:pt x="4763" y="128081"/>
                  <a:pt x="4763" y="133350"/>
                </a:cubicBezTo>
                <a:cubicBezTo>
                  <a:pt x="4763" y="138619"/>
                  <a:pt x="9019" y="142875"/>
                  <a:pt x="14288" y="142875"/>
                </a:cubicBezTo>
                <a:lnTo>
                  <a:pt x="40481" y="142875"/>
                </a:lnTo>
                <a:cubicBezTo>
                  <a:pt x="45750" y="142875"/>
                  <a:pt x="50006" y="138619"/>
                  <a:pt x="50006" y="133350"/>
                </a:cubicBezTo>
                <a:cubicBezTo>
                  <a:pt x="50006" y="128081"/>
                  <a:pt x="45750" y="123825"/>
                  <a:pt x="40481" y="123825"/>
                </a:cubicBezTo>
                <a:lnTo>
                  <a:pt x="38666" y="123825"/>
                </a:lnTo>
                <a:lnTo>
                  <a:pt x="45214" y="109537"/>
                </a:lnTo>
                <a:lnTo>
                  <a:pt x="107216" y="109537"/>
                </a:lnTo>
                <a:lnTo>
                  <a:pt x="113764" y="123825"/>
                </a:lnTo>
                <a:lnTo>
                  <a:pt x="111949" y="123825"/>
                </a:lnTo>
                <a:cubicBezTo>
                  <a:pt x="106680" y="123825"/>
                  <a:pt x="102424" y="128081"/>
                  <a:pt x="102424" y="133350"/>
                </a:cubicBezTo>
                <a:cubicBezTo>
                  <a:pt x="102424" y="138619"/>
                  <a:pt x="106680" y="142875"/>
                  <a:pt x="111949" y="142875"/>
                </a:cubicBezTo>
                <a:lnTo>
                  <a:pt x="138142" y="142875"/>
                </a:lnTo>
                <a:cubicBezTo>
                  <a:pt x="143411" y="142875"/>
                  <a:pt x="147667" y="138619"/>
                  <a:pt x="147667" y="133350"/>
                </a:cubicBezTo>
                <a:cubicBezTo>
                  <a:pt x="147667" y="128081"/>
                  <a:pt x="143411" y="123825"/>
                  <a:pt x="138142" y="123825"/>
                </a:cubicBezTo>
                <a:lnTo>
                  <a:pt x="134719" y="123825"/>
                </a:lnTo>
                <a:lnTo>
                  <a:pt x="84892" y="15091"/>
                </a:lnTo>
                <a:close/>
                <a:moveTo>
                  <a:pt x="98465" y="90488"/>
                </a:moveTo>
                <a:lnTo>
                  <a:pt x="53935" y="90488"/>
                </a:lnTo>
                <a:lnTo>
                  <a:pt x="76200" y="41910"/>
                </a:lnTo>
                <a:lnTo>
                  <a:pt x="98465" y="90488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4407768" y="2105025"/>
            <a:ext cx="1171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BiLSTM Network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4369668" y="2371725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Text embedding (GloVe/W2V)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3693765" y="2828925"/>
            <a:ext cx="171450" cy="228600"/>
          </a:xfrm>
          <a:custGeom>
            <a:rect b="b" l="l" r="r" t="t"/>
            <a:pathLst>
              <a:path extrusionOk="0" h="228600" w="17145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590550" y="3181350"/>
            <a:ext cx="6381750" cy="819150"/>
          </a:xfrm>
          <a:custGeom>
            <a:rect b="b" l="l" r="r" t="t"/>
            <a:pathLst>
              <a:path extrusionOk="0" h="819150" w="6381750">
                <a:moveTo>
                  <a:pt x="114296" y="0"/>
                </a:moveTo>
                <a:lnTo>
                  <a:pt x="6267454" y="0"/>
                </a:lnTo>
                <a:cubicBezTo>
                  <a:pt x="6330578" y="0"/>
                  <a:pt x="6381750" y="51172"/>
                  <a:pt x="6381750" y="114296"/>
                </a:cubicBezTo>
                <a:lnTo>
                  <a:pt x="6381750" y="704854"/>
                </a:lnTo>
                <a:cubicBezTo>
                  <a:pt x="6381750" y="767978"/>
                  <a:pt x="6330578" y="819150"/>
                  <a:pt x="6267454" y="819150"/>
                </a:cubicBezTo>
                <a:lnTo>
                  <a:pt x="114296" y="819150"/>
                </a:lnTo>
                <a:cubicBezTo>
                  <a:pt x="51172" y="819150"/>
                  <a:pt x="0" y="767978"/>
                  <a:pt x="0" y="7048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>
            <a:gsLst>
              <a:gs pos="0">
                <a:srgbClr val="4A908A">
                  <a:alpha val="30196"/>
                </a:srgbClr>
              </a:gs>
              <a:gs pos="100000">
                <a:srgbClr val="E07A5F">
                  <a:alpha val="30196"/>
                </a:srgbClr>
              </a:gs>
            </a:gsLst>
            <a:lin ang="0" scaled="0"/>
          </a:gradFill>
          <a:ln cap="flat" cmpd="sng" w="25400">
            <a:solidFill>
              <a:srgbClr val="4A9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714375" y="3343275"/>
            <a:ext cx="613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Dense Layer Concatenation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714375" y="3609975"/>
            <a:ext cx="613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 fusion → Classification Head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3693765" y="4124325"/>
            <a:ext cx="171450" cy="228600"/>
          </a:xfrm>
          <a:custGeom>
            <a:rect b="b" l="l" r="r" t="t"/>
            <a:pathLst>
              <a:path extrusionOk="0" h="228600" w="17145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581025" y="4467225"/>
            <a:ext cx="6400800" cy="800100"/>
          </a:xfrm>
          <a:custGeom>
            <a:rect b="b" l="l" r="r" t="t"/>
            <a:pathLst>
              <a:path extrusionOk="0" h="800100" w="6400800">
                <a:moveTo>
                  <a:pt x="114302" y="0"/>
                </a:moveTo>
                <a:lnTo>
                  <a:pt x="6286498" y="0"/>
                </a:lnTo>
                <a:cubicBezTo>
                  <a:pt x="6349583" y="0"/>
                  <a:pt x="6400800" y="51217"/>
                  <a:pt x="6400800" y="114302"/>
                </a:cubicBezTo>
                <a:lnTo>
                  <a:pt x="6400800" y="685798"/>
                </a:lnTo>
                <a:cubicBezTo>
                  <a:pt x="6400800" y="748883"/>
                  <a:pt x="6349583" y="800100"/>
                  <a:pt x="628649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690563" y="4619625"/>
            <a:ext cx="6181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Diagnostic Report Output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95325" y="4886325"/>
            <a:ext cx="617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 Probabilities + Confidence Scores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7335143" y="1338263"/>
            <a:ext cx="4467225" cy="1533525"/>
          </a:xfrm>
          <a:custGeom>
            <a:rect b="b" l="l" r="r" t="t"/>
            <a:pathLst>
              <a:path extrusionOk="0" h="1533525" w="4467225">
                <a:moveTo>
                  <a:pt x="152402" y="0"/>
                </a:moveTo>
                <a:lnTo>
                  <a:pt x="4314823" y="0"/>
                </a:lnTo>
                <a:cubicBezTo>
                  <a:pt x="4398936" y="0"/>
                  <a:pt x="4467225" y="68289"/>
                  <a:pt x="4467225" y="152402"/>
                </a:cubicBezTo>
                <a:lnTo>
                  <a:pt x="4467225" y="1381123"/>
                </a:lnTo>
                <a:cubicBezTo>
                  <a:pt x="4467225" y="1465236"/>
                  <a:pt x="4398936" y="1533525"/>
                  <a:pt x="4314823" y="1533525"/>
                </a:cubicBezTo>
                <a:lnTo>
                  <a:pt x="152402" y="1533525"/>
                </a:lnTo>
                <a:cubicBezTo>
                  <a:pt x="68289" y="1533525"/>
                  <a:pt x="0" y="1465236"/>
                  <a:pt x="0" y="13811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8D99A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7528024" y="1533525"/>
            <a:ext cx="166688" cy="190500"/>
          </a:xfrm>
          <a:custGeom>
            <a:rect b="b" l="l" r="r" t="t"/>
            <a:pathLst>
              <a:path extrusionOk="0" h="190500" w="166688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7730430" y="1495425"/>
            <a:ext cx="4010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7492305" y="1876425"/>
            <a:ext cx="4152900" cy="381000"/>
          </a:xfrm>
          <a:custGeom>
            <a:rect b="b" l="l" r="r" t="t"/>
            <a:pathLst>
              <a:path extrusionOk="0" h="381000" w="4152900">
                <a:moveTo>
                  <a:pt x="76200" y="0"/>
                </a:moveTo>
                <a:lnTo>
                  <a:pt x="4076700" y="0"/>
                </a:lnTo>
                <a:cubicBezTo>
                  <a:pt x="4118756" y="0"/>
                  <a:pt x="4152900" y="34144"/>
                  <a:pt x="4152900" y="76200"/>
                </a:cubicBezTo>
                <a:lnTo>
                  <a:pt x="4152900" y="304800"/>
                </a:lnTo>
                <a:cubicBezTo>
                  <a:pt x="4152900" y="346856"/>
                  <a:pt x="4118756" y="381000"/>
                  <a:pt x="40767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7568505" y="1952625"/>
            <a:ext cx="1247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IU X-Ray (Kaggle)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10049396" y="1952625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Chest X-rays + Reports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7492305" y="2333625"/>
            <a:ext cx="4152900" cy="381000"/>
          </a:xfrm>
          <a:custGeom>
            <a:rect b="b" l="l" r="r" t="t"/>
            <a:pathLst>
              <a:path extrusionOk="0" h="381000" w="4152900">
                <a:moveTo>
                  <a:pt x="76200" y="0"/>
                </a:moveTo>
                <a:lnTo>
                  <a:pt x="4076700" y="0"/>
                </a:lnTo>
                <a:cubicBezTo>
                  <a:pt x="4118756" y="0"/>
                  <a:pt x="4152900" y="34144"/>
                  <a:pt x="4152900" y="76200"/>
                </a:cubicBezTo>
                <a:lnTo>
                  <a:pt x="4152900" y="304800"/>
                </a:lnTo>
                <a:cubicBezTo>
                  <a:pt x="4152900" y="346856"/>
                  <a:pt x="4118756" y="381000"/>
                  <a:pt x="40767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7568505" y="2409825"/>
            <a:ext cx="1171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/ Val / Test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10491043" y="2409825"/>
            <a:ext cx="1162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70% / 15% / 15%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7335143" y="2995613"/>
            <a:ext cx="4467225" cy="1209675"/>
          </a:xfrm>
          <a:custGeom>
            <a:rect b="b" l="l" r="r" t="t"/>
            <a:pathLst>
              <a:path extrusionOk="0" h="1209675" w="4467225">
                <a:moveTo>
                  <a:pt x="152395" y="0"/>
                </a:moveTo>
                <a:lnTo>
                  <a:pt x="4314830" y="0"/>
                </a:lnTo>
                <a:cubicBezTo>
                  <a:pt x="4398939" y="0"/>
                  <a:pt x="4467225" y="68286"/>
                  <a:pt x="4467225" y="152395"/>
                </a:cubicBezTo>
                <a:lnTo>
                  <a:pt x="4467225" y="1057280"/>
                </a:lnTo>
                <a:cubicBezTo>
                  <a:pt x="4467225" y="1141389"/>
                  <a:pt x="4398939" y="1209675"/>
                  <a:pt x="4314830" y="1209675"/>
                </a:cubicBezTo>
                <a:lnTo>
                  <a:pt x="152395" y="1209675"/>
                </a:lnTo>
                <a:cubicBezTo>
                  <a:pt x="68286" y="1209675"/>
                  <a:pt x="0" y="1141389"/>
                  <a:pt x="0" y="105728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8D99A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7492305" y="3190875"/>
            <a:ext cx="238125" cy="190500"/>
          </a:xfrm>
          <a:custGeom>
            <a:rect b="b" l="l" r="r" t="t"/>
            <a:pathLst>
              <a:path extrusionOk="0" h="190500" w="238125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7730430" y="3152775"/>
            <a:ext cx="4010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Preprocessing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"/>
          <p:cNvSpPr/>
          <p:nvPr/>
        </p:nvSpPr>
        <p:spPr>
          <a:xfrm>
            <a:off x="7520880" y="3567113"/>
            <a:ext cx="133350" cy="152400"/>
          </a:xfrm>
          <a:custGeom>
            <a:rect b="b" l="l" r="r" t="t"/>
            <a:pathLst>
              <a:path extrusionOk="0" h="152400" w="13335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7739955" y="3533775"/>
            <a:ext cx="3981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Images: rescaling, normalization, augmentation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7520880" y="3852863"/>
            <a:ext cx="133350" cy="152400"/>
          </a:xfrm>
          <a:custGeom>
            <a:rect b="b" l="l" r="r" t="t"/>
            <a:pathLst>
              <a:path extrusionOk="0" h="152400" w="13335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7739955" y="3819525"/>
            <a:ext cx="3981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Text: tokenization, lowercasing, embeddings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7335143" y="4329113"/>
            <a:ext cx="4467225" cy="1533525"/>
          </a:xfrm>
          <a:custGeom>
            <a:rect b="b" l="l" r="r" t="t"/>
            <a:pathLst>
              <a:path extrusionOk="0" h="1533525" w="4467225">
                <a:moveTo>
                  <a:pt x="152402" y="0"/>
                </a:moveTo>
                <a:lnTo>
                  <a:pt x="4314823" y="0"/>
                </a:lnTo>
                <a:cubicBezTo>
                  <a:pt x="4398936" y="0"/>
                  <a:pt x="4467225" y="68289"/>
                  <a:pt x="4467225" y="152402"/>
                </a:cubicBezTo>
                <a:lnTo>
                  <a:pt x="4467225" y="1381123"/>
                </a:lnTo>
                <a:cubicBezTo>
                  <a:pt x="4467225" y="1465236"/>
                  <a:pt x="4398936" y="1533525"/>
                  <a:pt x="4314823" y="1533525"/>
                </a:cubicBezTo>
                <a:lnTo>
                  <a:pt x="152402" y="1533525"/>
                </a:lnTo>
                <a:cubicBezTo>
                  <a:pt x="68289" y="1533525"/>
                  <a:pt x="0" y="1465236"/>
                  <a:pt x="0" y="13811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8D99A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7516118" y="4524375"/>
            <a:ext cx="190500" cy="190500"/>
          </a:xfrm>
          <a:custGeom>
            <a:rect b="b" l="l" r="r" t="t"/>
            <a:pathLst>
              <a:path extrusionOk="0" h="190500" w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7730430" y="4486275"/>
            <a:ext cx="4010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Evaluation Metrics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7492305" y="4867275"/>
            <a:ext cx="2038350" cy="381000"/>
          </a:xfrm>
          <a:custGeom>
            <a:rect b="b" l="l" r="r" t="t"/>
            <a:pathLst>
              <a:path extrusionOk="0" h="381000" w="2038350">
                <a:moveTo>
                  <a:pt x="76200" y="0"/>
                </a:moveTo>
                <a:lnTo>
                  <a:pt x="1962150" y="0"/>
                </a:lnTo>
                <a:cubicBezTo>
                  <a:pt x="2004206" y="0"/>
                  <a:pt x="2038350" y="34144"/>
                  <a:pt x="2038350" y="76200"/>
                </a:cubicBezTo>
                <a:lnTo>
                  <a:pt x="2038350" y="304800"/>
                </a:lnTo>
                <a:cubicBezTo>
                  <a:pt x="2038350" y="346856"/>
                  <a:pt x="2004206" y="381000"/>
                  <a:pt x="19621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"/>
          <p:cNvSpPr/>
          <p:nvPr/>
        </p:nvSpPr>
        <p:spPr>
          <a:xfrm>
            <a:off x="7530405" y="4943475"/>
            <a:ext cx="1962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Accuracy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9608716" y="4867275"/>
            <a:ext cx="2038350" cy="381000"/>
          </a:xfrm>
          <a:custGeom>
            <a:rect b="b" l="l" r="r" t="t"/>
            <a:pathLst>
              <a:path extrusionOk="0" h="381000" w="2038350">
                <a:moveTo>
                  <a:pt x="76200" y="0"/>
                </a:moveTo>
                <a:lnTo>
                  <a:pt x="1962150" y="0"/>
                </a:lnTo>
                <a:cubicBezTo>
                  <a:pt x="2004206" y="0"/>
                  <a:pt x="2038350" y="34144"/>
                  <a:pt x="2038350" y="76200"/>
                </a:cubicBezTo>
                <a:lnTo>
                  <a:pt x="2038350" y="304800"/>
                </a:lnTo>
                <a:cubicBezTo>
                  <a:pt x="2038350" y="346856"/>
                  <a:pt x="2004206" y="381000"/>
                  <a:pt x="19621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9646816" y="4943475"/>
            <a:ext cx="1962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7492305" y="5324475"/>
            <a:ext cx="2038350" cy="381000"/>
          </a:xfrm>
          <a:custGeom>
            <a:rect b="b" l="l" r="r" t="t"/>
            <a:pathLst>
              <a:path extrusionOk="0" h="381000" w="2038350">
                <a:moveTo>
                  <a:pt x="76200" y="0"/>
                </a:moveTo>
                <a:lnTo>
                  <a:pt x="1962150" y="0"/>
                </a:lnTo>
                <a:cubicBezTo>
                  <a:pt x="2004206" y="0"/>
                  <a:pt x="2038350" y="34144"/>
                  <a:pt x="2038350" y="76200"/>
                </a:cubicBezTo>
                <a:lnTo>
                  <a:pt x="2038350" y="304800"/>
                </a:lnTo>
                <a:cubicBezTo>
                  <a:pt x="2038350" y="346856"/>
                  <a:pt x="2004206" y="381000"/>
                  <a:pt x="19621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"/>
          <p:cNvSpPr/>
          <p:nvPr/>
        </p:nvSpPr>
        <p:spPr>
          <a:xfrm>
            <a:off x="7530405" y="5400675"/>
            <a:ext cx="1962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6"/>
          <p:cNvSpPr/>
          <p:nvPr/>
        </p:nvSpPr>
        <p:spPr>
          <a:xfrm>
            <a:off x="9608716" y="5324475"/>
            <a:ext cx="2038350" cy="381000"/>
          </a:xfrm>
          <a:custGeom>
            <a:rect b="b" l="l" r="r" t="t"/>
            <a:pathLst>
              <a:path extrusionOk="0" h="381000" w="2038350">
                <a:moveTo>
                  <a:pt x="76200" y="0"/>
                </a:moveTo>
                <a:lnTo>
                  <a:pt x="1962150" y="0"/>
                </a:lnTo>
                <a:cubicBezTo>
                  <a:pt x="2004206" y="0"/>
                  <a:pt x="2038350" y="34144"/>
                  <a:pt x="2038350" y="76200"/>
                </a:cubicBezTo>
                <a:lnTo>
                  <a:pt x="2038350" y="304800"/>
                </a:lnTo>
                <a:cubicBezTo>
                  <a:pt x="2038350" y="346856"/>
                  <a:pt x="2004206" y="381000"/>
                  <a:pt x="19621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9646816" y="5400675"/>
            <a:ext cx="1962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F1-Score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"/>
          <p:cNvSpPr/>
          <p:nvPr/>
        </p:nvSpPr>
        <p:spPr>
          <a:xfrm>
            <a:off x="361780" y="397958"/>
            <a:ext cx="72356" cy="361780"/>
          </a:xfrm>
          <a:custGeom>
            <a:rect b="b" l="l" r="r" t="t"/>
            <a:pathLst>
              <a:path extrusionOk="0" h="361780" w="72356">
                <a:moveTo>
                  <a:pt x="0" y="0"/>
                </a:moveTo>
                <a:lnTo>
                  <a:pt x="72356" y="0"/>
                </a:lnTo>
                <a:lnTo>
                  <a:pt x="72356" y="361780"/>
                </a:lnTo>
                <a:lnTo>
                  <a:pt x="0" y="36178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</p:sp>
      <p:sp>
        <p:nvSpPr>
          <p:cNvPr id="375" name="Google Shape;375;p7"/>
          <p:cNvSpPr/>
          <p:nvPr/>
        </p:nvSpPr>
        <p:spPr>
          <a:xfrm>
            <a:off x="542671" y="361780"/>
            <a:ext cx="2044059" cy="434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18"/>
              <a:buFont typeface="Arial"/>
              <a:buNone/>
            </a:pPr>
            <a:r>
              <a:rPr b="1" i="0" lang="en-US" sz="3418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Feature 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542671" y="868273"/>
            <a:ext cx="11377994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4"/>
              <a:buFont typeface="Arial"/>
              <a:buNone/>
            </a:pPr>
            <a:r>
              <a:rPr b="1" i="0" lang="en-US" sz="1424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Multi-Agent Triage Framework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366303" y="1270754"/>
            <a:ext cx="6937139" cy="5580463"/>
          </a:xfrm>
          <a:custGeom>
            <a:rect b="b" l="l" r="r" t="t"/>
            <a:pathLst>
              <a:path extrusionOk="0" h="5580463" w="6937139">
                <a:moveTo>
                  <a:pt x="144701" y="0"/>
                </a:moveTo>
                <a:lnTo>
                  <a:pt x="6792438" y="0"/>
                </a:lnTo>
                <a:cubicBezTo>
                  <a:pt x="6872354" y="0"/>
                  <a:pt x="6937139" y="64785"/>
                  <a:pt x="6937139" y="144701"/>
                </a:cubicBezTo>
                <a:lnTo>
                  <a:pt x="6937139" y="5435762"/>
                </a:lnTo>
                <a:cubicBezTo>
                  <a:pt x="6937139" y="5515678"/>
                  <a:pt x="6872354" y="5580463"/>
                  <a:pt x="6792438" y="5580463"/>
                </a:cubicBezTo>
                <a:lnTo>
                  <a:pt x="144701" y="5580463"/>
                </a:lnTo>
                <a:cubicBezTo>
                  <a:pt x="64785" y="5580463"/>
                  <a:pt x="0" y="5515678"/>
                  <a:pt x="0" y="5435762"/>
                </a:cubicBezTo>
                <a:lnTo>
                  <a:pt x="0" y="144701"/>
                </a:lnTo>
                <a:cubicBezTo>
                  <a:pt x="0" y="64839"/>
                  <a:pt x="64839" y="0"/>
                  <a:pt x="144701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E07A5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578849" y="1492344"/>
            <a:ext cx="217068" cy="217068"/>
          </a:xfrm>
          <a:custGeom>
            <a:rect b="b" l="l" r="r" t="t"/>
            <a:pathLst>
              <a:path extrusionOk="0" h="217068" w="217068">
                <a:moveTo>
                  <a:pt x="0" y="33917"/>
                </a:moveTo>
                <a:cubicBezTo>
                  <a:pt x="0" y="22682"/>
                  <a:pt x="9115" y="13567"/>
                  <a:pt x="20350" y="13567"/>
                </a:cubicBezTo>
                <a:lnTo>
                  <a:pt x="61050" y="13567"/>
                </a:lnTo>
                <a:cubicBezTo>
                  <a:pt x="72285" y="13567"/>
                  <a:pt x="81401" y="22682"/>
                  <a:pt x="81401" y="33917"/>
                </a:cubicBezTo>
                <a:lnTo>
                  <a:pt x="81401" y="40700"/>
                </a:lnTo>
                <a:lnTo>
                  <a:pt x="135668" y="40700"/>
                </a:lnTo>
                <a:lnTo>
                  <a:pt x="135668" y="33917"/>
                </a:lnTo>
                <a:cubicBezTo>
                  <a:pt x="135668" y="22682"/>
                  <a:pt x="144783" y="13567"/>
                  <a:pt x="156018" y="13567"/>
                </a:cubicBezTo>
                <a:lnTo>
                  <a:pt x="196718" y="13567"/>
                </a:lnTo>
                <a:cubicBezTo>
                  <a:pt x="207953" y="13567"/>
                  <a:pt x="217068" y="22682"/>
                  <a:pt x="217068" y="33917"/>
                </a:cubicBezTo>
                <a:lnTo>
                  <a:pt x="217068" y="74617"/>
                </a:lnTo>
                <a:cubicBezTo>
                  <a:pt x="217068" y="85852"/>
                  <a:pt x="207953" y="94967"/>
                  <a:pt x="196718" y="94967"/>
                </a:cubicBezTo>
                <a:lnTo>
                  <a:pt x="156018" y="94967"/>
                </a:lnTo>
                <a:cubicBezTo>
                  <a:pt x="144783" y="94967"/>
                  <a:pt x="135668" y="85852"/>
                  <a:pt x="135668" y="74617"/>
                </a:cubicBezTo>
                <a:lnTo>
                  <a:pt x="135668" y="67834"/>
                </a:lnTo>
                <a:lnTo>
                  <a:pt x="81401" y="67834"/>
                </a:lnTo>
                <a:lnTo>
                  <a:pt x="81401" y="74617"/>
                </a:lnTo>
                <a:cubicBezTo>
                  <a:pt x="81401" y="77712"/>
                  <a:pt x="80680" y="80680"/>
                  <a:pt x="79450" y="83308"/>
                </a:cubicBezTo>
                <a:lnTo>
                  <a:pt x="108534" y="122101"/>
                </a:lnTo>
                <a:lnTo>
                  <a:pt x="142451" y="122101"/>
                </a:lnTo>
                <a:cubicBezTo>
                  <a:pt x="153686" y="122101"/>
                  <a:pt x="162801" y="131216"/>
                  <a:pt x="162801" y="142451"/>
                </a:cubicBezTo>
                <a:lnTo>
                  <a:pt x="162801" y="183151"/>
                </a:lnTo>
                <a:cubicBezTo>
                  <a:pt x="162801" y="194386"/>
                  <a:pt x="153686" y="203501"/>
                  <a:pt x="142451" y="203501"/>
                </a:cubicBezTo>
                <a:lnTo>
                  <a:pt x="101751" y="203501"/>
                </a:lnTo>
                <a:cubicBezTo>
                  <a:pt x="90516" y="203501"/>
                  <a:pt x="81401" y="194386"/>
                  <a:pt x="81401" y="183151"/>
                </a:cubicBezTo>
                <a:lnTo>
                  <a:pt x="81401" y="142451"/>
                </a:lnTo>
                <a:cubicBezTo>
                  <a:pt x="81401" y="139356"/>
                  <a:pt x="82121" y="136388"/>
                  <a:pt x="83351" y="133760"/>
                </a:cubicBezTo>
                <a:lnTo>
                  <a:pt x="54267" y="94967"/>
                </a:lnTo>
                <a:lnTo>
                  <a:pt x="20350" y="94967"/>
                </a:lnTo>
                <a:cubicBezTo>
                  <a:pt x="9115" y="94967"/>
                  <a:pt x="0" y="85852"/>
                  <a:pt x="0" y="74617"/>
                </a:cubicBezTo>
                <a:lnTo>
                  <a:pt x="0" y="33917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823050" y="1456166"/>
            <a:ext cx="6403513" cy="289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9"/>
              <a:buFont typeface="Arial"/>
              <a:buNone/>
            </a:pPr>
            <a:r>
              <a:rPr b="1" i="0" lang="en-US" sz="1709" u="none" cap="none" strike="noStrike">
                <a:solidFill>
                  <a:srgbClr val="E07A5F"/>
                </a:solidFill>
                <a:latin typeface="Liter"/>
                <a:ea typeface="Liter"/>
                <a:cs typeface="Liter"/>
                <a:sym typeface="Liter"/>
              </a:rPr>
              <a:t>Agent Orchestration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569804" y="1890303"/>
            <a:ext cx="6548226" cy="1157697"/>
          </a:xfrm>
          <a:custGeom>
            <a:rect b="b" l="l" r="r" t="t"/>
            <a:pathLst>
              <a:path extrusionOk="0" h="1157697" w="6548226">
                <a:moveTo>
                  <a:pt x="36178" y="0"/>
                </a:moveTo>
                <a:lnTo>
                  <a:pt x="6439691" y="0"/>
                </a:lnTo>
                <a:cubicBezTo>
                  <a:pt x="6499633" y="0"/>
                  <a:pt x="6548226" y="48592"/>
                  <a:pt x="6548226" y="108534"/>
                </a:cubicBezTo>
                <a:lnTo>
                  <a:pt x="6548226" y="1049163"/>
                </a:lnTo>
                <a:cubicBezTo>
                  <a:pt x="6548226" y="1109105"/>
                  <a:pt x="6499633" y="1157697"/>
                  <a:pt x="6439691" y="1157697"/>
                </a:cubicBez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gradFill>
            <a:gsLst>
              <a:gs pos="0">
                <a:srgbClr val="4A908A">
                  <a:alpha val="30196"/>
                </a:srgbClr>
              </a:gs>
              <a:gs pos="100000">
                <a:srgbClr val="4A908A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569804" y="1890303"/>
            <a:ext cx="36178" cy="1157697"/>
          </a:xfrm>
          <a:custGeom>
            <a:rect b="b" l="l" r="r" t="t"/>
            <a:pathLst>
              <a:path extrusionOk="0" h="1157697" w="36178">
                <a:moveTo>
                  <a:pt x="36178" y="0"/>
                </a:moveTo>
                <a:lnTo>
                  <a:pt x="36178" y="0"/>
                </a:lnTo>
                <a:lnTo>
                  <a:pt x="36178" y="1157697"/>
                </a:ln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732605" y="2035015"/>
            <a:ext cx="506493" cy="506493"/>
          </a:xfrm>
          <a:custGeom>
            <a:rect b="b" l="l" r="r" t="t"/>
            <a:pathLst>
              <a:path extrusionOk="0" h="506493" w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890884" y="2179727"/>
            <a:ext cx="189935" cy="217068"/>
          </a:xfrm>
          <a:custGeom>
            <a:rect b="b" l="l" r="r" t="t"/>
            <a:pathLst>
              <a:path extrusionOk="0" h="217068" w="189935">
                <a:moveTo>
                  <a:pt x="40700" y="19036"/>
                </a:moveTo>
                <a:cubicBezTo>
                  <a:pt x="40700" y="13652"/>
                  <a:pt x="43880" y="8776"/>
                  <a:pt x="48840" y="6614"/>
                </a:cubicBezTo>
                <a:lnTo>
                  <a:pt x="89541" y="-11193"/>
                </a:lnTo>
                <a:cubicBezTo>
                  <a:pt x="93017" y="-12719"/>
                  <a:pt x="96960" y="-12719"/>
                  <a:pt x="100436" y="-11193"/>
                </a:cubicBezTo>
                <a:lnTo>
                  <a:pt x="141137" y="6614"/>
                </a:lnTo>
                <a:cubicBezTo>
                  <a:pt x="146055" y="8776"/>
                  <a:pt x="149234" y="13652"/>
                  <a:pt x="149234" y="19036"/>
                </a:cubicBezTo>
                <a:lnTo>
                  <a:pt x="149234" y="61050"/>
                </a:lnTo>
                <a:cubicBezTo>
                  <a:pt x="149234" y="91025"/>
                  <a:pt x="124941" y="115318"/>
                  <a:pt x="94967" y="115318"/>
                </a:cubicBezTo>
                <a:cubicBezTo>
                  <a:pt x="64993" y="115318"/>
                  <a:pt x="40700" y="91025"/>
                  <a:pt x="40700" y="61050"/>
                </a:cubicBezTo>
                <a:lnTo>
                  <a:pt x="40700" y="19036"/>
                </a:lnTo>
                <a:close/>
                <a:moveTo>
                  <a:pt x="128884" y="54267"/>
                </a:moveTo>
                <a:lnTo>
                  <a:pt x="81570" y="54267"/>
                </a:lnTo>
                <a:lnTo>
                  <a:pt x="81401" y="54267"/>
                </a:lnTo>
                <a:lnTo>
                  <a:pt x="61050" y="54267"/>
                </a:lnTo>
                <a:lnTo>
                  <a:pt x="61050" y="61050"/>
                </a:lnTo>
                <a:cubicBezTo>
                  <a:pt x="61050" y="79790"/>
                  <a:pt x="76228" y="94967"/>
                  <a:pt x="94967" y="94967"/>
                </a:cubicBezTo>
                <a:cubicBezTo>
                  <a:pt x="113706" y="94967"/>
                  <a:pt x="128884" y="79790"/>
                  <a:pt x="128884" y="61050"/>
                </a:cubicBezTo>
                <a:lnTo>
                  <a:pt x="128884" y="54267"/>
                </a:lnTo>
                <a:close/>
                <a:moveTo>
                  <a:pt x="88184" y="6783"/>
                </a:moveTo>
                <a:lnTo>
                  <a:pt x="88184" y="13567"/>
                </a:lnTo>
                <a:lnTo>
                  <a:pt x="81401" y="13567"/>
                </a:lnTo>
                <a:cubicBezTo>
                  <a:pt x="79535" y="13567"/>
                  <a:pt x="78009" y="15093"/>
                  <a:pt x="78009" y="16958"/>
                </a:cubicBezTo>
                <a:lnTo>
                  <a:pt x="78009" y="23742"/>
                </a:lnTo>
                <a:cubicBezTo>
                  <a:pt x="78009" y="25607"/>
                  <a:pt x="79535" y="27134"/>
                  <a:pt x="81401" y="27134"/>
                </a:cubicBezTo>
                <a:lnTo>
                  <a:pt x="88184" y="27134"/>
                </a:lnTo>
                <a:lnTo>
                  <a:pt x="88184" y="33917"/>
                </a:lnTo>
                <a:cubicBezTo>
                  <a:pt x="88184" y="35782"/>
                  <a:pt x="89710" y="37309"/>
                  <a:pt x="91576" y="37309"/>
                </a:cubicBezTo>
                <a:lnTo>
                  <a:pt x="98359" y="37309"/>
                </a:lnTo>
                <a:cubicBezTo>
                  <a:pt x="100224" y="37309"/>
                  <a:pt x="101751" y="35782"/>
                  <a:pt x="101751" y="33917"/>
                </a:cubicBezTo>
                <a:lnTo>
                  <a:pt x="101751" y="27134"/>
                </a:lnTo>
                <a:lnTo>
                  <a:pt x="108534" y="27134"/>
                </a:lnTo>
                <a:cubicBezTo>
                  <a:pt x="110400" y="27134"/>
                  <a:pt x="111926" y="25607"/>
                  <a:pt x="111926" y="23742"/>
                </a:cubicBezTo>
                <a:lnTo>
                  <a:pt x="111926" y="16958"/>
                </a:lnTo>
                <a:cubicBezTo>
                  <a:pt x="111926" y="15093"/>
                  <a:pt x="110400" y="13567"/>
                  <a:pt x="108534" y="13567"/>
                </a:cubicBezTo>
                <a:lnTo>
                  <a:pt x="101751" y="13567"/>
                </a:lnTo>
                <a:lnTo>
                  <a:pt x="101751" y="6783"/>
                </a:lnTo>
                <a:cubicBezTo>
                  <a:pt x="101751" y="4918"/>
                  <a:pt x="100224" y="3392"/>
                  <a:pt x="98359" y="3392"/>
                </a:cubicBezTo>
                <a:lnTo>
                  <a:pt x="91576" y="3392"/>
                </a:lnTo>
                <a:cubicBezTo>
                  <a:pt x="89710" y="3392"/>
                  <a:pt x="88184" y="4918"/>
                  <a:pt x="88184" y="6783"/>
                </a:cubicBezTo>
                <a:close/>
                <a:moveTo>
                  <a:pt x="60457" y="136940"/>
                </a:moveTo>
                <a:cubicBezTo>
                  <a:pt x="57701" y="134862"/>
                  <a:pt x="54013" y="134311"/>
                  <a:pt x="50875" y="135752"/>
                </a:cubicBezTo>
                <a:cubicBezTo>
                  <a:pt x="24844" y="147708"/>
                  <a:pt x="6741" y="173994"/>
                  <a:pt x="6741" y="204477"/>
                </a:cubicBezTo>
                <a:cubicBezTo>
                  <a:pt x="6741" y="211430"/>
                  <a:pt x="12380" y="217068"/>
                  <a:pt x="19333" y="217068"/>
                </a:cubicBezTo>
                <a:lnTo>
                  <a:pt x="170517" y="217068"/>
                </a:lnTo>
                <a:cubicBezTo>
                  <a:pt x="177470" y="217068"/>
                  <a:pt x="183109" y="211430"/>
                  <a:pt x="183109" y="204477"/>
                </a:cubicBezTo>
                <a:cubicBezTo>
                  <a:pt x="183109" y="173951"/>
                  <a:pt x="165006" y="147666"/>
                  <a:pt x="138975" y="135752"/>
                </a:cubicBezTo>
                <a:cubicBezTo>
                  <a:pt x="135837" y="134311"/>
                  <a:pt x="132149" y="134862"/>
                  <a:pt x="129393" y="136940"/>
                </a:cubicBezTo>
                <a:lnTo>
                  <a:pt x="100988" y="158222"/>
                </a:lnTo>
                <a:cubicBezTo>
                  <a:pt x="97384" y="160936"/>
                  <a:pt x="92381" y="160936"/>
                  <a:pt x="88778" y="158222"/>
                </a:cubicBezTo>
                <a:lnTo>
                  <a:pt x="60372" y="136940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1383810" y="2035015"/>
            <a:ext cx="1628012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4"/>
              <a:buFont typeface="Arial"/>
              <a:buNone/>
            </a:pPr>
            <a:r>
              <a:rPr b="1" i="0" lang="en-US" sz="1424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Triage Nurse 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6380407" y="2035015"/>
            <a:ext cx="587893" cy="253246"/>
          </a:xfrm>
          <a:custGeom>
            <a:rect b="b" l="l" r="r" t="t"/>
            <a:pathLst>
              <a:path extrusionOk="0" h="253246" w="587893">
                <a:moveTo>
                  <a:pt x="126623" y="0"/>
                </a:moveTo>
                <a:lnTo>
                  <a:pt x="461270" y="0"/>
                </a:lnTo>
                <a:cubicBezTo>
                  <a:pt x="531155" y="0"/>
                  <a:pt x="587893" y="56738"/>
                  <a:pt x="587893" y="126623"/>
                </a:cubicBezTo>
                <a:lnTo>
                  <a:pt x="587893" y="126623"/>
                </a:lnTo>
                <a:cubicBezTo>
                  <a:pt x="587893" y="196508"/>
                  <a:pt x="531155" y="253246"/>
                  <a:pt x="461270" y="253246"/>
                </a:cubicBezTo>
                <a:lnTo>
                  <a:pt x="126623" y="253246"/>
                </a:lnTo>
                <a:cubicBezTo>
                  <a:pt x="56738" y="253246"/>
                  <a:pt x="0" y="196508"/>
                  <a:pt x="0" y="126623"/>
                </a:cubicBezTo>
                <a:lnTo>
                  <a:pt x="0" y="126623"/>
                </a:lnTo>
                <a:cubicBezTo>
                  <a:pt x="0" y="56738"/>
                  <a:pt x="56738" y="0"/>
                  <a:pt x="126623" y="0"/>
                </a:cubicBezTo>
                <a:close/>
              </a:path>
            </a:pathLst>
          </a:custGeom>
          <a:solidFill>
            <a:srgbClr val="4A908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6380407" y="2035015"/>
            <a:ext cx="651205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75" lIns="108525" spcFirstLastPara="1" rIns="108525" wrap="square" tIns="361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1" i="0" lang="en-US" sz="997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Stage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1383810" y="2360617"/>
            <a:ext cx="5661864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1" i="0" lang="en-US" sz="113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Role:</a:t>
            </a:r>
            <a:r>
              <a:rPr b="0" i="0" lang="en-US" sz="113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Initial patient interaction &amp; symptom gathering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1383810" y="2650042"/>
            <a:ext cx="1338588" cy="253246"/>
          </a:xfrm>
          <a:custGeom>
            <a:rect b="b" l="l" r="r" t="t"/>
            <a:pathLst>
              <a:path extrusionOk="0" h="253246" w="1338588">
                <a:moveTo>
                  <a:pt x="36179" y="0"/>
                </a:moveTo>
                <a:lnTo>
                  <a:pt x="1302409" y="0"/>
                </a:lnTo>
                <a:cubicBezTo>
                  <a:pt x="1322390" y="0"/>
                  <a:pt x="1338588" y="16198"/>
                  <a:pt x="1338588" y="36179"/>
                </a:cubicBezTo>
                <a:lnTo>
                  <a:pt x="1338588" y="217068"/>
                </a:lnTo>
                <a:cubicBezTo>
                  <a:pt x="1338588" y="237049"/>
                  <a:pt x="1322390" y="253246"/>
                  <a:pt x="1302409" y="253246"/>
                </a:cubicBezTo>
                <a:lnTo>
                  <a:pt x="36179" y="253246"/>
                </a:lnTo>
                <a:cubicBezTo>
                  <a:pt x="16198" y="253246"/>
                  <a:pt x="0" y="237049"/>
                  <a:pt x="0" y="217068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1383810" y="2650042"/>
            <a:ext cx="1401899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75" lIns="108525" spcFirstLastPara="1" rIns="108525" wrap="square" tIns="361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0" i="0" lang="en-US" sz="99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Symptom Collection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2790443" y="2650042"/>
            <a:ext cx="1193875" cy="253246"/>
          </a:xfrm>
          <a:custGeom>
            <a:rect b="b" l="l" r="r" t="t"/>
            <a:pathLst>
              <a:path extrusionOk="0" h="253246" w="1193875">
                <a:moveTo>
                  <a:pt x="36179" y="0"/>
                </a:moveTo>
                <a:lnTo>
                  <a:pt x="1157697" y="0"/>
                </a:lnTo>
                <a:cubicBezTo>
                  <a:pt x="1177678" y="0"/>
                  <a:pt x="1193875" y="16198"/>
                  <a:pt x="1193875" y="36179"/>
                </a:cubicBezTo>
                <a:lnTo>
                  <a:pt x="1193875" y="217068"/>
                </a:lnTo>
                <a:cubicBezTo>
                  <a:pt x="1193875" y="237049"/>
                  <a:pt x="1177678" y="253246"/>
                  <a:pt x="1157697" y="253246"/>
                </a:cubicBezTo>
                <a:lnTo>
                  <a:pt x="36179" y="253246"/>
                </a:lnTo>
                <a:cubicBezTo>
                  <a:pt x="16198" y="253246"/>
                  <a:pt x="0" y="237049"/>
                  <a:pt x="0" y="217068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2790443" y="2650042"/>
            <a:ext cx="1257187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75" lIns="108525" spcFirstLastPara="1" rIns="108525" wrap="square" tIns="361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0" i="0" lang="en-US" sz="99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 Assessment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3765837" y="3156534"/>
            <a:ext cx="135668" cy="180890"/>
          </a:xfrm>
          <a:custGeom>
            <a:rect b="b" l="l" r="r" t="t"/>
            <a:pathLst>
              <a:path extrusionOk="0" h="180890" w="135668">
                <a:moveTo>
                  <a:pt x="59849" y="177569"/>
                </a:moveTo>
                <a:cubicBezTo>
                  <a:pt x="64265" y="181985"/>
                  <a:pt x="71437" y="181985"/>
                  <a:pt x="75854" y="177569"/>
                </a:cubicBezTo>
                <a:lnTo>
                  <a:pt x="132382" y="121041"/>
                </a:lnTo>
                <a:cubicBezTo>
                  <a:pt x="136798" y="116625"/>
                  <a:pt x="136798" y="109453"/>
                  <a:pt x="132382" y="105036"/>
                </a:cubicBezTo>
                <a:cubicBezTo>
                  <a:pt x="127966" y="100620"/>
                  <a:pt x="120794" y="100620"/>
                  <a:pt x="116377" y="105036"/>
                </a:cubicBezTo>
                <a:lnTo>
                  <a:pt x="79139" y="142274"/>
                </a:lnTo>
                <a:lnTo>
                  <a:pt x="79139" y="11306"/>
                </a:lnTo>
                <a:cubicBezTo>
                  <a:pt x="79139" y="5052"/>
                  <a:pt x="74087" y="0"/>
                  <a:pt x="67834" y="0"/>
                </a:cubicBezTo>
                <a:cubicBezTo>
                  <a:pt x="61580" y="0"/>
                  <a:pt x="56528" y="5052"/>
                  <a:pt x="56528" y="11306"/>
                </a:cubicBezTo>
                <a:lnTo>
                  <a:pt x="56528" y="142274"/>
                </a:lnTo>
                <a:lnTo>
                  <a:pt x="19290" y="105036"/>
                </a:lnTo>
                <a:cubicBezTo>
                  <a:pt x="14874" y="100620"/>
                  <a:pt x="7702" y="100620"/>
                  <a:pt x="3286" y="105036"/>
                </a:cubicBezTo>
                <a:cubicBezTo>
                  <a:pt x="-1131" y="109453"/>
                  <a:pt x="-1131" y="116625"/>
                  <a:pt x="3286" y="121041"/>
                </a:cubicBezTo>
                <a:lnTo>
                  <a:pt x="59814" y="177569"/>
                </a:ln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569804" y="3445958"/>
            <a:ext cx="6548226" cy="1157697"/>
          </a:xfrm>
          <a:custGeom>
            <a:rect b="b" l="l" r="r" t="t"/>
            <a:pathLst>
              <a:path extrusionOk="0" h="1157697" w="6548226">
                <a:moveTo>
                  <a:pt x="36178" y="0"/>
                </a:moveTo>
                <a:lnTo>
                  <a:pt x="6439691" y="0"/>
                </a:lnTo>
                <a:cubicBezTo>
                  <a:pt x="6499633" y="0"/>
                  <a:pt x="6548226" y="48592"/>
                  <a:pt x="6548226" y="108534"/>
                </a:cubicBezTo>
                <a:lnTo>
                  <a:pt x="6548226" y="1049163"/>
                </a:lnTo>
                <a:cubicBezTo>
                  <a:pt x="6548226" y="1109105"/>
                  <a:pt x="6499633" y="1157697"/>
                  <a:pt x="6439691" y="1157697"/>
                </a:cubicBez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gradFill>
            <a:gsLst>
              <a:gs pos="0">
                <a:srgbClr val="E07A5F">
                  <a:alpha val="30196"/>
                </a:srgbClr>
              </a:gs>
              <a:gs pos="100000">
                <a:srgbClr val="E07A5F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569804" y="3445958"/>
            <a:ext cx="36178" cy="1157697"/>
          </a:xfrm>
          <a:custGeom>
            <a:rect b="b" l="l" r="r" t="t"/>
            <a:pathLst>
              <a:path extrusionOk="0" h="1157697" w="36178">
                <a:moveTo>
                  <a:pt x="36178" y="0"/>
                </a:moveTo>
                <a:lnTo>
                  <a:pt x="36178" y="0"/>
                </a:lnTo>
                <a:lnTo>
                  <a:pt x="36178" y="1157697"/>
                </a:ln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732605" y="3590671"/>
            <a:ext cx="506493" cy="506493"/>
          </a:xfrm>
          <a:custGeom>
            <a:rect b="b" l="l" r="r" t="t"/>
            <a:pathLst>
              <a:path extrusionOk="0" h="506493" w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890884" y="3735383"/>
            <a:ext cx="189935" cy="217068"/>
          </a:xfrm>
          <a:custGeom>
            <a:rect b="b" l="l" r="r" t="t"/>
            <a:pathLst>
              <a:path extrusionOk="0" h="217068" w="189935">
                <a:moveTo>
                  <a:pt x="94967" y="3392"/>
                </a:moveTo>
                <a:cubicBezTo>
                  <a:pt x="66888" y="3392"/>
                  <a:pt x="44092" y="26188"/>
                  <a:pt x="44092" y="54267"/>
                </a:cubicBezTo>
                <a:cubicBezTo>
                  <a:pt x="44092" y="82346"/>
                  <a:pt x="66888" y="105142"/>
                  <a:pt x="94967" y="105142"/>
                </a:cubicBezTo>
                <a:cubicBezTo>
                  <a:pt x="123046" y="105142"/>
                  <a:pt x="145843" y="82346"/>
                  <a:pt x="145843" y="54267"/>
                </a:cubicBezTo>
                <a:cubicBezTo>
                  <a:pt x="145843" y="26188"/>
                  <a:pt x="123046" y="3392"/>
                  <a:pt x="94967" y="3392"/>
                </a:cubicBezTo>
                <a:close/>
                <a:moveTo>
                  <a:pt x="120405" y="136007"/>
                </a:moveTo>
                <a:cubicBezTo>
                  <a:pt x="118116" y="135795"/>
                  <a:pt x="115741" y="135668"/>
                  <a:pt x="113367" y="135668"/>
                </a:cubicBezTo>
                <a:lnTo>
                  <a:pt x="76525" y="135668"/>
                </a:lnTo>
                <a:cubicBezTo>
                  <a:pt x="74151" y="135668"/>
                  <a:pt x="71819" y="135795"/>
                  <a:pt x="69487" y="136007"/>
                </a:cubicBezTo>
                <a:lnTo>
                  <a:pt x="69487" y="164624"/>
                </a:lnTo>
                <a:cubicBezTo>
                  <a:pt x="76483" y="167846"/>
                  <a:pt x="81358" y="174926"/>
                  <a:pt x="81358" y="183109"/>
                </a:cubicBezTo>
                <a:cubicBezTo>
                  <a:pt x="81358" y="194344"/>
                  <a:pt x="72243" y="203459"/>
                  <a:pt x="61008" y="203459"/>
                </a:cubicBezTo>
                <a:cubicBezTo>
                  <a:pt x="49773" y="203459"/>
                  <a:pt x="40658" y="194344"/>
                  <a:pt x="40658" y="183109"/>
                </a:cubicBezTo>
                <a:cubicBezTo>
                  <a:pt x="40658" y="174884"/>
                  <a:pt x="45533" y="167804"/>
                  <a:pt x="52529" y="164624"/>
                </a:cubicBezTo>
                <a:lnTo>
                  <a:pt x="52529" y="139865"/>
                </a:lnTo>
                <a:cubicBezTo>
                  <a:pt x="25862" y="149658"/>
                  <a:pt x="6783" y="175350"/>
                  <a:pt x="6783" y="205452"/>
                </a:cubicBezTo>
                <a:cubicBezTo>
                  <a:pt x="6783" y="211854"/>
                  <a:pt x="11998" y="217068"/>
                  <a:pt x="18400" y="217068"/>
                </a:cubicBezTo>
                <a:lnTo>
                  <a:pt x="171492" y="217068"/>
                </a:lnTo>
                <a:cubicBezTo>
                  <a:pt x="177894" y="217068"/>
                  <a:pt x="183109" y="211854"/>
                  <a:pt x="183109" y="205452"/>
                </a:cubicBezTo>
                <a:cubicBezTo>
                  <a:pt x="183109" y="175350"/>
                  <a:pt x="164031" y="149701"/>
                  <a:pt x="137321" y="139907"/>
                </a:cubicBezTo>
                <a:lnTo>
                  <a:pt x="137321" y="155763"/>
                </a:lnTo>
                <a:cubicBezTo>
                  <a:pt x="147199" y="159240"/>
                  <a:pt x="154280" y="168694"/>
                  <a:pt x="154280" y="179760"/>
                </a:cubicBezTo>
                <a:lnTo>
                  <a:pt x="154280" y="193326"/>
                </a:lnTo>
                <a:cubicBezTo>
                  <a:pt x="154280" y="197990"/>
                  <a:pt x="150464" y="201806"/>
                  <a:pt x="145800" y="201806"/>
                </a:cubicBezTo>
                <a:cubicBezTo>
                  <a:pt x="141137" y="201806"/>
                  <a:pt x="137321" y="197990"/>
                  <a:pt x="137321" y="193326"/>
                </a:cubicBezTo>
                <a:lnTo>
                  <a:pt x="137321" y="179760"/>
                </a:lnTo>
                <a:cubicBezTo>
                  <a:pt x="137321" y="175096"/>
                  <a:pt x="133505" y="171280"/>
                  <a:pt x="128842" y="171280"/>
                </a:cubicBezTo>
                <a:cubicBezTo>
                  <a:pt x="124178" y="171280"/>
                  <a:pt x="120363" y="175096"/>
                  <a:pt x="120363" y="179760"/>
                </a:cubicBezTo>
                <a:lnTo>
                  <a:pt x="120363" y="193326"/>
                </a:lnTo>
                <a:cubicBezTo>
                  <a:pt x="120363" y="197990"/>
                  <a:pt x="116547" y="201806"/>
                  <a:pt x="111883" y="201806"/>
                </a:cubicBezTo>
                <a:cubicBezTo>
                  <a:pt x="107220" y="201806"/>
                  <a:pt x="103404" y="197990"/>
                  <a:pt x="103404" y="193326"/>
                </a:cubicBezTo>
                <a:lnTo>
                  <a:pt x="103404" y="179760"/>
                </a:lnTo>
                <a:cubicBezTo>
                  <a:pt x="103404" y="168694"/>
                  <a:pt x="110484" y="159282"/>
                  <a:pt x="120363" y="155763"/>
                </a:cubicBezTo>
                <a:lnTo>
                  <a:pt x="120363" y="136007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1383810" y="3590671"/>
            <a:ext cx="1971703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4"/>
              <a:buFont typeface="Arial"/>
              <a:buNone/>
            </a:pPr>
            <a:r>
              <a:rPr b="1" i="0" lang="en-US" sz="1424" u="none" cap="none" strike="noStrike">
                <a:solidFill>
                  <a:srgbClr val="E07A5F"/>
                </a:solidFill>
                <a:latin typeface="Liter"/>
                <a:ea typeface="Liter"/>
                <a:cs typeface="Liter"/>
                <a:sym typeface="Liter"/>
              </a:rPr>
              <a:t>Specialist Doctor 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6356100" y="3590671"/>
            <a:ext cx="615027" cy="253246"/>
          </a:xfrm>
          <a:custGeom>
            <a:rect b="b" l="l" r="r" t="t"/>
            <a:pathLst>
              <a:path extrusionOk="0" h="253246" w="615027">
                <a:moveTo>
                  <a:pt x="126623" y="0"/>
                </a:moveTo>
                <a:lnTo>
                  <a:pt x="488404" y="0"/>
                </a:lnTo>
                <a:cubicBezTo>
                  <a:pt x="558289" y="0"/>
                  <a:pt x="615027" y="56738"/>
                  <a:pt x="615027" y="126623"/>
                </a:cubicBezTo>
                <a:lnTo>
                  <a:pt x="615027" y="126623"/>
                </a:lnTo>
                <a:cubicBezTo>
                  <a:pt x="615027" y="196508"/>
                  <a:pt x="558289" y="253246"/>
                  <a:pt x="488404" y="253246"/>
                </a:cubicBezTo>
                <a:lnTo>
                  <a:pt x="126623" y="253246"/>
                </a:lnTo>
                <a:cubicBezTo>
                  <a:pt x="56738" y="253246"/>
                  <a:pt x="0" y="196508"/>
                  <a:pt x="0" y="126623"/>
                </a:cubicBezTo>
                <a:lnTo>
                  <a:pt x="0" y="126623"/>
                </a:lnTo>
                <a:cubicBezTo>
                  <a:pt x="0" y="56738"/>
                  <a:pt x="56738" y="0"/>
                  <a:pt x="126623" y="0"/>
                </a:cubicBezTo>
                <a:close/>
              </a:path>
            </a:pathLst>
          </a:custGeom>
          <a:solidFill>
            <a:srgbClr val="E07A5F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6356100" y="3590671"/>
            <a:ext cx="678338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75" lIns="108525" spcFirstLastPara="1" rIns="108525" wrap="square" tIns="361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1" i="0" lang="en-US" sz="997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Stage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1383810" y="3916273"/>
            <a:ext cx="5661864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1" i="0" lang="en-US" sz="113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Role:</a:t>
            </a:r>
            <a:r>
              <a:rPr b="0" i="0" lang="en-US" sz="113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Differential diagnosis &amp; treatment recommendations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1383810" y="4205697"/>
            <a:ext cx="741650" cy="253246"/>
          </a:xfrm>
          <a:custGeom>
            <a:rect b="b" l="l" r="r" t="t"/>
            <a:pathLst>
              <a:path extrusionOk="0" h="253246" w="741650">
                <a:moveTo>
                  <a:pt x="36179" y="0"/>
                </a:moveTo>
                <a:lnTo>
                  <a:pt x="705471" y="0"/>
                </a:lnTo>
                <a:cubicBezTo>
                  <a:pt x="725452" y="0"/>
                  <a:pt x="741650" y="16198"/>
                  <a:pt x="741650" y="36179"/>
                </a:cubicBezTo>
                <a:lnTo>
                  <a:pt x="741650" y="217068"/>
                </a:lnTo>
                <a:cubicBezTo>
                  <a:pt x="741650" y="237049"/>
                  <a:pt x="725452" y="253246"/>
                  <a:pt x="705471" y="253246"/>
                </a:cubicBezTo>
                <a:lnTo>
                  <a:pt x="36179" y="253246"/>
                </a:lnTo>
                <a:cubicBezTo>
                  <a:pt x="16198" y="253246"/>
                  <a:pt x="0" y="237049"/>
                  <a:pt x="0" y="217068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1383810" y="4205697"/>
            <a:ext cx="804961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75" lIns="108525" spcFirstLastPara="1" rIns="108525" wrap="square" tIns="361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0" i="0" lang="en-US" sz="99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Diagnosis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2198735" y="4205697"/>
            <a:ext cx="1040119" cy="253246"/>
          </a:xfrm>
          <a:custGeom>
            <a:rect b="b" l="l" r="r" t="t"/>
            <a:pathLst>
              <a:path extrusionOk="0" h="253246" w="1040119">
                <a:moveTo>
                  <a:pt x="36179" y="0"/>
                </a:moveTo>
                <a:lnTo>
                  <a:pt x="1003940" y="0"/>
                </a:lnTo>
                <a:cubicBezTo>
                  <a:pt x="1023921" y="0"/>
                  <a:pt x="1040119" y="16198"/>
                  <a:pt x="1040119" y="36179"/>
                </a:cubicBezTo>
                <a:lnTo>
                  <a:pt x="1040119" y="217068"/>
                </a:lnTo>
                <a:cubicBezTo>
                  <a:pt x="1040119" y="237049"/>
                  <a:pt x="1023921" y="253246"/>
                  <a:pt x="1003940" y="253246"/>
                </a:cubicBezTo>
                <a:lnTo>
                  <a:pt x="36179" y="253246"/>
                </a:lnTo>
                <a:cubicBezTo>
                  <a:pt x="16198" y="253246"/>
                  <a:pt x="0" y="237049"/>
                  <a:pt x="0" y="217068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2198735" y="4205697"/>
            <a:ext cx="1103430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75" lIns="108525" spcFirstLastPara="1" rIns="108525" wrap="square" tIns="361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0" i="0" lang="en-US" sz="99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Treatment Plan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7"/>
          <p:cNvSpPr/>
          <p:nvPr/>
        </p:nvSpPr>
        <p:spPr>
          <a:xfrm>
            <a:off x="3765837" y="4712190"/>
            <a:ext cx="135668" cy="180890"/>
          </a:xfrm>
          <a:custGeom>
            <a:rect b="b" l="l" r="r" t="t"/>
            <a:pathLst>
              <a:path extrusionOk="0" h="180890" w="135668">
                <a:moveTo>
                  <a:pt x="59849" y="177569"/>
                </a:moveTo>
                <a:cubicBezTo>
                  <a:pt x="64265" y="181985"/>
                  <a:pt x="71437" y="181985"/>
                  <a:pt x="75854" y="177569"/>
                </a:cubicBezTo>
                <a:lnTo>
                  <a:pt x="132382" y="121041"/>
                </a:lnTo>
                <a:cubicBezTo>
                  <a:pt x="136798" y="116625"/>
                  <a:pt x="136798" y="109453"/>
                  <a:pt x="132382" y="105036"/>
                </a:cubicBezTo>
                <a:cubicBezTo>
                  <a:pt x="127966" y="100620"/>
                  <a:pt x="120794" y="100620"/>
                  <a:pt x="116377" y="105036"/>
                </a:cubicBezTo>
                <a:lnTo>
                  <a:pt x="79139" y="142274"/>
                </a:lnTo>
                <a:lnTo>
                  <a:pt x="79139" y="11306"/>
                </a:lnTo>
                <a:cubicBezTo>
                  <a:pt x="79139" y="5052"/>
                  <a:pt x="74087" y="0"/>
                  <a:pt x="67834" y="0"/>
                </a:cubicBezTo>
                <a:cubicBezTo>
                  <a:pt x="61580" y="0"/>
                  <a:pt x="56528" y="5052"/>
                  <a:pt x="56528" y="11306"/>
                </a:cubicBezTo>
                <a:lnTo>
                  <a:pt x="56528" y="142274"/>
                </a:lnTo>
                <a:lnTo>
                  <a:pt x="19290" y="105036"/>
                </a:lnTo>
                <a:cubicBezTo>
                  <a:pt x="14874" y="100620"/>
                  <a:pt x="7702" y="100620"/>
                  <a:pt x="3286" y="105036"/>
                </a:cubicBezTo>
                <a:cubicBezTo>
                  <a:pt x="-1131" y="109453"/>
                  <a:pt x="-1131" y="116625"/>
                  <a:pt x="3286" y="121041"/>
                </a:cubicBezTo>
                <a:lnTo>
                  <a:pt x="59814" y="177569"/>
                </a:ln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569804" y="5001614"/>
            <a:ext cx="6548226" cy="1157697"/>
          </a:xfrm>
          <a:custGeom>
            <a:rect b="b" l="l" r="r" t="t"/>
            <a:pathLst>
              <a:path extrusionOk="0" h="1157697" w="6548226">
                <a:moveTo>
                  <a:pt x="36178" y="0"/>
                </a:moveTo>
                <a:lnTo>
                  <a:pt x="6439691" y="0"/>
                </a:lnTo>
                <a:cubicBezTo>
                  <a:pt x="6499633" y="0"/>
                  <a:pt x="6548226" y="48592"/>
                  <a:pt x="6548226" y="108534"/>
                </a:cubicBezTo>
                <a:lnTo>
                  <a:pt x="6548226" y="1049163"/>
                </a:lnTo>
                <a:cubicBezTo>
                  <a:pt x="6548226" y="1109105"/>
                  <a:pt x="6499633" y="1157697"/>
                  <a:pt x="6439691" y="1157697"/>
                </a:cubicBez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gradFill>
            <a:gsLst>
              <a:gs pos="0">
                <a:srgbClr val="8D99AE">
                  <a:alpha val="30196"/>
                </a:srgbClr>
              </a:gs>
              <a:gs pos="100000">
                <a:srgbClr val="8D99AE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569804" y="5001614"/>
            <a:ext cx="36178" cy="1157697"/>
          </a:xfrm>
          <a:custGeom>
            <a:rect b="b" l="l" r="r" t="t"/>
            <a:pathLst>
              <a:path extrusionOk="0" h="1157697" w="36178">
                <a:moveTo>
                  <a:pt x="36178" y="0"/>
                </a:moveTo>
                <a:lnTo>
                  <a:pt x="36178" y="0"/>
                </a:lnTo>
                <a:lnTo>
                  <a:pt x="36178" y="1157697"/>
                </a:lnTo>
                <a:lnTo>
                  <a:pt x="36178" y="1157697"/>
                </a:lnTo>
                <a:cubicBezTo>
                  <a:pt x="16197" y="1157697"/>
                  <a:pt x="0" y="1141500"/>
                  <a:pt x="0" y="1121519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"/>
          <p:cNvSpPr/>
          <p:nvPr/>
        </p:nvSpPr>
        <p:spPr>
          <a:xfrm>
            <a:off x="732605" y="5146326"/>
            <a:ext cx="506493" cy="506493"/>
          </a:xfrm>
          <a:custGeom>
            <a:rect b="b" l="l" r="r" t="t"/>
            <a:pathLst>
              <a:path extrusionOk="0" h="506493" w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904451" y="5291039"/>
            <a:ext cx="162801" cy="217068"/>
          </a:xfrm>
          <a:custGeom>
            <a:rect b="b" l="l" r="r" t="t"/>
            <a:pathLst>
              <a:path extrusionOk="0" h="217068" w="162801">
                <a:moveTo>
                  <a:pt x="132022" y="13567"/>
                </a:moveTo>
                <a:lnTo>
                  <a:pt x="135668" y="13567"/>
                </a:lnTo>
                <a:cubicBezTo>
                  <a:pt x="150633" y="13567"/>
                  <a:pt x="162801" y="25734"/>
                  <a:pt x="162801" y="40700"/>
                </a:cubicBezTo>
                <a:lnTo>
                  <a:pt x="162801" y="189935"/>
                </a:lnTo>
                <a:cubicBezTo>
                  <a:pt x="162801" y="204901"/>
                  <a:pt x="150633" y="217068"/>
                  <a:pt x="135668" y="217068"/>
                </a:cubicBezTo>
                <a:lnTo>
                  <a:pt x="27134" y="217068"/>
                </a:lnTo>
                <a:cubicBezTo>
                  <a:pt x="12168" y="217068"/>
                  <a:pt x="0" y="204901"/>
                  <a:pt x="0" y="189935"/>
                </a:cubicBezTo>
                <a:lnTo>
                  <a:pt x="0" y="40700"/>
                </a:lnTo>
                <a:cubicBezTo>
                  <a:pt x="0" y="25734"/>
                  <a:pt x="12168" y="13567"/>
                  <a:pt x="27134" y="13567"/>
                </a:cubicBezTo>
                <a:lnTo>
                  <a:pt x="30780" y="13567"/>
                </a:lnTo>
                <a:cubicBezTo>
                  <a:pt x="35443" y="5469"/>
                  <a:pt x="44219" y="0"/>
                  <a:pt x="54267" y="0"/>
                </a:cubicBezTo>
                <a:lnTo>
                  <a:pt x="108534" y="0"/>
                </a:lnTo>
                <a:cubicBezTo>
                  <a:pt x="118582" y="0"/>
                  <a:pt x="127358" y="5469"/>
                  <a:pt x="132022" y="13567"/>
                </a:cubicBezTo>
                <a:close/>
                <a:moveTo>
                  <a:pt x="105142" y="47484"/>
                </a:moveTo>
                <a:cubicBezTo>
                  <a:pt x="110781" y="47484"/>
                  <a:pt x="115318" y="42947"/>
                  <a:pt x="115318" y="37309"/>
                </a:cubicBezTo>
                <a:cubicBezTo>
                  <a:pt x="115318" y="31670"/>
                  <a:pt x="110781" y="27134"/>
                  <a:pt x="105142" y="27134"/>
                </a:cubicBezTo>
                <a:lnTo>
                  <a:pt x="57659" y="27134"/>
                </a:lnTo>
                <a:cubicBezTo>
                  <a:pt x="52020" y="27134"/>
                  <a:pt x="47484" y="31670"/>
                  <a:pt x="47484" y="37309"/>
                </a:cubicBezTo>
                <a:cubicBezTo>
                  <a:pt x="47484" y="42947"/>
                  <a:pt x="52020" y="47484"/>
                  <a:pt x="57659" y="47484"/>
                </a:cubicBezTo>
                <a:lnTo>
                  <a:pt x="105142" y="47484"/>
                </a:lnTo>
                <a:close/>
                <a:moveTo>
                  <a:pt x="117183" y="110527"/>
                </a:moveTo>
                <a:cubicBezTo>
                  <a:pt x="120151" y="105778"/>
                  <a:pt x="118709" y="99504"/>
                  <a:pt x="113961" y="96494"/>
                </a:cubicBezTo>
                <a:cubicBezTo>
                  <a:pt x="109212" y="93483"/>
                  <a:pt x="102938" y="94967"/>
                  <a:pt x="99928" y="99716"/>
                </a:cubicBezTo>
                <a:lnTo>
                  <a:pt x="73896" y="141391"/>
                </a:lnTo>
                <a:lnTo>
                  <a:pt x="62450" y="126129"/>
                </a:lnTo>
                <a:cubicBezTo>
                  <a:pt x="59058" y="121635"/>
                  <a:pt x="52698" y="120702"/>
                  <a:pt x="48204" y="124094"/>
                </a:cubicBezTo>
                <a:cubicBezTo>
                  <a:pt x="43710" y="127485"/>
                  <a:pt x="42778" y="133845"/>
                  <a:pt x="46169" y="138339"/>
                </a:cubicBezTo>
                <a:lnTo>
                  <a:pt x="66520" y="165472"/>
                </a:lnTo>
                <a:cubicBezTo>
                  <a:pt x="68512" y="168143"/>
                  <a:pt x="71734" y="169669"/>
                  <a:pt x="75084" y="169542"/>
                </a:cubicBezTo>
                <a:cubicBezTo>
                  <a:pt x="78433" y="169415"/>
                  <a:pt x="81485" y="167634"/>
                  <a:pt x="83266" y="164751"/>
                </a:cubicBezTo>
                <a:lnTo>
                  <a:pt x="117183" y="110484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1383810" y="5146326"/>
            <a:ext cx="1700368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4"/>
              <a:buFont typeface="Arial"/>
              <a:buNone/>
            </a:pPr>
            <a:r>
              <a:rPr b="1" i="0" lang="en-US" sz="1424" u="none" cap="none" strike="noStrike">
                <a:solidFill>
                  <a:srgbClr val="8D99AE"/>
                </a:solidFill>
                <a:latin typeface="Liter"/>
                <a:ea typeface="Liter"/>
                <a:cs typeface="Liter"/>
                <a:sym typeface="Liter"/>
              </a:rPr>
              <a:t>Fact-Checker 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6352779" y="5146326"/>
            <a:ext cx="615027" cy="253246"/>
          </a:xfrm>
          <a:custGeom>
            <a:rect b="b" l="l" r="r" t="t"/>
            <a:pathLst>
              <a:path extrusionOk="0" h="253246" w="615027">
                <a:moveTo>
                  <a:pt x="126623" y="0"/>
                </a:moveTo>
                <a:lnTo>
                  <a:pt x="488404" y="0"/>
                </a:lnTo>
                <a:cubicBezTo>
                  <a:pt x="558289" y="0"/>
                  <a:pt x="615027" y="56738"/>
                  <a:pt x="615027" y="126623"/>
                </a:cubicBezTo>
                <a:lnTo>
                  <a:pt x="615027" y="126623"/>
                </a:lnTo>
                <a:cubicBezTo>
                  <a:pt x="615027" y="196508"/>
                  <a:pt x="558289" y="253246"/>
                  <a:pt x="488404" y="253246"/>
                </a:cubicBezTo>
                <a:lnTo>
                  <a:pt x="126623" y="253246"/>
                </a:lnTo>
                <a:cubicBezTo>
                  <a:pt x="56738" y="253246"/>
                  <a:pt x="0" y="196508"/>
                  <a:pt x="0" y="126623"/>
                </a:cubicBezTo>
                <a:lnTo>
                  <a:pt x="0" y="126623"/>
                </a:lnTo>
                <a:cubicBezTo>
                  <a:pt x="0" y="56738"/>
                  <a:pt x="56738" y="0"/>
                  <a:pt x="126623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"/>
          <p:cNvSpPr/>
          <p:nvPr/>
        </p:nvSpPr>
        <p:spPr>
          <a:xfrm>
            <a:off x="6352779" y="5146326"/>
            <a:ext cx="678338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75" lIns="108525" spcFirstLastPara="1" rIns="108525" wrap="square" tIns="361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1" i="0" lang="en-US" sz="99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Stage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7"/>
          <p:cNvSpPr/>
          <p:nvPr/>
        </p:nvSpPr>
        <p:spPr>
          <a:xfrm>
            <a:off x="1383810" y="5471929"/>
            <a:ext cx="5661864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1" i="0" lang="en-US" sz="113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Role:</a:t>
            </a:r>
            <a:r>
              <a:rPr b="0" i="0" lang="en-US" sz="113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Cross-validation against clinical guidelines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1383810" y="5761353"/>
            <a:ext cx="1211964" cy="253246"/>
          </a:xfrm>
          <a:custGeom>
            <a:rect b="b" l="l" r="r" t="t"/>
            <a:pathLst>
              <a:path extrusionOk="0" h="253246" w="1211964">
                <a:moveTo>
                  <a:pt x="36179" y="0"/>
                </a:moveTo>
                <a:lnTo>
                  <a:pt x="1175786" y="0"/>
                </a:lnTo>
                <a:cubicBezTo>
                  <a:pt x="1195767" y="0"/>
                  <a:pt x="1211964" y="16198"/>
                  <a:pt x="1211964" y="36179"/>
                </a:cubicBezTo>
                <a:lnTo>
                  <a:pt x="1211964" y="217068"/>
                </a:lnTo>
                <a:cubicBezTo>
                  <a:pt x="1211964" y="237049"/>
                  <a:pt x="1195767" y="253246"/>
                  <a:pt x="1175786" y="253246"/>
                </a:cubicBezTo>
                <a:lnTo>
                  <a:pt x="36179" y="253246"/>
                </a:lnTo>
                <a:cubicBezTo>
                  <a:pt x="16198" y="253246"/>
                  <a:pt x="0" y="237049"/>
                  <a:pt x="0" y="217068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1383810" y="5761353"/>
            <a:ext cx="1275276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75" lIns="108525" spcFirstLastPara="1" rIns="108525" wrap="square" tIns="361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0" i="0" lang="en-US" sz="99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Safety Verification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7"/>
          <p:cNvSpPr/>
          <p:nvPr/>
        </p:nvSpPr>
        <p:spPr>
          <a:xfrm>
            <a:off x="2667353" y="5761353"/>
            <a:ext cx="1076297" cy="253246"/>
          </a:xfrm>
          <a:custGeom>
            <a:rect b="b" l="l" r="r" t="t"/>
            <a:pathLst>
              <a:path extrusionOk="0" h="253246" w="1076297">
                <a:moveTo>
                  <a:pt x="36179" y="0"/>
                </a:moveTo>
                <a:lnTo>
                  <a:pt x="1040118" y="0"/>
                </a:lnTo>
                <a:cubicBezTo>
                  <a:pt x="1060099" y="0"/>
                  <a:pt x="1076297" y="16198"/>
                  <a:pt x="1076297" y="36179"/>
                </a:cubicBezTo>
                <a:lnTo>
                  <a:pt x="1076297" y="217068"/>
                </a:lnTo>
                <a:cubicBezTo>
                  <a:pt x="1076297" y="237049"/>
                  <a:pt x="1060099" y="253246"/>
                  <a:pt x="1040118" y="253246"/>
                </a:cubicBezTo>
                <a:lnTo>
                  <a:pt x="36179" y="253246"/>
                </a:lnTo>
                <a:cubicBezTo>
                  <a:pt x="16198" y="253246"/>
                  <a:pt x="0" y="237049"/>
                  <a:pt x="0" y="217068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2B2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"/>
          <p:cNvSpPr/>
          <p:nvPr/>
        </p:nvSpPr>
        <p:spPr>
          <a:xfrm>
            <a:off x="2667353" y="5761353"/>
            <a:ext cx="1139608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175" lIns="108525" spcFirstLastPara="1" rIns="108525" wrap="square" tIns="361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b="0" i="0" lang="en-US" sz="99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 Integration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7454796" y="1270754"/>
            <a:ext cx="4368499" cy="2867110"/>
          </a:xfrm>
          <a:custGeom>
            <a:rect b="b" l="l" r="r" t="t"/>
            <a:pathLst>
              <a:path extrusionOk="0" h="2867110" w="4368499">
                <a:moveTo>
                  <a:pt x="144703" y="0"/>
                </a:moveTo>
                <a:lnTo>
                  <a:pt x="4223795" y="0"/>
                </a:lnTo>
                <a:cubicBezTo>
                  <a:pt x="4303713" y="0"/>
                  <a:pt x="4368499" y="64786"/>
                  <a:pt x="4368499" y="144703"/>
                </a:cubicBezTo>
                <a:lnTo>
                  <a:pt x="4368499" y="2722407"/>
                </a:lnTo>
                <a:cubicBezTo>
                  <a:pt x="4368499" y="2802324"/>
                  <a:pt x="4303713" y="2867110"/>
                  <a:pt x="4223795" y="2867110"/>
                </a:cubicBezTo>
                <a:lnTo>
                  <a:pt x="144703" y="2867110"/>
                </a:lnTo>
                <a:cubicBezTo>
                  <a:pt x="64786" y="2867110"/>
                  <a:pt x="0" y="2802324"/>
                  <a:pt x="0" y="2722407"/>
                </a:cubicBezTo>
                <a:lnTo>
                  <a:pt x="0" y="144703"/>
                </a:lnTo>
                <a:cubicBezTo>
                  <a:pt x="0" y="64839"/>
                  <a:pt x="64839" y="0"/>
                  <a:pt x="144703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8D99A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"/>
          <p:cNvSpPr/>
          <p:nvPr/>
        </p:nvSpPr>
        <p:spPr>
          <a:xfrm>
            <a:off x="7626642" y="1456166"/>
            <a:ext cx="180890" cy="180890"/>
          </a:xfrm>
          <a:custGeom>
            <a:rect b="b" l="l" r="r" t="t"/>
            <a:pathLst>
              <a:path extrusionOk="0" h="180890" w="180890">
                <a:moveTo>
                  <a:pt x="62181" y="8479"/>
                </a:moveTo>
                <a:cubicBezTo>
                  <a:pt x="62181" y="3780"/>
                  <a:pt x="58401" y="0"/>
                  <a:pt x="53702" y="0"/>
                </a:cubicBezTo>
                <a:cubicBezTo>
                  <a:pt x="49003" y="0"/>
                  <a:pt x="45223" y="3780"/>
                  <a:pt x="45223" y="8479"/>
                </a:cubicBezTo>
                <a:lnTo>
                  <a:pt x="45223" y="22611"/>
                </a:lnTo>
                <a:cubicBezTo>
                  <a:pt x="32751" y="22611"/>
                  <a:pt x="22611" y="32751"/>
                  <a:pt x="22611" y="45223"/>
                </a:cubicBezTo>
                <a:lnTo>
                  <a:pt x="8479" y="45223"/>
                </a:lnTo>
                <a:cubicBezTo>
                  <a:pt x="3780" y="45223"/>
                  <a:pt x="0" y="49003"/>
                  <a:pt x="0" y="53702"/>
                </a:cubicBezTo>
                <a:cubicBezTo>
                  <a:pt x="0" y="58401"/>
                  <a:pt x="3780" y="62181"/>
                  <a:pt x="8479" y="62181"/>
                </a:cubicBezTo>
                <a:lnTo>
                  <a:pt x="22611" y="62181"/>
                </a:lnTo>
                <a:lnTo>
                  <a:pt x="22611" y="81966"/>
                </a:lnTo>
                <a:lnTo>
                  <a:pt x="8479" y="81966"/>
                </a:lnTo>
                <a:cubicBezTo>
                  <a:pt x="3780" y="81966"/>
                  <a:pt x="0" y="85746"/>
                  <a:pt x="0" y="90445"/>
                </a:cubicBezTo>
                <a:cubicBezTo>
                  <a:pt x="0" y="95144"/>
                  <a:pt x="3780" y="98924"/>
                  <a:pt x="8479" y="98924"/>
                </a:cubicBezTo>
                <a:lnTo>
                  <a:pt x="22611" y="98924"/>
                </a:lnTo>
                <a:lnTo>
                  <a:pt x="22611" y="118709"/>
                </a:lnTo>
                <a:lnTo>
                  <a:pt x="8479" y="118709"/>
                </a:lnTo>
                <a:cubicBezTo>
                  <a:pt x="3780" y="118709"/>
                  <a:pt x="0" y="122490"/>
                  <a:pt x="0" y="127188"/>
                </a:cubicBezTo>
                <a:cubicBezTo>
                  <a:pt x="0" y="131887"/>
                  <a:pt x="3780" y="135668"/>
                  <a:pt x="8479" y="135668"/>
                </a:cubicBezTo>
                <a:lnTo>
                  <a:pt x="22611" y="135668"/>
                </a:lnTo>
                <a:cubicBezTo>
                  <a:pt x="22611" y="148139"/>
                  <a:pt x="32751" y="158279"/>
                  <a:pt x="45223" y="158279"/>
                </a:cubicBezTo>
                <a:lnTo>
                  <a:pt x="45223" y="172411"/>
                </a:lnTo>
                <a:cubicBezTo>
                  <a:pt x="45223" y="177110"/>
                  <a:pt x="49003" y="180890"/>
                  <a:pt x="53702" y="180890"/>
                </a:cubicBezTo>
                <a:cubicBezTo>
                  <a:pt x="58401" y="180890"/>
                  <a:pt x="62181" y="177110"/>
                  <a:pt x="62181" y="172411"/>
                </a:cubicBezTo>
                <a:lnTo>
                  <a:pt x="62181" y="158279"/>
                </a:lnTo>
                <a:lnTo>
                  <a:pt x="81966" y="158279"/>
                </a:lnTo>
                <a:lnTo>
                  <a:pt x="81966" y="172411"/>
                </a:lnTo>
                <a:cubicBezTo>
                  <a:pt x="81966" y="177110"/>
                  <a:pt x="85746" y="180890"/>
                  <a:pt x="90445" y="180890"/>
                </a:cubicBezTo>
                <a:cubicBezTo>
                  <a:pt x="95144" y="180890"/>
                  <a:pt x="98924" y="177110"/>
                  <a:pt x="98924" y="172411"/>
                </a:cubicBezTo>
                <a:lnTo>
                  <a:pt x="98924" y="158279"/>
                </a:lnTo>
                <a:lnTo>
                  <a:pt x="118709" y="158279"/>
                </a:lnTo>
                <a:lnTo>
                  <a:pt x="118709" y="172411"/>
                </a:lnTo>
                <a:cubicBezTo>
                  <a:pt x="118709" y="177110"/>
                  <a:pt x="122490" y="180890"/>
                  <a:pt x="127188" y="180890"/>
                </a:cubicBezTo>
                <a:cubicBezTo>
                  <a:pt x="131887" y="180890"/>
                  <a:pt x="135668" y="177110"/>
                  <a:pt x="135668" y="172411"/>
                </a:cubicBezTo>
                <a:lnTo>
                  <a:pt x="135668" y="158279"/>
                </a:lnTo>
                <a:cubicBezTo>
                  <a:pt x="148139" y="158279"/>
                  <a:pt x="158279" y="148139"/>
                  <a:pt x="158279" y="135668"/>
                </a:cubicBezTo>
                <a:lnTo>
                  <a:pt x="172411" y="135668"/>
                </a:lnTo>
                <a:cubicBezTo>
                  <a:pt x="177110" y="135668"/>
                  <a:pt x="180890" y="131887"/>
                  <a:pt x="180890" y="127188"/>
                </a:cubicBezTo>
                <a:cubicBezTo>
                  <a:pt x="180890" y="122490"/>
                  <a:pt x="177110" y="118709"/>
                  <a:pt x="172411" y="118709"/>
                </a:cubicBezTo>
                <a:lnTo>
                  <a:pt x="158279" y="118709"/>
                </a:lnTo>
                <a:lnTo>
                  <a:pt x="158279" y="98924"/>
                </a:lnTo>
                <a:lnTo>
                  <a:pt x="172411" y="98924"/>
                </a:lnTo>
                <a:cubicBezTo>
                  <a:pt x="177110" y="98924"/>
                  <a:pt x="180890" y="95144"/>
                  <a:pt x="180890" y="90445"/>
                </a:cubicBezTo>
                <a:cubicBezTo>
                  <a:pt x="180890" y="85746"/>
                  <a:pt x="177110" y="81966"/>
                  <a:pt x="172411" y="81966"/>
                </a:cubicBezTo>
                <a:lnTo>
                  <a:pt x="158279" y="81966"/>
                </a:lnTo>
                <a:lnTo>
                  <a:pt x="158279" y="62181"/>
                </a:lnTo>
                <a:lnTo>
                  <a:pt x="172411" y="62181"/>
                </a:lnTo>
                <a:cubicBezTo>
                  <a:pt x="177110" y="62181"/>
                  <a:pt x="180890" y="58401"/>
                  <a:pt x="180890" y="53702"/>
                </a:cubicBezTo>
                <a:cubicBezTo>
                  <a:pt x="180890" y="49003"/>
                  <a:pt x="177110" y="45223"/>
                  <a:pt x="172411" y="45223"/>
                </a:cubicBezTo>
                <a:lnTo>
                  <a:pt x="158279" y="45223"/>
                </a:lnTo>
                <a:cubicBezTo>
                  <a:pt x="158279" y="32751"/>
                  <a:pt x="148139" y="22611"/>
                  <a:pt x="135668" y="22611"/>
                </a:cubicBezTo>
                <a:lnTo>
                  <a:pt x="135668" y="8479"/>
                </a:lnTo>
                <a:cubicBezTo>
                  <a:pt x="135668" y="3780"/>
                  <a:pt x="131887" y="0"/>
                  <a:pt x="127188" y="0"/>
                </a:cubicBezTo>
                <a:cubicBezTo>
                  <a:pt x="122490" y="0"/>
                  <a:pt x="118709" y="3780"/>
                  <a:pt x="118709" y="8479"/>
                </a:cubicBezTo>
                <a:lnTo>
                  <a:pt x="118709" y="22611"/>
                </a:lnTo>
                <a:lnTo>
                  <a:pt x="98924" y="22611"/>
                </a:lnTo>
                <a:lnTo>
                  <a:pt x="98924" y="8479"/>
                </a:lnTo>
                <a:cubicBezTo>
                  <a:pt x="98924" y="3780"/>
                  <a:pt x="95144" y="0"/>
                  <a:pt x="90445" y="0"/>
                </a:cubicBezTo>
                <a:cubicBezTo>
                  <a:pt x="85746" y="0"/>
                  <a:pt x="81966" y="3780"/>
                  <a:pt x="81966" y="8479"/>
                </a:cubicBezTo>
                <a:lnTo>
                  <a:pt x="81966" y="22611"/>
                </a:lnTo>
                <a:lnTo>
                  <a:pt x="62181" y="22611"/>
                </a:lnTo>
                <a:lnTo>
                  <a:pt x="62181" y="8479"/>
                </a:lnTo>
                <a:close/>
                <a:moveTo>
                  <a:pt x="56528" y="45223"/>
                </a:moveTo>
                <a:lnTo>
                  <a:pt x="124362" y="45223"/>
                </a:lnTo>
                <a:cubicBezTo>
                  <a:pt x="130615" y="45223"/>
                  <a:pt x="135668" y="50275"/>
                  <a:pt x="135668" y="56528"/>
                </a:cubicBezTo>
                <a:lnTo>
                  <a:pt x="135668" y="124362"/>
                </a:lnTo>
                <a:cubicBezTo>
                  <a:pt x="135668" y="130615"/>
                  <a:pt x="130615" y="135668"/>
                  <a:pt x="124362" y="135668"/>
                </a:cubicBezTo>
                <a:lnTo>
                  <a:pt x="56528" y="135668"/>
                </a:lnTo>
                <a:cubicBezTo>
                  <a:pt x="50275" y="135668"/>
                  <a:pt x="45223" y="130615"/>
                  <a:pt x="45223" y="124362"/>
                </a:cubicBezTo>
                <a:lnTo>
                  <a:pt x="45223" y="56528"/>
                </a:lnTo>
                <a:cubicBezTo>
                  <a:pt x="45223" y="50275"/>
                  <a:pt x="50275" y="45223"/>
                  <a:pt x="56528" y="45223"/>
                </a:cubicBezTo>
                <a:close/>
                <a:moveTo>
                  <a:pt x="62181" y="62181"/>
                </a:moveTo>
                <a:lnTo>
                  <a:pt x="62181" y="118709"/>
                </a:lnTo>
                <a:lnTo>
                  <a:pt x="118709" y="118709"/>
                </a:lnTo>
                <a:lnTo>
                  <a:pt x="118709" y="62181"/>
                </a:lnTo>
                <a:lnTo>
                  <a:pt x="62181" y="62181"/>
                </a:ln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7830144" y="1419988"/>
            <a:ext cx="3934362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4"/>
              <a:buFont typeface="Arial"/>
              <a:buNone/>
            </a:pPr>
            <a:r>
              <a:rPr b="1" i="0" lang="en-US" sz="1424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Tech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7"/>
          <p:cNvSpPr/>
          <p:nvPr/>
        </p:nvSpPr>
        <p:spPr>
          <a:xfrm>
            <a:off x="7604031" y="1781769"/>
            <a:ext cx="4070030" cy="687383"/>
          </a:xfrm>
          <a:custGeom>
            <a:rect b="b" l="l" r="r" t="t"/>
            <a:pathLst>
              <a:path extrusionOk="0" h="687383" w="4070030">
                <a:moveTo>
                  <a:pt x="72354" y="0"/>
                </a:moveTo>
                <a:lnTo>
                  <a:pt x="3997676" y="0"/>
                </a:lnTo>
                <a:cubicBezTo>
                  <a:pt x="4037636" y="0"/>
                  <a:pt x="4070030" y="32394"/>
                  <a:pt x="4070030" y="72354"/>
                </a:cubicBezTo>
                <a:lnTo>
                  <a:pt x="4070030" y="615029"/>
                </a:lnTo>
                <a:cubicBezTo>
                  <a:pt x="4070030" y="654989"/>
                  <a:pt x="4037636" y="687383"/>
                  <a:pt x="3997676" y="687383"/>
                </a:cubicBezTo>
                <a:lnTo>
                  <a:pt x="72354" y="687383"/>
                </a:lnTo>
                <a:cubicBezTo>
                  <a:pt x="32394" y="687383"/>
                  <a:pt x="0" y="654989"/>
                  <a:pt x="0" y="615029"/>
                </a:cubicBezTo>
                <a:lnTo>
                  <a:pt x="0" y="72354"/>
                </a:lnTo>
                <a:cubicBezTo>
                  <a:pt x="0" y="32421"/>
                  <a:pt x="32421" y="0"/>
                  <a:pt x="723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7"/>
          <p:cNvSpPr/>
          <p:nvPr/>
        </p:nvSpPr>
        <p:spPr>
          <a:xfrm>
            <a:off x="7712565" y="1890303"/>
            <a:ext cx="3925318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1" i="0" lang="en-US" sz="1139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 Engine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7"/>
          <p:cNvSpPr/>
          <p:nvPr/>
        </p:nvSpPr>
        <p:spPr>
          <a:xfrm>
            <a:off x="7712565" y="2143549"/>
            <a:ext cx="3925318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Gemini 2.5 Flash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7604031" y="2541507"/>
            <a:ext cx="4070030" cy="687383"/>
          </a:xfrm>
          <a:custGeom>
            <a:rect b="b" l="l" r="r" t="t"/>
            <a:pathLst>
              <a:path extrusionOk="0" h="687383" w="4070030">
                <a:moveTo>
                  <a:pt x="72354" y="0"/>
                </a:moveTo>
                <a:lnTo>
                  <a:pt x="3997676" y="0"/>
                </a:lnTo>
                <a:cubicBezTo>
                  <a:pt x="4037636" y="0"/>
                  <a:pt x="4070030" y="32394"/>
                  <a:pt x="4070030" y="72354"/>
                </a:cubicBezTo>
                <a:lnTo>
                  <a:pt x="4070030" y="615029"/>
                </a:lnTo>
                <a:cubicBezTo>
                  <a:pt x="4070030" y="654989"/>
                  <a:pt x="4037636" y="687383"/>
                  <a:pt x="3997676" y="687383"/>
                </a:cubicBezTo>
                <a:lnTo>
                  <a:pt x="72354" y="687383"/>
                </a:lnTo>
                <a:cubicBezTo>
                  <a:pt x="32394" y="687383"/>
                  <a:pt x="0" y="654989"/>
                  <a:pt x="0" y="615029"/>
                </a:cubicBezTo>
                <a:lnTo>
                  <a:pt x="0" y="72354"/>
                </a:lnTo>
                <a:cubicBezTo>
                  <a:pt x="0" y="32421"/>
                  <a:pt x="32421" y="0"/>
                  <a:pt x="723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7"/>
          <p:cNvSpPr/>
          <p:nvPr/>
        </p:nvSpPr>
        <p:spPr>
          <a:xfrm>
            <a:off x="7712565" y="2650042"/>
            <a:ext cx="3925318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1" i="0" lang="en-US" sz="1139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Framework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7712565" y="2903288"/>
            <a:ext cx="3925318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LangChain Orchestration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7"/>
          <p:cNvSpPr/>
          <p:nvPr/>
        </p:nvSpPr>
        <p:spPr>
          <a:xfrm>
            <a:off x="7604031" y="3301246"/>
            <a:ext cx="4070030" cy="687383"/>
          </a:xfrm>
          <a:custGeom>
            <a:rect b="b" l="l" r="r" t="t"/>
            <a:pathLst>
              <a:path extrusionOk="0" h="687383" w="4070030">
                <a:moveTo>
                  <a:pt x="72354" y="0"/>
                </a:moveTo>
                <a:lnTo>
                  <a:pt x="3997676" y="0"/>
                </a:lnTo>
                <a:cubicBezTo>
                  <a:pt x="4037636" y="0"/>
                  <a:pt x="4070030" y="32394"/>
                  <a:pt x="4070030" y="72354"/>
                </a:cubicBezTo>
                <a:lnTo>
                  <a:pt x="4070030" y="615029"/>
                </a:lnTo>
                <a:cubicBezTo>
                  <a:pt x="4070030" y="654989"/>
                  <a:pt x="4037636" y="687383"/>
                  <a:pt x="3997676" y="687383"/>
                </a:cubicBezTo>
                <a:lnTo>
                  <a:pt x="72354" y="687383"/>
                </a:lnTo>
                <a:cubicBezTo>
                  <a:pt x="32394" y="687383"/>
                  <a:pt x="0" y="654989"/>
                  <a:pt x="0" y="615029"/>
                </a:cubicBezTo>
                <a:lnTo>
                  <a:pt x="0" y="72354"/>
                </a:lnTo>
                <a:cubicBezTo>
                  <a:pt x="0" y="32421"/>
                  <a:pt x="32421" y="0"/>
                  <a:pt x="7235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7"/>
          <p:cNvSpPr/>
          <p:nvPr/>
        </p:nvSpPr>
        <p:spPr>
          <a:xfrm>
            <a:off x="7712565" y="3409780"/>
            <a:ext cx="3925318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1" i="0" lang="en-US" sz="113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Knowledge 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7712565" y="3663027"/>
            <a:ext cx="3925318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Clinical Guidelines RAG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7454796" y="4255442"/>
            <a:ext cx="4368499" cy="1745591"/>
          </a:xfrm>
          <a:custGeom>
            <a:rect b="b" l="l" r="r" t="t"/>
            <a:pathLst>
              <a:path extrusionOk="0" h="1745591" w="4368499">
                <a:moveTo>
                  <a:pt x="144709" y="0"/>
                </a:moveTo>
                <a:lnTo>
                  <a:pt x="4223789" y="0"/>
                </a:lnTo>
                <a:cubicBezTo>
                  <a:pt x="4303710" y="0"/>
                  <a:pt x="4368499" y="64789"/>
                  <a:pt x="4368499" y="144709"/>
                </a:cubicBezTo>
                <a:lnTo>
                  <a:pt x="4368499" y="1600881"/>
                </a:lnTo>
                <a:cubicBezTo>
                  <a:pt x="4368499" y="1680802"/>
                  <a:pt x="4303710" y="1745591"/>
                  <a:pt x="4223789" y="1745591"/>
                </a:cubicBezTo>
                <a:lnTo>
                  <a:pt x="144709" y="1745591"/>
                </a:lnTo>
                <a:cubicBezTo>
                  <a:pt x="64789" y="1745591"/>
                  <a:pt x="0" y="1680802"/>
                  <a:pt x="0" y="1600881"/>
                </a:cubicBezTo>
                <a:lnTo>
                  <a:pt x="0" y="144709"/>
                </a:lnTo>
                <a:cubicBezTo>
                  <a:pt x="0" y="64842"/>
                  <a:pt x="64842" y="0"/>
                  <a:pt x="144709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8D99A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7"/>
          <p:cNvSpPr/>
          <p:nvPr/>
        </p:nvSpPr>
        <p:spPr>
          <a:xfrm>
            <a:off x="7626642" y="4440855"/>
            <a:ext cx="180890" cy="180890"/>
          </a:xfrm>
          <a:custGeom>
            <a:rect b="b" l="l" r="r" t="t"/>
            <a:pathLst>
              <a:path extrusionOk="0" h="180890" w="180890">
                <a:moveTo>
                  <a:pt x="22611" y="22611"/>
                </a:moveTo>
                <a:cubicBezTo>
                  <a:pt x="22611" y="16358"/>
                  <a:pt x="17559" y="11306"/>
                  <a:pt x="11306" y="11306"/>
                </a:cubicBezTo>
                <a:cubicBezTo>
                  <a:pt x="5052" y="11306"/>
                  <a:pt x="0" y="16358"/>
                  <a:pt x="0" y="22611"/>
                </a:cubicBezTo>
                <a:lnTo>
                  <a:pt x="0" y="141320"/>
                </a:lnTo>
                <a:cubicBezTo>
                  <a:pt x="0" y="156936"/>
                  <a:pt x="12648" y="169585"/>
                  <a:pt x="28264" y="169585"/>
                </a:cubicBezTo>
                <a:lnTo>
                  <a:pt x="169585" y="169585"/>
                </a:lnTo>
                <a:cubicBezTo>
                  <a:pt x="175838" y="169585"/>
                  <a:pt x="180890" y="164532"/>
                  <a:pt x="180890" y="158279"/>
                </a:cubicBezTo>
                <a:cubicBezTo>
                  <a:pt x="180890" y="152026"/>
                  <a:pt x="175838" y="146973"/>
                  <a:pt x="169585" y="146973"/>
                </a:cubicBezTo>
                <a:lnTo>
                  <a:pt x="28264" y="146973"/>
                </a:lnTo>
                <a:cubicBezTo>
                  <a:pt x="25155" y="146973"/>
                  <a:pt x="22611" y="144430"/>
                  <a:pt x="22611" y="141320"/>
                </a:cubicBezTo>
                <a:lnTo>
                  <a:pt x="22611" y="22611"/>
                </a:lnTo>
                <a:close/>
                <a:moveTo>
                  <a:pt x="166264" y="53207"/>
                </a:moveTo>
                <a:cubicBezTo>
                  <a:pt x="170680" y="48791"/>
                  <a:pt x="170680" y="41619"/>
                  <a:pt x="166264" y="37203"/>
                </a:cubicBezTo>
                <a:cubicBezTo>
                  <a:pt x="161847" y="32786"/>
                  <a:pt x="154675" y="32786"/>
                  <a:pt x="150259" y="37203"/>
                </a:cubicBezTo>
                <a:lnTo>
                  <a:pt x="113056" y="74441"/>
                </a:lnTo>
                <a:lnTo>
                  <a:pt x="92777" y="54196"/>
                </a:lnTo>
                <a:cubicBezTo>
                  <a:pt x="88361" y="49780"/>
                  <a:pt x="81189" y="49780"/>
                  <a:pt x="76772" y="54196"/>
                </a:cubicBezTo>
                <a:lnTo>
                  <a:pt x="42855" y="88113"/>
                </a:lnTo>
                <a:cubicBezTo>
                  <a:pt x="38439" y="92530"/>
                  <a:pt x="38439" y="99702"/>
                  <a:pt x="42855" y="104118"/>
                </a:cubicBezTo>
                <a:cubicBezTo>
                  <a:pt x="47272" y="108534"/>
                  <a:pt x="54444" y="108534"/>
                  <a:pt x="58860" y="104118"/>
                </a:cubicBezTo>
                <a:lnTo>
                  <a:pt x="84792" y="78186"/>
                </a:lnTo>
                <a:lnTo>
                  <a:pt x="105072" y="98465"/>
                </a:lnTo>
                <a:cubicBezTo>
                  <a:pt x="109488" y="102881"/>
                  <a:pt x="116660" y="102881"/>
                  <a:pt x="121076" y="98465"/>
                </a:cubicBezTo>
                <a:lnTo>
                  <a:pt x="166299" y="53242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7"/>
          <p:cNvSpPr/>
          <p:nvPr/>
        </p:nvSpPr>
        <p:spPr>
          <a:xfrm>
            <a:off x="7830144" y="4404677"/>
            <a:ext cx="3934362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4"/>
              <a:buFont typeface="Arial"/>
              <a:buNone/>
            </a:pPr>
            <a:r>
              <a:rPr b="1" i="0" lang="en-US" sz="1424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Evaluation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7"/>
          <p:cNvSpPr/>
          <p:nvPr/>
        </p:nvSpPr>
        <p:spPr>
          <a:xfrm>
            <a:off x="7622120" y="4802635"/>
            <a:ext cx="144712" cy="144712"/>
          </a:xfrm>
          <a:custGeom>
            <a:rect b="b" l="l" r="r" t="t"/>
            <a:pathLst>
              <a:path extrusionOk="0" h="144712" w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7857277" y="4766457"/>
            <a:ext cx="1962659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Hallucination Rate vs. Baseline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7"/>
          <p:cNvSpPr/>
          <p:nvPr/>
        </p:nvSpPr>
        <p:spPr>
          <a:xfrm>
            <a:off x="7622120" y="5092059"/>
            <a:ext cx="144712" cy="144712"/>
          </a:xfrm>
          <a:custGeom>
            <a:rect b="b" l="l" r="r" t="t"/>
            <a:pathLst>
              <a:path extrusionOk="0" h="144712" w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7857277" y="5055881"/>
            <a:ext cx="2071193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Discordance Rate Measurement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7"/>
          <p:cNvSpPr/>
          <p:nvPr/>
        </p:nvSpPr>
        <p:spPr>
          <a:xfrm>
            <a:off x="7622120" y="5381484"/>
            <a:ext cx="144712" cy="144712"/>
          </a:xfrm>
          <a:custGeom>
            <a:rect b="b" l="l" r="r" t="t"/>
            <a:pathLst>
              <a:path extrusionOk="0" h="144712" w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7"/>
          <p:cNvSpPr/>
          <p:nvPr/>
        </p:nvSpPr>
        <p:spPr>
          <a:xfrm>
            <a:off x="7857277" y="5345306"/>
            <a:ext cx="1872214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Human-in-the-Loop Scoring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7"/>
          <p:cNvSpPr/>
          <p:nvPr/>
        </p:nvSpPr>
        <p:spPr>
          <a:xfrm>
            <a:off x="7622120" y="5670908"/>
            <a:ext cx="144712" cy="144712"/>
          </a:xfrm>
          <a:custGeom>
            <a:rect b="b" l="l" r="r" t="t"/>
            <a:pathLst>
              <a:path extrusionOk="0" h="144712" w="144712">
                <a:moveTo>
                  <a:pt x="72356" y="144712"/>
                </a:moveTo>
                <a:cubicBezTo>
                  <a:pt x="112290" y="144712"/>
                  <a:pt x="144712" y="112290"/>
                  <a:pt x="144712" y="72356"/>
                </a:cubicBezTo>
                <a:cubicBezTo>
                  <a:pt x="144712" y="32422"/>
                  <a:pt x="112290" y="0"/>
                  <a:pt x="72356" y="0"/>
                </a:cubicBezTo>
                <a:cubicBezTo>
                  <a:pt x="32422" y="0"/>
                  <a:pt x="0" y="32422"/>
                  <a:pt x="0" y="72356"/>
                </a:cubicBezTo>
                <a:cubicBezTo>
                  <a:pt x="0" y="112290"/>
                  <a:pt x="32422" y="144712"/>
                  <a:pt x="72356" y="144712"/>
                </a:cubicBezTo>
                <a:close/>
                <a:moveTo>
                  <a:pt x="96211" y="60118"/>
                </a:moveTo>
                <a:lnTo>
                  <a:pt x="73600" y="96296"/>
                </a:lnTo>
                <a:cubicBezTo>
                  <a:pt x="72413" y="98189"/>
                  <a:pt x="70378" y="99377"/>
                  <a:pt x="68145" y="99490"/>
                </a:cubicBezTo>
                <a:cubicBezTo>
                  <a:pt x="65912" y="99603"/>
                  <a:pt x="63764" y="98585"/>
                  <a:pt x="62435" y="96776"/>
                </a:cubicBezTo>
                <a:lnTo>
                  <a:pt x="48869" y="78687"/>
                </a:lnTo>
                <a:cubicBezTo>
                  <a:pt x="46607" y="75691"/>
                  <a:pt x="47229" y="71452"/>
                  <a:pt x="50225" y="69191"/>
                </a:cubicBezTo>
                <a:cubicBezTo>
                  <a:pt x="53221" y="66929"/>
                  <a:pt x="57461" y="67551"/>
                  <a:pt x="59722" y="70547"/>
                </a:cubicBezTo>
                <a:lnTo>
                  <a:pt x="67353" y="80722"/>
                </a:lnTo>
                <a:lnTo>
                  <a:pt x="84707" y="52939"/>
                </a:lnTo>
                <a:cubicBezTo>
                  <a:pt x="86686" y="49773"/>
                  <a:pt x="90869" y="48784"/>
                  <a:pt x="94063" y="50791"/>
                </a:cubicBezTo>
                <a:cubicBezTo>
                  <a:pt x="97257" y="52797"/>
                  <a:pt x="98218" y="56952"/>
                  <a:pt x="96211" y="60146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7"/>
          <p:cNvSpPr/>
          <p:nvPr/>
        </p:nvSpPr>
        <p:spPr>
          <a:xfrm>
            <a:off x="7857277" y="5634730"/>
            <a:ext cx="1401899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Latency: &lt; 2s per turn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7"/>
          <p:cNvSpPr/>
          <p:nvPr/>
        </p:nvSpPr>
        <p:spPr>
          <a:xfrm>
            <a:off x="7454796" y="6118611"/>
            <a:ext cx="4368499" cy="732605"/>
          </a:xfrm>
          <a:custGeom>
            <a:rect b="b" l="l" r="r" t="t"/>
            <a:pathLst>
              <a:path extrusionOk="0" h="732605" w="4368499">
                <a:moveTo>
                  <a:pt x="144712" y="0"/>
                </a:moveTo>
                <a:lnTo>
                  <a:pt x="4223787" y="0"/>
                </a:lnTo>
                <a:cubicBezTo>
                  <a:pt x="4303709" y="0"/>
                  <a:pt x="4368499" y="64790"/>
                  <a:pt x="4368499" y="144712"/>
                </a:cubicBezTo>
                <a:lnTo>
                  <a:pt x="4368499" y="587894"/>
                </a:lnTo>
                <a:cubicBezTo>
                  <a:pt x="4368499" y="667816"/>
                  <a:pt x="4303709" y="732605"/>
                  <a:pt x="4223787" y="732605"/>
                </a:cubicBezTo>
                <a:lnTo>
                  <a:pt x="144712" y="732605"/>
                </a:lnTo>
                <a:cubicBezTo>
                  <a:pt x="64790" y="732605"/>
                  <a:pt x="0" y="667816"/>
                  <a:pt x="0" y="587894"/>
                </a:cubicBezTo>
                <a:lnTo>
                  <a:pt x="0" y="144712"/>
                </a:lnTo>
                <a:cubicBezTo>
                  <a:pt x="0" y="64843"/>
                  <a:pt x="64843" y="0"/>
                  <a:pt x="144712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cap="flat" cmpd="sng" w="12700">
            <a:solidFill>
              <a:srgbClr val="E07A5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7640209" y="6349246"/>
            <a:ext cx="271335" cy="271335"/>
          </a:xfrm>
          <a:custGeom>
            <a:rect b="b" l="l" r="r" t="t"/>
            <a:pathLst>
              <a:path extrusionOk="0" h="271335" w="271335">
                <a:moveTo>
                  <a:pt x="135668" y="0"/>
                </a:moveTo>
                <a:cubicBezTo>
                  <a:pt x="138105" y="0"/>
                  <a:pt x="140543" y="530"/>
                  <a:pt x="142769" y="1537"/>
                </a:cubicBezTo>
                <a:lnTo>
                  <a:pt x="242612" y="43880"/>
                </a:lnTo>
                <a:cubicBezTo>
                  <a:pt x="254271" y="48809"/>
                  <a:pt x="262962" y="60309"/>
                  <a:pt x="262909" y="74193"/>
                </a:cubicBezTo>
                <a:cubicBezTo>
                  <a:pt x="262644" y="126764"/>
                  <a:pt x="241022" y="222951"/>
                  <a:pt x="149711" y="266672"/>
                </a:cubicBezTo>
                <a:cubicBezTo>
                  <a:pt x="140861" y="270911"/>
                  <a:pt x="130580" y="270911"/>
                  <a:pt x="121730" y="266672"/>
                </a:cubicBezTo>
                <a:cubicBezTo>
                  <a:pt x="30366" y="222951"/>
                  <a:pt x="8797" y="126764"/>
                  <a:pt x="8532" y="74193"/>
                </a:cubicBezTo>
                <a:cubicBezTo>
                  <a:pt x="8479" y="60309"/>
                  <a:pt x="17170" y="48809"/>
                  <a:pt x="28829" y="43880"/>
                </a:cubicBezTo>
                <a:lnTo>
                  <a:pt x="128619" y="1537"/>
                </a:lnTo>
                <a:cubicBezTo>
                  <a:pt x="130845" y="530"/>
                  <a:pt x="133230" y="0"/>
                  <a:pt x="135668" y="0"/>
                </a:cubicBezTo>
                <a:close/>
                <a:moveTo>
                  <a:pt x="135668" y="35401"/>
                </a:moveTo>
                <a:lnTo>
                  <a:pt x="135668" y="235776"/>
                </a:lnTo>
                <a:cubicBezTo>
                  <a:pt x="208801" y="200375"/>
                  <a:pt x="228462" y="121942"/>
                  <a:pt x="228939" y="74988"/>
                </a:cubicBezTo>
                <a:lnTo>
                  <a:pt x="135668" y="35454"/>
                </a:lnTo>
                <a:lnTo>
                  <a:pt x="135668" y="35454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8051734" y="6267846"/>
            <a:ext cx="2288261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1" i="0" lang="en-US" sz="113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Safety-First Defaulting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8051734" y="6484914"/>
            <a:ext cx="2288261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9"/>
              <a:buFont typeface="Arial"/>
              <a:buNone/>
            </a:pPr>
            <a:r>
              <a:rPr b="0" i="0" lang="en-US" sz="113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Conservative triage when uncertain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"/>
          <p:cNvSpPr/>
          <p:nvPr/>
        </p:nvSpPr>
        <p:spPr>
          <a:xfrm>
            <a:off x="381000" y="419100"/>
            <a:ext cx="76200" cy="381000"/>
          </a:xfrm>
          <a:custGeom>
            <a:rect b="b" l="l" r="r" t="t"/>
            <a:pathLst>
              <a:path extrusionOk="0" h="381000" w="762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</p:sp>
      <p:sp>
        <p:nvSpPr>
          <p:cNvPr id="451" name="Google Shape;451;p8"/>
          <p:cNvSpPr/>
          <p:nvPr/>
        </p:nvSpPr>
        <p:spPr>
          <a:xfrm>
            <a:off x="571500" y="381000"/>
            <a:ext cx="3476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Project Timeline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Progress &amp; Milestones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381000" y="2809875"/>
            <a:ext cx="11430000" cy="38100"/>
          </a:xfrm>
          <a:custGeom>
            <a:rect b="b" l="l" r="r" t="t"/>
            <a:pathLst>
              <a:path extrusionOk="0" h="38100" w="11430000">
                <a:moveTo>
                  <a:pt x="0" y="0"/>
                </a:moveTo>
                <a:lnTo>
                  <a:pt x="11430000" y="0"/>
                </a:lnTo>
                <a:lnTo>
                  <a:pt x="11430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>
            <a:noFill/>
          </a:ln>
        </p:spPr>
      </p:sp>
      <p:sp>
        <p:nvSpPr>
          <p:cNvPr id="454" name="Google Shape;454;p8"/>
          <p:cNvSpPr/>
          <p:nvPr/>
        </p:nvSpPr>
        <p:spPr>
          <a:xfrm>
            <a:off x="1162050" y="2219325"/>
            <a:ext cx="1181100" cy="1181100"/>
          </a:xfrm>
          <a:custGeom>
            <a:rect b="b" l="l" r="r" t="t"/>
            <a:pathLst>
              <a:path extrusionOk="0" h="1181100" w="1181100">
                <a:moveTo>
                  <a:pt x="590550" y="0"/>
                </a:moveTo>
                <a:lnTo>
                  <a:pt x="590550" y="0"/>
                </a:lnTo>
                <a:cubicBezTo>
                  <a:pt x="916483" y="0"/>
                  <a:pt x="1181100" y="264617"/>
                  <a:pt x="1181100" y="590550"/>
                </a:cubicBezTo>
                <a:lnTo>
                  <a:pt x="1181100" y="590550"/>
                </a:lnTo>
                <a:cubicBezTo>
                  <a:pt x="1181100" y="916483"/>
                  <a:pt x="916483" y="1181100"/>
                  <a:pt x="590550" y="1181100"/>
                </a:cubicBezTo>
                <a:lnTo>
                  <a:pt x="590550" y="1181100"/>
                </a:lnTo>
                <a:cubicBezTo>
                  <a:pt x="264617" y="1181100"/>
                  <a:pt x="0" y="916483"/>
                  <a:pt x="0" y="590550"/>
                </a:cubicBezTo>
                <a:lnTo>
                  <a:pt x="0" y="590550"/>
                </a:lnTo>
                <a:cubicBezTo>
                  <a:pt x="0" y="264617"/>
                  <a:pt x="264617" y="0"/>
                  <a:pt x="590550" y="0"/>
                </a:cubicBezTo>
                <a:close/>
              </a:path>
            </a:pathLst>
          </a:custGeom>
          <a:solidFill>
            <a:srgbClr val="4A908A"/>
          </a:solidFill>
          <a:ln cap="flat" cmpd="sng" w="50800">
            <a:solidFill>
              <a:srgbClr val="1A1D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1581150" y="2505075"/>
            <a:ext cx="342900" cy="342900"/>
          </a:xfrm>
          <a:custGeom>
            <a:rect b="b" l="l" r="r" t="t"/>
            <a:pathLst>
              <a:path extrusionOk="0" h="342900" w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227975" y="142451"/>
                </a:moveTo>
                <a:lnTo>
                  <a:pt x="174397" y="228176"/>
                </a:lnTo>
                <a:cubicBezTo>
                  <a:pt x="171584" y="232663"/>
                  <a:pt x="166762" y="235476"/>
                  <a:pt x="161471" y="235744"/>
                </a:cubicBezTo>
                <a:cubicBezTo>
                  <a:pt x="156180" y="236012"/>
                  <a:pt x="151090" y="233601"/>
                  <a:pt x="147943" y="229314"/>
                </a:cubicBezTo>
                <a:lnTo>
                  <a:pt x="115796" y="186452"/>
                </a:lnTo>
                <a:cubicBezTo>
                  <a:pt x="110438" y="179353"/>
                  <a:pt x="111911" y="169307"/>
                  <a:pt x="119010" y="163949"/>
                </a:cubicBezTo>
                <a:cubicBezTo>
                  <a:pt x="126110" y="158591"/>
                  <a:pt x="136155" y="160065"/>
                  <a:pt x="141513" y="167164"/>
                </a:cubicBezTo>
                <a:lnTo>
                  <a:pt x="159596" y="191274"/>
                </a:lnTo>
                <a:lnTo>
                  <a:pt x="200717" y="125440"/>
                </a:lnTo>
                <a:cubicBezTo>
                  <a:pt x="205405" y="117939"/>
                  <a:pt x="215317" y="115595"/>
                  <a:pt x="222885" y="120350"/>
                </a:cubicBezTo>
                <a:cubicBezTo>
                  <a:pt x="230453" y="125105"/>
                  <a:pt x="232730" y="134950"/>
                  <a:pt x="227975" y="14251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1500188" y="288607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385763" y="3576638"/>
            <a:ext cx="2733675" cy="1762125"/>
          </a:xfrm>
          <a:custGeom>
            <a:rect b="b" l="l" r="r" t="t"/>
            <a:pathLst>
              <a:path extrusionOk="0" h="1762125" w="2733675">
                <a:moveTo>
                  <a:pt x="152406" y="0"/>
                </a:moveTo>
                <a:lnTo>
                  <a:pt x="2581269" y="0"/>
                </a:lnTo>
                <a:cubicBezTo>
                  <a:pt x="2665440" y="0"/>
                  <a:pt x="2733675" y="68235"/>
                  <a:pt x="2733675" y="152406"/>
                </a:cubicBezTo>
                <a:lnTo>
                  <a:pt x="2733675" y="1609719"/>
                </a:lnTo>
                <a:cubicBezTo>
                  <a:pt x="2733675" y="1693890"/>
                  <a:pt x="2665440" y="1762125"/>
                  <a:pt x="2581269" y="1762125"/>
                </a:cubicBezTo>
                <a:lnTo>
                  <a:pt x="152406" y="1762125"/>
                </a:lnTo>
                <a:cubicBezTo>
                  <a:pt x="68235" y="1762125"/>
                  <a:pt x="0" y="1693890"/>
                  <a:pt x="0" y="1609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542925" y="3733800"/>
            <a:ext cx="638175" cy="266700"/>
          </a:xfrm>
          <a:custGeom>
            <a:rect b="b" l="l" r="r" t="t"/>
            <a:pathLst>
              <a:path extrusionOk="0" h="266700" w="638175">
                <a:moveTo>
                  <a:pt x="133350" y="0"/>
                </a:moveTo>
                <a:lnTo>
                  <a:pt x="504825" y="0"/>
                </a:lnTo>
                <a:cubicBezTo>
                  <a:pt x="578423" y="0"/>
                  <a:pt x="638175" y="59752"/>
                  <a:pt x="638175" y="133350"/>
                </a:cubicBezTo>
                <a:lnTo>
                  <a:pt x="638175" y="133350"/>
                </a:lnTo>
                <a:cubicBezTo>
                  <a:pt x="638175" y="206948"/>
                  <a:pt x="578423" y="266700"/>
                  <a:pt x="5048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542925" y="3733800"/>
            <a:ext cx="704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542925" y="40767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Literature 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570309" y="4457700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785813" y="4419600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 ACL papers synthesized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570309" y="4724400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785813" y="4686300"/>
            <a:ext cx="1314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thematic clusters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570309" y="4991100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785813" y="4953000"/>
            <a:ext cx="133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Baselines identified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4057650" y="2219325"/>
            <a:ext cx="1181100" cy="1181100"/>
          </a:xfrm>
          <a:custGeom>
            <a:rect b="b" l="l" r="r" t="t"/>
            <a:pathLst>
              <a:path extrusionOk="0" h="1181100" w="1181100">
                <a:moveTo>
                  <a:pt x="590550" y="0"/>
                </a:moveTo>
                <a:lnTo>
                  <a:pt x="590550" y="0"/>
                </a:lnTo>
                <a:cubicBezTo>
                  <a:pt x="916483" y="0"/>
                  <a:pt x="1181100" y="264617"/>
                  <a:pt x="1181100" y="590550"/>
                </a:cubicBezTo>
                <a:lnTo>
                  <a:pt x="1181100" y="590550"/>
                </a:lnTo>
                <a:cubicBezTo>
                  <a:pt x="1181100" y="916483"/>
                  <a:pt x="916483" y="1181100"/>
                  <a:pt x="590550" y="1181100"/>
                </a:cubicBezTo>
                <a:lnTo>
                  <a:pt x="590550" y="1181100"/>
                </a:lnTo>
                <a:cubicBezTo>
                  <a:pt x="264617" y="1181100"/>
                  <a:pt x="0" y="916483"/>
                  <a:pt x="0" y="590550"/>
                </a:cubicBezTo>
                <a:lnTo>
                  <a:pt x="0" y="590550"/>
                </a:lnTo>
                <a:cubicBezTo>
                  <a:pt x="0" y="264617"/>
                  <a:pt x="264617" y="0"/>
                  <a:pt x="590550" y="0"/>
                </a:cubicBezTo>
                <a:close/>
              </a:path>
            </a:pathLst>
          </a:custGeom>
          <a:solidFill>
            <a:srgbClr val="4A908A"/>
          </a:solidFill>
          <a:ln cap="flat" cmpd="sng" w="50800">
            <a:solidFill>
              <a:srgbClr val="1A1D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8"/>
          <p:cNvSpPr/>
          <p:nvPr/>
        </p:nvSpPr>
        <p:spPr>
          <a:xfrm>
            <a:off x="4476750" y="2505075"/>
            <a:ext cx="342900" cy="342900"/>
          </a:xfrm>
          <a:custGeom>
            <a:rect b="b" l="l" r="r" t="t"/>
            <a:pathLst>
              <a:path extrusionOk="0" h="342900" w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227975" y="142451"/>
                </a:moveTo>
                <a:lnTo>
                  <a:pt x="174397" y="228176"/>
                </a:lnTo>
                <a:cubicBezTo>
                  <a:pt x="171584" y="232663"/>
                  <a:pt x="166762" y="235476"/>
                  <a:pt x="161471" y="235744"/>
                </a:cubicBezTo>
                <a:cubicBezTo>
                  <a:pt x="156180" y="236012"/>
                  <a:pt x="151090" y="233601"/>
                  <a:pt x="147943" y="229314"/>
                </a:cubicBezTo>
                <a:lnTo>
                  <a:pt x="115796" y="186452"/>
                </a:lnTo>
                <a:cubicBezTo>
                  <a:pt x="110438" y="179353"/>
                  <a:pt x="111911" y="169307"/>
                  <a:pt x="119010" y="163949"/>
                </a:cubicBezTo>
                <a:cubicBezTo>
                  <a:pt x="126110" y="158591"/>
                  <a:pt x="136155" y="160065"/>
                  <a:pt x="141513" y="167164"/>
                </a:cubicBezTo>
                <a:lnTo>
                  <a:pt x="159596" y="191274"/>
                </a:lnTo>
                <a:lnTo>
                  <a:pt x="200717" y="125440"/>
                </a:lnTo>
                <a:cubicBezTo>
                  <a:pt x="205405" y="117939"/>
                  <a:pt x="215317" y="115595"/>
                  <a:pt x="222885" y="120350"/>
                </a:cubicBezTo>
                <a:cubicBezTo>
                  <a:pt x="230453" y="125105"/>
                  <a:pt x="232730" y="134950"/>
                  <a:pt x="227975" y="14251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4395788" y="288607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3281363" y="3576638"/>
            <a:ext cx="2733675" cy="1762125"/>
          </a:xfrm>
          <a:custGeom>
            <a:rect b="b" l="l" r="r" t="t"/>
            <a:pathLst>
              <a:path extrusionOk="0" h="1762125" w="2733675">
                <a:moveTo>
                  <a:pt x="152406" y="0"/>
                </a:moveTo>
                <a:lnTo>
                  <a:pt x="2581269" y="0"/>
                </a:lnTo>
                <a:cubicBezTo>
                  <a:pt x="2665440" y="0"/>
                  <a:pt x="2733675" y="68235"/>
                  <a:pt x="2733675" y="152406"/>
                </a:cubicBezTo>
                <a:lnTo>
                  <a:pt x="2733675" y="1609719"/>
                </a:lnTo>
                <a:cubicBezTo>
                  <a:pt x="2733675" y="1693890"/>
                  <a:pt x="2665440" y="1762125"/>
                  <a:pt x="2581269" y="1762125"/>
                </a:cubicBezTo>
                <a:lnTo>
                  <a:pt x="152406" y="1762125"/>
                </a:lnTo>
                <a:cubicBezTo>
                  <a:pt x="68235" y="1762125"/>
                  <a:pt x="0" y="1693890"/>
                  <a:pt x="0" y="1609719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3438525" y="3733800"/>
            <a:ext cx="666750" cy="266700"/>
          </a:xfrm>
          <a:custGeom>
            <a:rect b="b" l="l" r="r" t="t"/>
            <a:pathLst>
              <a:path extrusionOk="0" h="266700" w="666750">
                <a:moveTo>
                  <a:pt x="133350" y="0"/>
                </a:moveTo>
                <a:lnTo>
                  <a:pt x="533400" y="0"/>
                </a:lnTo>
                <a:cubicBezTo>
                  <a:pt x="606998" y="0"/>
                  <a:pt x="666750" y="59752"/>
                  <a:pt x="666750" y="133350"/>
                </a:cubicBezTo>
                <a:lnTo>
                  <a:pt x="666750" y="133350"/>
                </a:lnTo>
                <a:cubicBezTo>
                  <a:pt x="666750" y="206948"/>
                  <a:pt x="606998" y="266700"/>
                  <a:pt x="5334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8"/>
          <p:cNvSpPr/>
          <p:nvPr/>
        </p:nvSpPr>
        <p:spPr>
          <a:xfrm>
            <a:off x="3438525" y="3733800"/>
            <a:ext cx="733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3438525" y="40767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Proposal &amp; Design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8"/>
          <p:cNvSpPr/>
          <p:nvPr/>
        </p:nvSpPr>
        <p:spPr>
          <a:xfrm>
            <a:off x="3465909" y="4457700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8"/>
          <p:cNvSpPr/>
          <p:nvPr/>
        </p:nvSpPr>
        <p:spPr>
          <a:xfrm>
            <a:off x="3681413" y="4419600"/>
            <a:ext cx="1800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Dual-pipeline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3465909" y="4724400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3681413" y="4686300"/>
            <a:ext cx="1304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ACL-format report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3465909" y="4991100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3681413" y="4953000"/>
            <a:ext cx="1247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Presentation deck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6953250" y="2219325"/>
            <a:ext cx="1181100" cy="1181100"/>
          </a:xfrm>
          <a:custGeom>
            <a:rect b="b" l="l" r="r" t="t"/>
            <a:pathLst>
              <a:path extrusionOk="0" h="1181100" w="1181100">
                <a:moveTo>
                  <a:pt x="590550" y="0"/>
                </a:moveTo>
                <a:lnTo>
                  <a:pt x="590550" y="0"/>
                </a:lnTo>
                <a:cubicBezTo>
                  <a:pt x="916483" y="0"/>
                  <a:pt x="1181100" y="264617"/>
                  <a:pt x="1181100" y="590550"/>
                </a:cubicBezTo>
                <a:lnTo>
                  <a:pt x="1181100" y="590550"/>
                </a:lnTo>
                <a:cubicBezTo>
                  <a:pt x="1181100" y="916483"/>
                  <a:pt x="916483" y="1181100"/>
                  <a:pt x="590550" y="1181100"/>
                </a:cubicBezTo>
                <a:lnTo>
                  <a:pt x="590550" y="1181100"/>
                </a:lnTo>
                <a:cubicBezTo>
                  <a:pt x="264617" y="1181100"/>
                  <a:pt x="0" y="916483"/>
                  <a:pt x="0" y="590550"/>
                </a:cubicBezTo>
                <a:lnTo>
                  <a:pt x="0" y="590550"/>
                </a:lnTo>
                <a:cubicBezTo>
                  <a:pt x="0" y="264617"/>
                  <a:pt x="264617" y="0"/>
                  <a:pt x="590550" y="0"/>
                </a:cubicBezTo>
                <a:close/>
              </a:path>
            </a:pathLst>
          </a:custGeom>
          <a:solidFill>
            <a:srgbClr val="E07A5F"/>
          </a:solidFill>
          <a:ln cap="flat" cmpd="sng" w="50800">
            <a:solidFill>
              <a:srgbClr val="1A1D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7372350" y="2505075"/>
            <a:ext cx="342900" cy="342900"/>
          </a:xfrm>
          <a:custGeom>
            <a:rect b="b" l="l" r="r" t="t"/>
            <a:pathLst>
              <a:path extrusionOk="0" h="342900" w="342900">
                <a:moveTo>
                  <a:pt x="139303" y="32147"/>
                </a:moveTo>
                <a:cubicBezTo>
                  <a:pt x="139303" y="14405"/>
                  <a:pt x="153708" y="0"/>
                  <a:pt x="171450" y="0"/>
                </a:cubicBezTo>
                <a:cubicBezTo>
                  <a:pt x="189192" y="0"/>
                  <a:pt x="203597" y="14405"/>
                  <a:pt x="203597" y="32147"/>
                </a:cubicBezTo>
                <a:cubicBezTo>
                  <a:pt x="203597" y="49889"/>
                  <a:pt x="189192" y="64294"/>
                  <a:pt x="171450" y="64294"/>
                </a:cubicBezTo>
                <a:cubicBezTo>
                  <a:pt x="153708" y="64294"/>
                  <a:pt x="139303" y="49889"/>
                  <a:pt x="139303" y="32147"/>
                </a:cubicBezTo>
                <a:close/>
                <a:moveTo>
                  <a:pt x="139303" y="310753"/>
                </a:moveTo>
                <a:cubicBezTo>
                  <a:pt x="139303" y="293011"/>
                  <a:pt x="153708" y="278606"/>
                  <a:pt x="171450" y="278606"/>
                </a:cubicBezTo>
                <a:cubicBezTo>
                  <a:pt x="189192" y="278606"/>
                  <a:pt x="203597" y="293011"/>
                  <a:pt x="203597" y="310753"/>
                </a:cubicBezTo>
                <a:cubicBezTo>
                  <a:pt x="203597" y="328495"/>
                  <a:pt x="189192" y="342900"/>
                  <a:pt x="171450" y="342900"/>
                </a:cubicBezTo>
                <a:cubicBezTo>
                  <a:pt x="153708" y="342900"/>
                  <a:pt x="139303" y="328495"/>
                  <a:pt x="139303" y="310753"/>
                </a:cubicBezTo>
                <a:close/>
                <a:moveTo>
                  <a:pt x="32147" y="139303"/>
                </a:moveTo>
                <a:cubicBezTo>
                  <a:pt x="49889" y="139303"/>
                  <a:pt x="64294" y="153708"/>
                  <a:pt x="64294" y="171450"/>
                </a:cubicBezTo>
                <a:cubicBezTo>
                  <a:pt x="64294" y="189192"/>
                  <a:pt x="49889" y="203597"/>
                  <a:pt x="32147" y="203597"/>
                </a:cubicBezTo>
                <a:cubicBezTo>
                  <a:pt x="14405" y="203597"/>
                  <a:pt x="0" y="189192"/>
                  <a:pt x="0" y="171450"/>
                </a:cubicBezTo>
                <a:cubicBezTo>
                  <a:pt x="0" y="153708"/>
                  <a:pt x="14405" y="139303"/>
                  <a:pt x="32147" y="139303"/>
                </a:cubicBezTo>
                <a:close/>
                <a:moveTo>
                  <a:pt x="278606" y="171450"/>
                </a:moveTo>
                <a:cubicBezTo>
                  <a:pt x="278606" y="153708"/>
                  <a:pt x="293011" y="139303"/>
                  <a:pt x="310753" y="139303"/>
                </a:cubicBezTo>
                <a:cubicBezTo>
                  <a:pt x="328495" y="139303"/>
                  <a:pt x="342900" y="153708"/>
                  <a:pt x="342900" y="171450"/>
                </a:cubicBezTo>
                <a:cubicBezTo>
                  <a:pt x="342900" y="189192"/>
                  <a:pt x="328495" y="203597"/>
                  <a:pt x="310753" y="203597"/>
                </a:cubicBezTo>
                <a:cubicBezTo>
                  <a:pt x="293011" y="203597"/>
                  <a:pt x="278606" y="189192"/>
                  <a:pt x="278606" y="171450"/>
                </a:cubicBezTo>
                <a:close/>
                <a:moveTo>
                  <a:pt x="50229" y="247196"/>
                </a:moveTo>
                <a:cubicBezTo>
                  <a:pt x="62779" y="234647"/>
                  <a:pt x="83155" y="234647"/>
                  <a:pt x="95704" y="247196"/>
                </a:cubicBezTo>
                <a:cubicBezTo>
                  <a:pt x="108253" y="259745"/>
                  <a:pt x="108253" y="280121"/>
                  <a:pt x="95704" y="292671"/>
                </a:cubicBezTo>
                <a:cubicBezTo>
                  <a:pt x="83155" y="305220"/>
                  <a:pt x="62779" y="305220"/>
                  <a:pt x="50229" y="292671"/>
                </a:cubicBezTo>
                <a:cubicBezTo>
                  <a:pt x="37680" y="280121"/>
                  <a:pt x="37680" y="259745"/>
                  <a:pt x="50229" y="247196"/>
                </a:cubicBezTo>
                <a:close/>
                <a:moveTo>
                  <a:pt x="50229" y="50229"/>
                </a:moveTo>
                <a:cubicBezTo>
                  <a:pt x="62779" y="37680"/>
                  <a:pt x="83155" y="37680"/>
                  <a:pt x="95704" y="50229"/>
                </a:cubicBezTo>
                <a:cubicBezTo>
                  <a:pt x="108253" y="62779"/>
                  <a:pt x="108253" y="83155"/>
                  <a:pt x="95704" y="95704"/>
                </a:cubicBezTo>
                <a:cubicBezTo>
                  <a:pt x="83155" y="108253"/>
                  <a:pt x="62779" y="108253"/>
                  <a:pt x="50229" y="95704"/>
                </a:cubicBezTo>
                <a:cubicBezTo>
                  <a:pt x="37680" y="83155"/>
                  <a:pt x="37680" y="62779"/>
                  <a:pt x="50229" y="50229"/>
                </a:cubicBezTo>
                <a:close/>
                <a:moveTo>
                  <a:pt x="292671" y="247196"/>
                </a:moveTo>
                <a:cubicBezTo>
                  <a:pt x="305228" y="259753"/>
                  <a:pt x="305228" y="280113"/>
                  <a:pt x="292671" y="292671"/>
                </a:cubicBezTo>
                <a:cubicBezTo>
                  <a:pt x="280113" y="305228"/>
                  <a:pt x="259753" y="305228"/>
                  <a:pt x="247196" y="292671"/>
                </a:cubicBezTo>
                <a:cubicBezTo>
                  <a:pt x="234639" y="280113"/>
                  <a:pt x="234639" y="259753"/>
                  <a:pt x="247196" y="247196"/>
                </a:cubicBezTo>
                <a:cubicBezTo>
                  <a:pt x="259753" y="234639"/>
                  <a:pt x="280113" y="234639"/>
                  <a:pt x="292671" y="247196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7291388" y="288607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8"/>
          <p:cNvSpPr/>
          <p:nvPr/>
        </p:nvSpPr>
        <p:spPr>
          <a:xfrm>
            <a:off x="6176963" y="3576638"/>
            <a:ext cx="2733675" cy="2028825"/>
          </a:xfrm>
          <a:custGeom>
            <a:rect b="b" l="l" r="r" t="t"/>
            <a:pathLst>
              <a:path extrusionOk="0" h="2028825" w="2733675">
                <a:moveTo>
                  <a:pt x="152405" y="0"/>
                </a:moveTo>
                <a:lnTo>
                  <a:pt x="2581270" y="0"/>
                </a:lnTo>
                <a:cubicBezTo>
                  <a:pt x="2665441" y="0"/>
                  <a:pt x="2733675" y="68234"/>
                  <a:pt x="2733675" y="152405"/>
                </a:cubicBezTo>
                <a:lnTo>
                  <a:pt x="2733675" y="1876420"/>
                </a:lnTo>
                <a:cubicBezTo>
                  <a:pt x="2733675" y="1960591"/>
                  <a:pt x="2665441" y="2028825"/>
                  <a:pt x="2581270" y="2028825"/>
                </a:cubicBezTo>
                <a:lnTo>
                  <a:pt x="152405" y="2028825"/>
                </a:lnTo>
                <a:cubicBezTo>
                  <a:pt x="68234" y="2028825"/>
                  <a:pt x="0" y="1960591"/>
                  <a:pt x="0" y="1876420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cap="flat" cmpd="sng" w="12700">
            <a:solidFill>
              <a:srgbClr val="E07A5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8"/>
          <p:cNvSpPr/>
          <p:nvPr/>
        </p:nvSpPr>
        <p:spPr>
          <a:xfrm>
            <a:off x="6334125" y="3733800"/>
            <a:ext cx="666750" cy="266700"/>
          </a:xfrm>
          <a:custGeom>
            <a:rect b="b" l="l" r="r" t="t"/>
            <a:pathLst>
              <a:path extrusionOk="0" h="266700" w="666750">
                <a:moveTo>
                  <a:pt x="133350" y="0"/>
                </a:moveTo>
                <a:lnTo>
                  <a:pt x="533400" y="0"/>
                </a:lnTo>
                <a:cubicBezTo>
                  <a:pt x="606998" y="0"/>
                  <a:pt x="666750" y="59752"/>
                  <a:pt x="666750" y="133350"/>
                </a:cubicBezTo>
                <a:lnTo>
                  <a:pt x="666750" y="133350"/>
                </a:lnTo>
                <a:cubicBezTo>
                  <a:pt x="666750" y="206948"/>
                  <a:pt x="606998" y="266700"/>
                  <a:pt x="5334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8"/>
          <p:cNvSpPr/>
          <p:nvPr/>
        </p:nvSpPr>
        <p:spPr>
          <a:xfrm>
            <a:off x="6334125" y="3733800"/>
            <a:ext cx="733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8"/>
          <p:cNvSpPr/>
          <p:nvPr/>
        </p:nvSpPr>
        <p:spPr>
          <a:xfrm>
            <a:off x="6334125" y="40767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07A5F"/>
                </a:solidFill>
                <a:latin typeface="Liter"/>
                <a:ea typeface="Liter"/>
                <a:cs typeface="Liter"/>
                <a:sym typeface="Liter"/>
              </a:rPr>
              <a:t>Implementation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6361509" y="4457700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8"/>
          <p:cNvSpPr/>
          <p:nvPr/>
        </p:nvSpPr>
        <p:spPr>
          <a:xfrm>
            <a:off x="6577013" y="4419600"/>
            <a:ext cx="1971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 scaffolded (9 commits)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8"/>
          <p:cNvSpPr/>
          <p:nvPr/>
        </p:nvSpPr>
        <p:spPr>
          <a:xfrm>
            <a:off x="6361509" y="4724400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6577013" y="4686300"/>
            <a:ext cx="1352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Notebooks initiated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8"/>
          <p:cNvSpPr/>
          <p:nvPr/>
        </p:nvSpPr>
        <p:spPr>
          <a:xfrm>
            <a:off x="6348413" y="4991100"/>
            <a:ext cx="114300" cy="114300"/>
          </a:xfrm>
          <a:custGeom>
            <a:rect b="b" l="l" r="r" t="t"/>
            <a:pathLst>
              <a:path extrusionOk="0" h="114300" w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6553200" y="4953000"/>
            <a:ext cx="123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IU X-Ray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6348413" y="5257800"/>
            <a:ext cx="114300" cy="114300"/>
          </a:xfrm>
          <a:custGeom>
            <a:rect b="b" l="l" r="r" t="t"/>
            <a:pathLst>
              <a:path extrusionOk="0" h="114300" w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6553200" y="5219700"/>
            <a:ext cx="1019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training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9848850" y="2219325"/>
            <a:ext cx="1181100" cy="1181100"/>
          </a:xfrm>
          <a:custGeom>
            <a:rect b="b" l="l" r="r" t="t"/>
            <a:pathLst>
              <a:path extrusionOk="0" h="1181100" w="1181100">
                <a:moveTo>
                  <a:pt x="590550" y="0"/>
                </a:moveTo>
                <a:lnTo>
                  <a:pt x="590550" y="0"/>
                </a:lnTo>
                <a:cubicBezTo>
                  <a:pt x="916483" y="0"/>
                  <a:pt x="1181100" y="264617"/>
                  <a:pt x="1181100" y="590550"/>
                </a:cubicBezTo>
                <a:lnTo>
                  <a:pt x="1181100" y="590550"/>
                </a:lnTo>
                <a:cubicBezTo>
                  <a:pt x="1181100" y="916483"/>
                  <a:pt x="916483" y="1181100"/>
                  <a:pt x="590550" y="1181100"/>
                </a:cubicBezTo>
                <a:lnTo>
                  <a:pt x="590550" y="1181100"/>
                </a:lnTo>
                <a:cubicBezTo>
                  <a:pt x="264617" y="1181100"/>
                  <a:pt x="0" y="916483"/>
                  <a:pt x="0" y="590550"/>
                </a:cubicBezTo>
                <a:lnTo>
                  <a:pt x="0" y="590550"/>
                </a:lnTo>
                <a:cubicBezTo>
                  <a:pt x="0" y="264617"/>
                  <a:pt x="264617" y="0"/>
                  <a:pt x="590550" y="0"/>
                </a:cubicBezTo>
                <a:close/>
              </a:path>
            </a:pathLst>
          </a:custGeom>
          <a:solidFill>
            <a:srgbClr val="8D99AE">
              <a:alpha val="30196"/>
            </a:srgbClr>
          </a:solidFill>
          <a:ln cap="flat" cmpd="sng" w="50800">
            <a:solidFill>
              <a:srgbClr val="1A1D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8"/>
          <p:cNvSpPr/>
          <p:nvPr/>
        </p:nvSpPr>
        <p:spPr>
          <a:xfrm>
            <a:off x="10310813" y="2505075"/>
            <a:ext cx="257175" cy="342900"/>
          </a:xfrm>
          <a:custGeom>
            <a:rect b="b" l="l" r="r" t="t"/>
            <a:pathLst>
              <a:path extrusionOk="0" h="342900" w="257175">
                <a:moveTo>
                  <a:pt x="21431" y="0"/>
                </a:moveTo>
                <a:cubicBezTo>
                  <a:pt x="9577" y="0"/>
                  <a:pt x="0" y="9577"/>
                  <a:pt x="0" y="21431"/>
                </a:cubicBezTo>
                <a:cubicBezTo>
                  <a:pt x="0" y="33285"/>
                  <a:pt x="9577" y="42863"/>
                  <a:pt x="21431" y="42863"/>
                </a:cubicBezTo>
                <a:lnTo>
                  <a:pt x="21431" y="50229"/>
                </a:lnTo>
                <a:cubicBezTo>
                  <a:pt x="21431" y="78626"/>
                  <a:pt x="32750" y="105884"/>
                  <a:pt x="52841" y="125976"/>
                </a:cubicBezTo>
                <a:lnTo>
                  <a:pt x="98316" y="171450"/>
                </a:lnTo>
                <a:lnTo>
                  <a:pt x="52841" y="216924"/>
                </a:lnTo>
                <a:cubicBezTo>
                  <a:pt x="32750" y="237016"/>
                  <a:pt x="21431" y="264274"/>
                  <a:pt x="21431" y="292671"/>
                </a:cubicBezTo>
                <a:lnTo>
                  <a:pt x="21431" y="300038"/>
                </a:lnTo>
                <a:cubicBezTo>
                  <a:pt x="9577" y="300038"/>
                  <a:pt x="0" y="309615"/>
                  <a:pt x="0" y="321469"/>
                </a:cubicBezTo>
                <a:cubicBezTo>
                  <a:pt x="0" y="333323"/>
                  <a:pt x="9577" y="342900"/>
                  <a:pt x="21431" y="342900"/>
                </a:cubicBezTo>
                <a:lnTo>
                  <a:pt x="235744" y="342900"/>
                </a:lnTo>
                <a:cubicBezTo>
                  <a:pt x="247598" y="342900"/>
                  <a:pt x="257175" y="333323"/>
                  <a:pt x="257175" y="321469"/>
                </a:cubicBezTo>
                <a:cubicBezTo>
                  <a:pt x="257175" y="309615"/>
                  <a:pt x="247598" y="300038"/>
                  <a:pt x="235744" y="300038"/>
                </a:cubicBezTo>
                <a:lnTo>
                  <a:pt x="235744" y="292671"/>
                </a:lnTo>
                <a:cubicBezTo>
                  <a:pt x="235744" y="264274"/>
                  <a:pt x="224425" y="237016"/>
                  <a:pt x="204334" y="216924"/>
                </a:cubicBezTo>
                <a:lnTo>
                  <a:pt x="158859" y="171450"/>
                </a:lnTo>
                <a:lnTo>
                  <a:pt x="204334" y="125976"/>
                </a:lnTo>
                <a:cubicBezTo>
                  <a:pt x="224425" y="105884"/>
                  <a:pt x="235744" y="78626"/>
                  <a:pt x="235744" y="50229"/>
                </a:cubicBezTo>
                <a:lnTo>
                  <a:pt x="235744" y="42862"/>
                </a:lnTo>
                <a:cubicBezTo>
                  <a:pt x="247598" y="42862"/>
                  <a:pt x="257175" y="33285"/>
                  <a:pt x="257175" y="21431"/>
                </a:cubicBezTo>
                <a:cubicBezTo>
                  <a:pt x="257175" y="9577"/>
                  <a:pt x="247598" y="0"/>
                  <a:pt x="235744" y="0"/>
                </a:cubicBezTo>
                <a:lnTo>
                  <a:pt x="21431" y="0"/>
                </a:lnTo>
                <a:close/>
                <a:moveTo>
                  <a:pt x="64294" y="50229"/>
                </a:moveTo>
                <a:lnTo>
                  <a:pt x="64294" y="42863"/>
                </a:lnTo>
                <a:lnTo>
                  <a:pt x="192881" y="42863"/>
                </a:lnTo>
                <a:lnTo>
                  <a:pt x="192881" y="50229"/>
                </a:lnTo>
                <a:cubicBezTo>
                  <a:pt x="192881" y="62954"/>
                  <a:pt x="189131" y="75277"/>
                  <a:pt x="182166" y="85725"/>
                </a:cubicBezTo>
                <a:lnTo>
                  <a:pt x="75009" y="85725"/>
                </a:lnTo>
                <a:cubicBezTo>
                  <a:pt x="68111" y="75277"/>
                  <a:pt x="64294" y="62954"/>
                  <a:pt x="64294" y="50229"/>
                </a:cubicBezTo>
                <a:close/>
                <a:moveTo>
                  <a:pt x="75009" y="257175"/>
                </a:moveTo>
                <a:cubicBezTo>
                  <a:pt x="77353" y="253625"/>
                  <a:pt x="80099" y="250277"/>
                  <a:pt x="83113" y="247196"/>
                </a:cubicBezTo>
                <a:lnTo>
                  <a:pt x="128588" y="201722"/>
                </a:lnTo>
                <a:lnTo>
                  <a:pt x="174062" y="247196"/>
                </a:lnTo>
                <a:cubicBezTo>
                  <a:pt x="177143" y="250277"/>
                  <a:pt x="179822" y="253625"/>
                  <a:pt x="182233" y="257175"/>
                </a:cubicBezTo>
                <a:lnTo>
                  <a:pt x="75009" y="257175"/>
                </a:ln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10186988" y="288607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9072563" y="3576638"/>
            <a:ext cx="2733675" cy="2028825"/>
          </a:xfrm>
          <a:custGeom>
            <a:rect b="b" l="l" r="r" t="t"/>
            <a:pathLst>
              <a:path extrusionOk="0" h="2028825" w="2733675">
                <a:moveTo>
                  <a:pt x="152405" y="0"/>
                </a:moveTo>
                <a:lnTo>
                  <a:pt x="2581270" y="0"/>
                </a:lnTo>
                <a:cubicBezTo>
                  <a:pt x="2665441" y="0"/>
                  <a:pt x="2733675" y="68234"/>
                  <a:pt x="2733675" y="152405"/>
                </a:cubicBezTo>
                <a:lnTo>
                  <a:pt x="2733675" y="1876420"/>
                </a:lnTo>
                <a:cubicBezTo>
                  <a:pt x="2733675" y="1960591"/>
                  <a:pt x="2665441" y="2028825"/>
                  <a:pt x="2581270" y="2028825"/>
                </a:cubicBezTo>
                <a:lnTo>
                  <a:pt x="152405" y="2028825"/>
                </a:lnTo>
                <a:cubicBezTo>
                  <a:pt x="68234" y="2028825"/>
                  <a:pt x="0" y="1960591"/>
                  <a:pt x="0" y="1876420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cap="flat" cmpd="sng" w="12700">
            <a:solidFill>
              <a:srgbClr val="8D99A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9229725" y="3733800"/>
            <a:ext cx="666750" cy="266700"/>
          </a:xfrm>
          <a:custGeom>
            <a:rect b="b" l="l" r="r" t="t"/>
            <a:pathLst>
              <a:path extrusionOk="0" h="266700" w="666750">
                <a:moveTo>
                  <a:pt x="133350" y="0"/>
                </a:moveTo>
                <a:lnTo>
                  <a:pt x="533400" y="0"/>
                </a:lnTo>
                <a:cubicBezTo>
                  <a:pt x="606998" y="0"/>
                  <a:pt x="666750" y="59752"/>
                  <a:pt x="666750" y="133350"/>
                </a:cubicBezTo>
                <a:lnTo>
                  <a:pt x="666750" y="133350"/>
                </a:lnTo>
                <a:cubicBezTo>
                  <a:pt x="666750" y="206948"/>
                  <a:pt x="606998" y="266700"/>
                  <a:pt x="5334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D99AE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9229725" y="3733800"/>
            <a:ext cx="733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9229725" y="40767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D99AE"/>
                </a:solidFill>
                <a:latin typeface="Liter"/>
                <a:ea typeface="Liter"/>
                <a:cs typeface="Liter"/>
                <a:sym typeface="Liter"/>
              </a:rPr>
              <a:t>Deployment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9244013" y="4457700"/>
            <a:ext cx="114300" cy="114300"/>
          </a:xfrm>
          <a:custGeom>
            <a:rect b="b" l="l" r="r" t="t"/>
            <a:pathLst>
              <a:path extrusionOk="0" h="114300" w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8"/>
          <p:cNvSpPr/>
          <p:nvPr/>
        </p:nvSpPr>
        <p:spPr>
          <a:xfrm>
            <a:off x="9448800" y="4419600"/>
            <a:ext cx="1123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Ablation studies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9244013" y="4724400"/>
            <a:ext cx="114300" cy="114300"/>
          </a:xfrm>
          <a:custGeom>
            <a:rect b="b" l="l" r="r" t="t"/>
            <a:pathLst>
              <a:path extrusionOk="0" h="114300" w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9448800" y="4686300"/>
            <a:ext cx="1400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Human-in-the-loop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9244013" y="4991100"/>
            <a:ext cx="114300" cy="114300"/>
          </a:xfrm>
          <a:custGeom>
            <a:rect b="b" l="l" r="r" t="t"/>
            <a:pathLst>
              <a:path extrusionOk="0" h="114300" w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8"/>
          <p:cNvSpPr/>
          <p:nvPr/>
        </p:nvSpPr>
        <p:spPr>
          <a:xfrm>
            <a:off x="9448800" y="4953000"/>
            <a:ext cx="1419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paper write-up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9244013" y="5257800"/>
            <a:ext cx="114300" cy="114300"/>
          </a:xfrm>
          <a:custGeom>
            <a:rect b="b" l="l" r="r" t="t"/>
            <a:pathLst>
              <a:path extrusionOk="0" h="114300" w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8"/>
          <p:cNvSpPr/>
          <p:nvPr/>
        </p:nvSpPr>
        <p:spPr>
          <a:xfrm>
            <a:off x="9448800" y="5219700"/>
            <a:ext cx="1400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deployment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9"/>
          <p:cNvSpPr/>
          <p:nvPr/>
        </p:nvSpPr>
        <p:spPr>
          <a:xfrm>
            <a:off x="351608" y="386769"/>
            <a:ext cx="70322" cy="351608"/>
          </a:xfrm>
          <a:custGeom>
            <a:rect b="b" l="l" r="r" t="t"/>
            <a:pathLst>
              <a:path extrusionOk="0" h="351608" w="70322">
                <a:moveTo>
                  <a:pt x="0" y="0"/>
                </a:moveTo>
                <a:lnTo>
                  <a:pt x="70322" y="0"/>
                </a:lnTo>
                <a:lnTo>
                  <a:pt x="70322" y="351608"/>
                </a:lnTo>
                <a:lnTo>
                  <a:pt x="0" y="351608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</p:sp>
      <p:sp>
        <p:nvSpPr>
          <p:cNvPr id="516" name="Google Shape;516;p9"/>
          <p:cNvSpPr/>
          <p:nvPr/>
        </p:nvSpPr>
        <p:spPr>
          <a:xfrm>
            <a:off x="527412" y="351608"/>
            <a:ext cx="2962296" cy="421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22"/>
              <a:buFont typeface="Arial"/>
              <a:buNone/>
            </a:pPr>
            <a:r>
              <a:rPr b="1" i="0" lang="en-US" sz="3322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Phase 3 Status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9"/>
          <p:cNvSpPr/>
          <p:nvPr/>
        </p:nvSpPr>
        <p:spPr>
          <a:xfrm>
            <a:off x="527412" y="843859"/>
            <a:ext cx="11400882" cy="246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4"/>
              <a:buFont typeface="Arial"/>
              <a:buNone/>
            </a:pPr>
            <a:r>
              <a:rPr b="0" i="0" lang="en-US" sz="1384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Implementation Progress &amp; Repository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523017" y="1415221"/>
            <a:ext cx="175804" cy="175804"/>
          </a:xfrm>
          <a:custGeom>
            <a:rect b="b" l="l" r="r" t="t"/>
            <a:pathLst>
              <a:path extrusionOk="0" h="175804" w="175804">
                <a:moveTo>
                  <a:pt x="59712" y="136454"/>
                </a:moveTo>
                <a:cubicBezTo>
                  <a:pt x="59712" y="137141"/>
                  <a:pt x="58922" y="137690"/>
                  <a:pt x="57926" y="137690"/>
                </a:cubicBezTo>
                <a:cubicBezTo>
                  <a:pt x="56793" y="137793"/>
                  <a:pt x="56003" y="137244"/>
                  <a:pt x="56003" y="136454"/>
                </a:cubicBezTo>
                <a:cubicBezTo>
                  <a:pt x="56003" y="135767"/>
                  <a:pt x="56793" y="135218"/>
                  <a:pt x="57789" y="135218"/>
                </a:cubicBezTo>
                <a:cubicBezTo>
                  <a:pt x="58819" y="135115"/>
                  <a:pt x="59712" y="135664"/>
                  <a:pt x="59712" y="136454"/>
                </a:cubicBezTo>
                <a:close/>
                <a:moveTo>
                  <a:pt x="49033" y="134909"/>
                </a:moveTo>
                <a:cubicBezTo>
                  <a:pt x="48792" y="135596"/>
                  <a:pt x="49479" y="136385"/>
                  <a:pt x="50509" y="136591"/>
                </a:cubicBezTo>
                <a:cubicBezTo>
                  <a:pt x="51402" y="136935"/>
                  <a:pt x="52432" y="136591"/>
                  <a:pt x="52638" y="135905"/>
                </a:cubicBezTo>
                <a:cubicBezTo>
                  <a:pt x="52844" y="135218"/>
                  <a:pt x="52192" y="134428"/>
                  <a:pt x="51162" y="134119"/>
                </a:cubicBezTo>
                <a:cubicBezTo>
                  <a:pt x="50269" y="133879"/>
                  <a:pt x="49273" y="134222"/>
                  <a:pt x="49033" y="134909"/>
                </a:cubicBezTo>
                <a:close/>
                <a:moveTo>
                  <a:pt x="64210" y="134325"/>
                </a:moveTo>
                <a:cubicBezTo>
                  <a:pt x="63214" y="134566"/>
                  <a:pt x="62527" y="135218"/>
                  <a:pt x="62630" y="136008"/>
                </a:cubicBezTo>
                <a:cubicBezTo>
                  <a:pt x="62733" y="136694"/>
                  <a:pt x="63626" y="137141"/>
                  <a:pt x="64656" y="136900"/>
                </a:cubicBezTo>
                <a:cubicBezTo>
                  <a:pt x="65652" y="136660"/>
                  <a:pt x="66339" y="136008"/>
                  <a:pt x="66235" y="135321"/>
                </a:cubicBezTo>
                <a:cubicBezTo>
                  <a:pt x="66132" y="134669"/>
                  <a:pt x="65205" y="134222"/>
                  <a:pt x="64210" y="134325"/>
                </a:cubicBezTo>
                <a:close/>
                <a:moveTo>
                  <a:pt x="86803" y="2747"/>
                </a:moveTo>
                <a:cubicBezTo>
                  <a:pt x="39178" y="2747"/>
                  <a:pt x="2747" y="38903"/>
                  <a:pt x="2747" y="86528"/>
                </a:cubicBezTo>
                <a:cubicBezTo>
                  <a:pt x="2747" y="124608"/>
                  <a:pt x="26714" y="157193"/>
                  <a:pt x="60948" y="168662"/>
                </a:cubicBezTo>
                <a:cubicBezTo>
                  <a:pt x="65343" y="169452"/>
                  <a:pt x="66888" y="166739"/>
                  <a:pt x="66888" y="164507"/>
                </a:cubicBezTo>
                <a:cubicBezTo>
                  <a:pt x="66888" y="162378"/>
                  <a:pt x="66785" y="150635"/>
                  <a:pt x="66785" y="143424"/>
                </a:cubicBezTo>
                <a:cubicBezTo>
                  <a:pt x="66785" y="143424"/>
                  <a:pt x="42749" y="148575"/>
                  <a:pt x="37702" y="133192"/>
                </a:cubicBezTo>
                <a:cubicBezTo>
                  <a:pt x="37702" y="133192"/>
                  <a:pt x="33787" y="123200"/>
                  <a:pt x="28156" y="120625"/>
                </a:cubicBezTo>
                <a:cubicBezTo>
                  <a:pt x="28156" y="120625"/>
                  <a:pt x="20293" y="115234"/>
                  <a:pt x="28705" y="115337"/>
                </a:cubicBezTo>
                <a:cubicBezTo>
                  <a:pt x="28705" y="115337"/>
                  <a:pt x="37255" y="116024"/>
                  <a:pt x="41959" y="124196"/>
                </a:cubicBezTo>
                <a:cubicBezTo>
                  <a:pt x="49479" y="137450"/>
                  <a:pt x="62081" y="133638"/>
                  <a:pt x="66991" y="131372"/>
                </a:cubicBezTo>
                <a:cubicBezTo>
                  <a:pt x="67781" y="125878"/>
                  <a:pt x="70013" y="122067"/>
                  <a:pt x="72485" y="119801"/>
                </a:cubicBezTo>
                <a:cubicBezTo>
                  <a:pt x="53291" y="117672"/>
                  <a:pt x="33925" y="114891"/>
                  <a:pt x="33925" y="81859"/>
                </a:cubicBezTo>
                <a:cubicBezTo>
                  <a:pt x="33925" y="72416"/>
                  <a:pt x="36534" y="67678"/>
                  <a:pt x="42028" y="61634"/>
                </a:cubicBezTo>
                <a:cubicBezTo>
                  <a:pt x="41135" y="59402"/>
                  <a:pt x="38217" y="50200"/>
                  <a:pt x="42921" y="38320"/>
                </a:cubicBezTo>
                <a:cubicBezTo>
                  <a:pt x="50097" y="36088"/>
                  <a:pt x="66613" y="47591"/>
                  <a:pt x="66613" y="47591"/>
                </a:cubicBezTo>
                <a:cubicBezTo>
                  <a:pt x="73481" y="45668"/>
                  <a:pt x="80863" y="44672"/>
                  <a:pt x="88177" y="44672"/>
                </a:cubicBezTo>
                <a:cubicBezTo>
                  <a:pt x="95490" y="44672"/>
                  <a:pt x="102873" y="45668"/>
                  <a:pt x="109740" y="47591"/>
                </a:cubicBezTo>
                <a:cubicBezTo>
                  <a:pt x="109740" y="47591"/>
                  <a:pt x="126256" y="36054"/>
                  <a:pt x="133432" y="38320"/>
                </a:cubicBezTo>
                <a:cubicBezTo>
                  <a:pt x="138137" y="50235"/>
                  <a:pt x="135218" y="59402"/>
                  <a:pt x="134325" y="61634"/>
                </a:cubicBezTo>
                <a:cubicBezTo>
                  <a:pt x="139819" y="67712"/>
                  <a:pt x="143184" y="72450"/>
                  <a:pt x="143184" y="81859"/>
                </a:cubicBezTo>
                <a:cubicBezTo>
                  <a:pt x="143184" y="114994"/>
                  <a:pt x="122960" y="117638"/>
                  <a:pt x="103766" y="119801"/>
                </a:cubicBezTo>
                <a:cubicBezTo>
                  <a:pt x="106924" y="122513"/>
                  <a:pt x="109603" y="127664"/>
                  <a:pt x="109603" y="135733"/>
                </a:cubicBezTo>
                <a:cubicBezTo>
                  <a:pt x="109603" y="147304"/>
                  <a:pt x="109500" y="161623"/>
                  <a:pt x="109500" y="164438"/>
                </a:cubicBezTo>
                <a:cubicBezTo>
                  <a:pt x="109500" y="166670"/>
                  <a:pt x="111079" y="169383"/>
                  <a:pt x="115440" y="168593"/>
                </a:cubicBezTo>
                <a:cubicBezTo>
                  <a:pt x="149777" y="157193"/>
                  <a:pt x="173057" y="124608"/>
                  <a:pt x="173057" y="86528"/>
                </a:cubicBezTo>
                <a:cubicBezTo>
                  <a:pt x="173057" y="38903"/>
                  <a:pt x="134428" y="2747"/>
                  <a:pt x="86803" y="2747"/>
                </a:cubicBezTo>
                <a:close/>
                <a:moveTo>
                  <a:pt x="36122" y="121174"/>
                </a:moveTo>
                <a:cubicBezTo>
                  <a:pt x="35676" y="121518"/>
                  <a:pt x="35779" y="122307"/>
                  <a:pt x="36363" y="122960"/>
                </a:cubicBezTo>
                <a:cubicBezTo>
                  <a:pt x="36912" y="123509"/>
                  <a:pt x="37702" y="123749"/>
                  <a:pt x="38148" y="123303"/>
                </a:cubicBezTo>
                <a:cubicBezTo>
                  <a:pt x="38594" y="122960"/>
                  <a:pt x="38491" y="122170"/>
                  <a:pt x="37908" y="121518"/>
                </a:cubicBezTo>
                <a:cubicBezTo>
                  <a:pt x="37358" y="120968"/>
                  <a:pt x="36569" y="120728"/>
                  <a:pt x="36122" y="121174"/>
                </a:cubicBezTo>
                <a:close/>
                <a:moveTo>
                  <a:pt x="32414" y="118393"/>
                </a:moveTo>
                <a:cubicBezTo>
                  <a:pt x="32173" y="118839"/>
                  <a:pt x="32517" y="119389"/>
                  <a:pt x="33204" y="119732"/>
                </a:cubicBezTo>
                <a:cubicBezTo>
                  <a:pt x="33753" y="120075"/>
                  <a:pt x="34440" y="119972"/>
                  <a:pt x="34680" y="119492"/>
                </a:cubicBezTo>
                <a:cubicBezTo>
                  <a:pt x="34920" y="119045"/>
                  <a:pt x="34577" y="118496"/>
                  <a:pt x="33890" y="118153"/>
                </a:cubicBezTo>
                <a:cubicBezTo>
                  <a:pt x="33204" y="117947"/>
                  <a:pt x="32654" y="118050"/>
                  <a:pt x="32414" y="118393"/>
                </a:cubicBezTo>
                <a:close/>
                <a:moveTo>
                  <a:pt x="43539" y="130617"/>
                </a:moveTo>
                <a:cubicBezTo>
                  <a:pt x="42990" y="131063"/>
                  <a:pt x="43196" y="132093"/>
                  <a:pt x="43985" y="132746"/>
                </a:cubicBezTo>
                <a:cubicBezTo>
                  <a:pt x="44775" y="133535"/>
                  <a:pt x="45771" y="133638"/>
                  <a:pt x="46217" y="133089"/>
                </a:cubicBezTo>
                <a:cubicBezTo>
                  <a:pt x="46664" y="132643"/>
                  <a:pt x="46458" y="131613"/>
                  <a:pt x="45771" y="130960"/>
                </a:cubicBezTo>
                <a:cubicBezTo>
                  <a:pt x="45015" y="130170"/>
                  <a:pt x="43985" y="130067"/>
                  <a:pt x="43539" y="130617"/>
                </a:cubicBezTo>
                <a:close/>
                <a:moveTo>
                  <a:pt x="39625" y="125569"/>
                </a:moveTo>
                <a:cubicBezTo>
                  <a:pt x="39075" y="125913"/>
                  <a:pt x="39075" y="126805"/>
                  <a:pt x="39625" y="127595"/>
                </a:cubicBezTo>
                <a:cubicBezTo>
                  <a:pt x="40174" y="128385"/>
                  <a:pt x="41101" y="128728"/>
                  <a:pt x="41547" y="128385"/>
                </a:cubicBezTo>
                <a:cubicBezTo>
                  <a:pt x="42097" y="127939"/>
                  <a:pt x="42097" y="127046"/>
                  <a:pt x="41547" y="126256"/>
                </a:cubicBezTo>
                <a:cubicBezTo>
                  <a:pt x="41067" y="125466"/>
                  <a:pt x="40174" y="125123"/>
                  <a:pt x="39625" y="125569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"/>
          <p:cNvSpPr/>
          <p:nvPr/>
        </p:nvSpPr>
        <p:spPr>
          <a:xfrm>
            <a:off x="720796" y="1380061"/>
            <a:ext cx="3305113" cy="246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4"/>
              <a:buFont typeface="Arial"/>
              <a:buNone/>
            </a:pPr>
            <a:r>
              <a:rPr b="1" i="0" lang="en-US" sz="1384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Repository Stats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501041" y="1731668"/>
            <a:ext cx="1661347" cy="808698"/>
          </a:xfrm>
          <a:custGeom>
            <a:rect b="b" l="l" r="r" t="t"/>
            <a:pathLst>
              <a:path extrusionOk="0" h="808698" w="1661347">
                <a:moveTo>
                  <a:pt x="105478" y="0"/>
                </a:moveTo>
                <a:lnTo>
                  <a:pt x="1555868" y="0"/>
                </a:lnTo>
                <a:cubicBezTo>
                  <a:pt x="1614083" y="0"/>
                  <a:pt x="1661347" y="47263"/>
                  <a:pt x="1661347" y="105478"/>
                </a:cubicBezTo>
                <a:lnTo>
                  <a:pt x="1661347" y="703219"/>
                </a:lnTo>
                <a:cubicBezTo>
                  <a:pt x="1661347" y="761435"/>
                  <a:pt x="1614083" y="808698"/>
                  <a:pt x="1555868" y="808698"/>
                </a:cubicBezTo>
                <a:lnTo>
                  <a:pt x="105478" y="808698"/>
                </a:lnTo>
                <a:cubicBezTo>
                  <a:pt x="47263" y="808698"/>
                  <a:pt x="0" y="761435"/>
                  <a:pt x="0" y="703219"/>
                </a:cubicBezTo>
                <a:lnTo>
                  <a:pt x="0" y="105478"/>
                </a:lnTo>
                <a:cubicBezTo>
                  <a:pt x="0" y="47263"/>
                  <a:pt x="47263" y="0"/>
                  <a:pt x="10547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2271716" y="2645849"/>
            <a:ext cx="1661347" cy="808698"/>
          </a:xfrm>
          <a:custGeom>
            <a:rect b="b" l="l" r="r" t="t"/>
            <a:pathLst>
              <a:path extrusionOk="0" h="808698" w="1661347">
                <a:moveTo>
                  <a:pt x="105478" y="0"/>
                </a:moveTo>
                <a:lnTo>
                  <a:pt x="1555868" y="0"/>
                </a:lnTo>
                <a:cubicBezTo>
                  <a:pt x="1614083" y="0"/>
                  <a:pt x="1661347" y="47263"/>
                  <a:pt x="1661347" y="105478"/>
                </a:cubicBezTo>
                <a:lnTo>
                  <a:pt x="1661347" y="703219"/>
                </a:lnTo>
                <a:cubicBezTo>
                  <a:pt x="1661347" y="761435"/>
                  <a:pt x="1614083" y="808698"/>
                  <a:pt x="1555868" y="808698"/>
                </a:cubicBezTo>
                <a:lnTo>
                  <a:pt x="105478" y="808698"/>
                </a:lnTo>
                <a:cubicBezTo>
                  <a:pt x="47263" y="808698"/>
                  <a:pt x="0" y="761435"/>
                  <a:pt x="0" y="703219"/>
                </a:cubicBezTo>
                <a:lnTo>
                  <a:pt x="0" y="105478"/>
                </a:lnTo>
                <a:cubicBezTo>
                  <a:pt x="0" y="47263"/>
                  <a:pt x="47263" y="0"/>
                  <a:pt x="10547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9"/>
          <p:cNvSpPr/>
          <p:nvPr/>
        </p:nvSpPr>
        <p:spPr>
          <a:xfrm>
            <a:off x="501041" y="3560029"/>
            <a:ext cx="3436966" cy="351608"/>
          </a:xfrm>
          <a:custGeom>
            <a:rect b="b" l="l" r="r" t="t"/>
            <a:pathLst>
              <a:path extrusionOk="0" h="351608" w="3436966">
                <a:moveTo>
                  <a:pt x="70322" y="0"/>
                </a:moveTo>
                <a:lnTo>
                  <a:pt x="3366645" y="0"/>
                </a:lnTo>
                <a:cubicBezTo>
                  <a:pt x="3405482" y="0"/>
                  <a:pt x="3436966" y="31484"/>
                  <a:pt x="3436966" y="70322"/>
                </a:cubicBezTo>
                <a:lnTo>
                  <a:pt x="3436966" y="281286"/>
                </a:lnTo>
                <a:cubicBezTo>
                  <a:pt x="3436966" y="320124"/>
                  <a:pt x="3405482" y="351608"/>
                  <a:pt x="3366645" y="351608"/>
                </a:cubicBezTo>
                <a:lnTo>
                  <a:pt x="70322" y="351608"/>
                </a:lnTo>
                <a:cubicBezTo>
                  <a:pt x="31510" y="351608"/>
                  <a:pt x="0" y="320098"/>
                  <a:pt x="0" y="281286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9"/>
          <p:cNvSpPr/>
          <p:nvPr/>
        </p:nvSpPr>
        <p:spPr>
          <a:xfrm>
            <a:off x="536202" y="3630350"/>
            <a:ext cx="3366645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github.com/shadowsilence94/MediSim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9"/>
          <p:cNvSpPr/>
          <p:nvPr/>
        </p:nvSpPr>
        <p:spPr>
          <a:xfrm>
            <a:off x="356003" y="4170947"/>
            <a:ext cx="3727043" cy="2206339"/>
          </a:xfrm>
          <a:custGeom>
            <a:rect b="b" l="l" r="r" t="t"/>
            <a:pathLst>
              <a:path extrusionOk="0" h="2206339" w="3727043">
                <a:moveTo>
                  <a:pt x="140654" y="0"/>
                </a:moveTo>
                <a:lnTo>
                  <a:pt x="3586388" y="0"/>
                </a:lnTo>
                <a:cubicBezTo>
                  <a:pt x="3664070" y="0"/>
                  <a:pt x="3727043" y="62973"/>
                  <a:pt x="3727043" y="140654"/>
                </a:cubicBezTo>
                <a:lnTo>
                  <a:pt x="3727043" y="2065685"/>
                </a:lnTo>
                <a:cubicBezTo>
                  <a:pt x="3727043" y="2143366"/>
                  <a:pt x="3664070" y="2206339"/>
                  <a:pt x="3586388" y="2206339"/>
                </a:cubicBezTo>
                <a:lnTo>
                  <a:pt x="140654" y="2206339"/>
                </a:lnTo>
                <a:cubicBezTo>
                  <a:pt x="62973" y="2206339"/>
                  <a:pt x="0" y="2143366"/>
                  <a:pt x="0" y="2065685"/>
                </a:cubicBezTo>
                <a:lnTo>
                  <a:pt x="0" y="140654"/>
                </a:lnTo>
                <a:cubicBezTo>
                  <a:pt x="0" y="62973"/>
                  <a:pt x="62973" y="0"/>
                  <a:pt x="140654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E07A5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9"/>
          <p:cNvSpPr/>
          <p:nvPr/>
        </p:nvSpPr>
        <p:spPr>
          <a:xfrm>
            <a:off x="512029" y="4351146"/>
            <a:ext cx="197779" cy="175804"/>
          </a:xfrm>
          <a:custGeom>
            <a:rect b="b" l="l" r="r" t="t"/>
            <a:pathLst>
              <a:path extrusionOk="0" h="175804" w="197779">
                <a:moveTo>
                  <a:pt x="16482" y="8241"/>
                </a:moveTo>
                <a:cubicBezTo>
                  <a:pt x="16482" y="3674"/>
                  <a:pt x="12808" y="0"/>
                  <a:pt x="8241" y="0"/>
                </a:cubicBezTo>
                <a:cubicBezTo>
                  <a:pt x="3674" y="0"/>
                  <a:pt x="0" y="3674"/>
                  <a:pt x="0" y="8241"/>
                </a:cubicBezTo>
                <a:lnTo>
                  <a:pt x="0" y="134600"/>
                </a:lnTo>
                <a:cubicBezTo>
                  <a:pt x="0" y="145210"/>
                  <a:pt x="8619" y="153828"/>
                  <a:pt x="19229" y="153828"/>
                </a:cubicBezTo>
                <a:lnTo>
                  <a:pt x="82408" y="153828"/>
                </a:lnTo>
                <a:lnTo>
                  <a:pt x="82408" y="137347"/>
                </a:lnTo>
                <a:lnTo>
                  <a:pt x="19229" y="137347"/>
                </a:lnTo>
                <a:cubicBezTo>
                  <a:pt x="17718" y="137347"/>
                  <a:pt x="16482" y="136111"/>
                  <a:pt x="16482" y="134600"/>
                </a:cubicBezTo>
                <a:lnTo>
                  <a:pt x="16482" y="54939"/>
                </a:lnTo>
                <a:lnTo>
                  <a:pt x="82408" y="54939"/>
                </a:lnTo>
                <a:lnTo>
                  <a:pt x="82408" y="38457"/>
                </a:lnTo>
                <a:lnTo>
                  <a:pt x="16482" y="38457"/>
                </a:lnTo>
                <a:lnTo>
                  <a:pt x="16482" y="8241"/>
                </a:lnTo>
                <a:close/>
                <a:moveTo>
                  <a:pt x="115371" y="76914"/>
                </a:moveTo>
                <a:lnTo>
                  <a:pt x="181298" y="76914"/>
                </a:lnTo>
                <a:cubicBezTo>
                  <a:pt x="190397" y="76914"/>
                  <a:pt x="197779" y="69532"/>
                  <a:pt x="197779" y="60433"/>
                </a:cubicBezTo>
                <a:lnTo>
                  <a:pt x="197779" y="27469"/>
                </a:lnTo>
                <a:cubicBezTo>
                  <a:pt x="197779" y="18370"/>
                  <a:pt x="190397" y="10988"/>
                  <a:pt x="181298" y="10988"/>
                </a:cubicBezTo>
                <a:lnTo>
                  <a:pt x="152901" y="10988"/>
                </a:lnTo>
                <a:cubicBezTo>
                  <a:pt x="149983" y="10988"/>
                  <a:pt x="147201" y="9820"/>
                  <a:pt x="145141" y="7760"/>
                </a:cubicBezTo>
                <a:lnTo>
                  <a:pt x="142188" y="4807"/>
                </a:lnTo>
                <a:cubicBezTo>
                  <a:pt x="139098" y="1717"/>
                  <a:pt x="134909" y="-34"/>
                  <a:pt x="130548" y="-34"/>
                </a:cubicBezTo>
                <a:lnTo>
                  <a:pt x="115371" y="0"/>
                </a:lnTo>
                <a:cubicBezTo>
                  <a:pt x="106272" y="0"/>
                  <a:pt x="98890" y="7382"/>
                  <a:pt x="98890" y="16482"/>
                </a:cubicBezTo>
                <a:lnTo>
                  <a:pt x="98890" y="60433"/>
                </a:lnTo>
                <a:cubicBezTo>
                  <a:pt x="98890" y="69532"/>
                  <a:pt x="106272" y="76914"/>
                  <a:pt x="115371" y="76914"/>
                </a:cubicBezTo>
                <a:close/>
                <a:moveTo>
                  <a:pt x="115371" y="175804"/>
                </a:moveTo>
                <a:lnTo>
                  <a:pt x="181298" y="175804"/>
                </a:lnTo>
                <a:cubicBezTo>
                  <a:pt x="190397" y="175804"/>
                  <a:pt x="197779" y="168422"/>
                  <a:pt x="197779" y="159322"/>
                </a:cubicBezTo>
                <a:lnTo>
                  <a:pt x="197779" y="126359"/>
                </a:lnTo>
                <a:cubicBezTo>
                  <a:pt x="197779" y="117260"/>
                  <a:pt x="190397" y="109877"/>
                  <a:pt x="181298" y="109877"/>
                </a:cubicBezTo>
                <a:lnTo>
                  <a:pt x="152901" y="109877"/>
                </a:lnTo>
                <a:cubicBezTo>
                  <a:pt x="149983" y="109877"/>
                  <a:pt x="147201" y="108710"/>
                  <a:pt x="145141" y="106650"/>
                </a:cubicBezTo>
                <a:lnTo>
                  <a:pt x="142188" y="103697"/>
                </a:lnTo>
                <a:cubicBezTo>
                  <a:pt x="139098" y="100607"/>
                  <a:pt x="134909" y="98855"/>
                  <a:pt x="130548" y="98855"/>
                </a:cubicBezTo>
                <a:lnTo>
                  <a:pt x="115371" y="98890"/>
                </a:lnTo>
                <a:cubicBezTo>
                  <a:pt x="106272" y="98890"/>
                  <a:pt x="98890" y="106272"/>
                  <a:pt x="98890" y="115371"/>
                </a:cubicBezTo>
                <a:lnTo>
                  <a:pt x="98890" y="159322"/>
                </a:lnTo>
                <a:cubicBezTo>
                  <a:pt x="98890" y="168422"/>
                  <a:pt x="106272" y="175804"/>
                  <a:pt x="115371" y="175804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9"/>
          <p:cNvSpPr/>
          <p:nvPr/>
        </p:nvSpPr>
        <p:spPr>
          <a:xfrm>
            <a:off x="720796" y="4315986"/>
            <a:ext cx="3305113" cy="246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4"/>
              <a:buFont typeface="Arial"/>
              <a:buNone/>
            </a:pPr>
            <a:r>
              <a:rPr b="1" i="0" lang="en-US" sz="1384" u="none" cap="none" strike="noStrike">
                <a:solidFill>
                  <a:srgbClr val="E07A5F"/>
                </a:solidFill>
                <a:latin typeface="Liter"/>
                <a:ea typeface="Liter"/>
                <a:cs typeface="Liter"/>
                <a:sym typeface="Liter"/>
              </a:rPr>
              <a:t>Structure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9"/>
          <p:cNvSpPr/>
          <p:nvPr/>
        </p:nvSpPr>
        <p:spPr>
          <a:xfrm>
            <a:off x="501041" y="4667593"/>
            <a:ext cx="3436966" cy="351608"/>
          </a:xfrm>
          <a:custGeom>
            <a:rect b="b" l="l" r="r" t="t"/>
            <a:pathLst>
              <a:path extrusionOk="0" h="351608" w="3436966">
                <a:moveTo>
                  <a:pt x="70322" y="0"/>
                </a:moveTo>
                <a:lnTo>
                  <a:pt x="3366645" y="0"/>
                </a:lnTo>
                <a:cubicBezTo>
                  <a:pt x="3405482" y="0"/>
                  <a:pt x="3436966" y="31484"/>
                  <a:pt x="3436966" y="70322"/>
                </a:cubicBezTo>
                <a:lnTo>
                  <a:pt x="3436966" y="281286"/>
                </a:lnTo>
                <a:cubicBezTo>
                  <a:pt x="3436966" y="320124"/>
                  <a:pt x="3405482" y="351608"/>
                  <a:pt x="3366645" y="351608"/>
                </a:cubicBezTo>
                <a:lnTo>
                  <a:pt x="70322" y="351608"/>
                </a:lnTo>
                <a:cubicBezTo>
                  <a:pt x="31510" y="351608"/>
                  <a:pt x="0" y="320098"/>
                  <a:pt x="0" y="281286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9"/>
          <p:cNvSpPr/>
          <p:nvPr/>
        </p:nvSpPr>
        <p:spPr>
          <a:xfrm>
            <a:off x="588943" y="4773076"/>
            <a:ext cx="140643" cy="140643"/>
          </a:xfrm>
          <a:custGeom>
            <a:rect b="b" l="l" r="r" t="t"/>
            <a:pathLst>
              <a:path extrusionOk="0" h="140643" w="140643">
                <a:moveTo>
                  <a:pt x="17580" y="123063"/>
                </a:moveTo>
                <a:lnTo>
                  <a:pt x="123063" y="123063"/>
                </a:lnTo>
                <a:cubicBezTo>
                  <a:pt x="132759" y="123063"/>
                  <a:pt x="140643" y="115179"/>
                  <a:pt x="140643" y="105482"/>
                </a:cubicBezTo>
                <a:lnTo>
                  <a:pt x="140643" y="39556"/>
                </a:lnTo>
                <a:cubicBezTo>
                  <a:pt x="140643" y="29859"/>
                  <a:pt x="132759" y="21975"/>
                  <a:pt x="123063" y="21975"/>
                </a:cubicBezTo>
                <a:lnTo>
                  <a:pt x="82051" y="21975"/>
                </a:lnTo>
                <a:cubicBezTo>
                  <a:pt x="80156" y="21975"/>
                  <a:pt x="78288" y="21371"/>
                  <a:pt x="76777" y="20217"/>
                </a:cubicBezTo>
                <a:lnTo>
                  <a:pt x="66229" y="12306"/>
                </a:lnTo>
                <a:cubicBezTo>
                  <a:pt x="63180" y="10026"/>
                  <a:pt x="59471" y="8790"/>
                  <a:pt x="55680" y="8790"/>
                </a:cubicBezTo>
                <a:lnTo>
                  <a:pt x="17580" y="8790"/>
                </a:lnTo>
                <a:cubicBezTo>
                  <a:pt x="7884" y="8790"/>
                  <a:pt x="0" y="16674"/>
                  <a:pt x="0" y="26371"/>
                </a:cubicBezTo>
                <a:lnTo>
                  <a:pt x="0" y="105482"/>
                </a:lnTo>
                <a:cubicBezTo>
                  <a:pt x="0" y="115179"/>
                  <a:pt x="7884" y="123063"/>
                  <a:pt x="17580" y="123063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9"/>
          <p:cNvSpPr/>
          <p:nvPr/>
        </p:nvSpPr>
        <p:spPr>
          <a:xfrm>
            <a:off x="817488" y="4737915"/>
            <a:ext cx="773537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notebooks/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3279086" y="4755495"/>
            <a:ext cx="650474" cy="175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968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Progress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9"/>
          <p:cNvSpPr/>
          <p:nvPr/>
        </p:nvSpPr>
        <p:spPr>
          <a:xfrm>
            <a:off x="501041" y="5071942"/>
            <a:ext cx="3436966" cy="351608"/>
          </a:xfrm>
          <a:custGeom>
            <a:rect b="b" l="l" r="r" t="t"/>
            <a:pathLst>
              <a:path extrusionOk="0" h="351608" w="3436966">
                <a:moveTo>
                  <a:pt x="70322" y="0"/>
                </a:moveTo>
                <a:lnTo>
                  <a:pt x="3366645" y="0"/>
                </a:lnTo>
                <a:cubicBezTo>
                  <a:pt x="3405482" y="0"/>
                  <a:pt x="3436966" y="31484"/>
                  <a:pt x="3436966" y="70322"/>
                </a:cubicBezTo>
                <a:lnTo>
                  <a:pt x="3436966" y="281286"/>
                </a:lnTo>
                <a:cubicBezTo>
                  <a:pt x="3436966" y="320124"/>
                  <a:pt x="3405482" y="351608"/>
                  <a:pt x="3366645" y="351608"/>
                </a:cubicBezTo>
                <a:lnTo>
                  <a:pt x="70322" y="351608"/>
                </a:lnTo>
                <a:cubicBezTo>
                  <a:pt x="31510" y="351608"/>
                  <a:pt x="0" y="320098"/>
                  <a:pt x="0" y="281286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9"/>
          <p:cNvSpPr/>
          <p:nvPr/>
        </p:nvSpPr>
        <p:spPr>
          <a:xfrm>
            <a:off x="588943" y="5177425"/>
            <a:ext cx="140643" cy="140643"/>
          </a:xfrm>
          <a:custGeom>
            <a:rect b="b" l="l" r="r" t="t"/>
            <a:pathLst>
              <a:path extrusionOk="0" h="140643" w="140643">
                <a:moveTo>
                  <a:pt x="17580" y="123063"/>
                </a:moveTo>
                <a:lnTo>
                  <a:pt x="123063" y="123063"/>
                </a:lnTo>
                <a:cubicBezTo>
                  <a:pt x="132759" y="123063"/>
                  <a:pt x="140643" y="115179"/>
                  <a:pt x="140643" y="105482"/>
                </a:cubicBezTo>
                <a:lnTo>
                  <a:pt x="140643" y="39556"/>
                </a:lnTo>
                <a:cubicBezTo>
                  <a:pt x="140643" y="29859"/>
                  <a:pt x="132759" y="21975"/>
                  <a:pt x="123063" y="21975"/>
                </a:cubicBezTo>
                <a:lnTo>
                  <a:pt x="82051" y="21975"/>
                </a:lnTo>
                <a:cubicBezTo>
                  <a:pt x="80156" y="21975"/>
                  <a:pt x="78288" y="21371"/>
                  <a:pt x="76777" y="20217"/>
                </a:cubicBezTo>
                <a:lnTo>
                  <a:pt x="66229" y="12306"/>
                </a:lnTo>
                <a:cubicBezTo>
                  <a:pt x="63180" y="10026"/>
                  <a:pt x="59471" y="8790"/>
                  <a:pt x="55680" y="8790"/>
                </a:cubicBezTo>
                <a:lnTo>
                  <a:pt x="17580" y="8790"/>
                </a:lnTo>
                <a:cubicBezTo>
                  <a:pt x="7884" y="8790"/>
                  <a:pt x="0" y="16674"/>
                  <a:pt x="0" y="26371"/>
                </a:cubicBezTo>
                <a:lnTo>
                  <a:pt x="0" y="105482"/>
                </a:lnTo>
                <a:cubicBezTo>
                  <a:pt x="0" y="115179"/>
                  <a:pt x="7884" y="123063"/>
                  <a:pt x="17580" y="123063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9"/>
          <p:cNvSpPr/>
          <p:nvPr/>
        </p:nvSpPr>
        <p:spPr>
          <a:xfrm>
            <a:off x="817488" y="5142264"/>
            <a:ext cx="703216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web_app/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3279086" y="5159844"/>
            <a:ext cx="650474" cy="175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968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Progress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9"/>
          <p:cNvSpPr/>
          <p:nvPr/>
        </p:nvSpPr>
        <p:spPr>
          <a:xfrm>
            <a:off x="501041" y="5476291"/>
            <a:ext cx="3436966" cy="351608"/>
          </a:xfrm>
          <a:custGeom>
            <a:rect b="b" l="l" r="r" t="t"/>
            <a:pathLst>
              <a:path extrusionOk="0" h="351608" w="3436966">
                <a:moveTo>
                  <a:pt x="70322" y="0"/>
                </a:moveTo>
                <a:lnTo>
                  <a:pt x="3366645" y="0"/>
                </a:lnTo>
                <a:cubicBezTo>
                  <a:pt x="3405482" y="0"/>
                  <a:pt x="3436966" y="31484"/>
                  <a:pt x="3436966" y="70322"/>
                </a:cubicBezTo>
                <a:lnTo>
                  <a:pt x="3436966" y="281286"/>
                </a:lnTo>
                <a:cubicBezTo>
                  <a:pt x="3436966" y="320124"/>
                  <a:pt x="3405482" y="351608"/>
                  <a:pt x="3366645" y="351608"/>
                </a:cubicBezTo>
                <a:lnTo>
                  <a:pt x="70322" y="351608"/>
                </a:lnTo>
                <a:cubicBezTo>
                  <a:pt x="31510" y="351608"/>
                  <a:pt x="0" y="320098"/>
                  <a:pt x="0" y="281286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9"/>
          <p:cNvSpPr/>
          <p:nvPr/>
        </p:nvSpPr>
        <p:spPr>
          <a:xfrm>
            <a:off x="588943" y="5581774"/>
            <a:ext cx="140643" cy="140643"/>
          </a:xfrm>
          <a:custGeom>
            <a:rect b="b" l="l" r="r" t="t"/>
            <a:pathLst>
              <a:path extrusionOk="0" h="140643" w="140643">
                <a:moveTo>
                  <a:pt x="17580" y="123063"/>
                </a:moveTo>
                <a:lnTo>
                  <a:pt x="123063" y="123063"/>
                </a:lnTo>
                <a:cubicBezTo>
                  <a:pt x="132759" y="123063"/>
                  <a:pt x="140643" y="115179"/>
                  <a:pt x="140643" y="105482"/>
                </a:cubicBezTo>
                <a:lnTo>
                  <a:pt x="140643" y="39556"/>
                </a:lnTo>
                <a:cubicBezTo>
                  <a:pt x="140643" y="29859"/>
                  <a:pt x="132759" y="21975"/>
                  <a:pt x="123063" y="21975"/>
                </a:cubicBezTo>
                <a:lnTo>
                  <a:pt x="82051" y="21975"/>
                </a:lnTo>
                <a:cubicBezTo>
                  <a:pt x="80156" y="21975"/>
                  <a:pt x="78288" y="21371"/>
                  <a:pt x="76777" y="20217"/>
                </a:cubicBezTo>
                <a:lnTo>
                  <a:pt x="66229" y="12306"/>
                </a:lnTo>
                <a:cubicBezTo>
                  <a:pt x="63180" y="10026"/>
                  <a:pt x="59471" y="8790"/>
                  <a:pt x="55680" y="8790"/>
                </a:cubicBezTo>
                <a:lnTo>
                  <a:pt x="17580" y="8790"/>
                </a:lnTo>
                <a:cubicBezTo>
                  <a:pt x="7884" y="8790"/>
                  <a:pt x="0" y="16674"/>
                  <a:pt x="0" y="26371"/>
                </a:cubicBezTo>
                <a:lnTo>
                  <a:pt x="0" y="105482"/>
                </a:lnTo>
                <a:cubicBezTo>
                  <a:pt x="0" y="115179"/>
                  <a:pt x="7884" y="123063"/>
                  <a:pt x="17580" y="123063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9"/>
          <p:cNvSpPr/>
          <p:nvPr/>
        </p:nvSpPr>
        <p:spPr>
          <a:xfrm>
            <a:off x="817488" y="5546613"/>
            <a:ext cx="1054823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reports/Phase2/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9"/>
          <p:cNvSpPr/>
          <p:nvPr/>
        </p:nvSpPr>
        <p:spPr>
          <a:xfrm>
            <a:off x="3143731" y="5564193"/>
            <a:ext cx="782327" cy="175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968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Committed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9"/>
          <p:cNvSpPr/>
          <p:nvPr/>
        </p:nvSpPr>
        <p:spPr>
          <a:xfrm>
            <a:off x="501041" y="5880640"/>
            <a:ext cx="3436966" cy="351608"/>
          </a:xfrm>
          <a:custGeom>
            <a:rect b="b" l="l" r="r" t="t"/>
            <a:pathLst>
              <a:path extrusionOk="0" h="351608" w="3436966">
                <a:moveTo>
                  <a:pt x="70322" y="0"/>
                </a:moveTo>
                <a:lnTo>
                  <a:pt x="3366645" y="0"/>
                </a:lnTo>
                <a:cubicBezTo>
                  <a:pt x="3405482" y="0"/>
                  <a:pt x="3436966" y="31484"/>
                  <a:pt x="3436966" y="70322"/>
                </a:cubicBezTo>
                <a:lnTo>
                  <a:pt x="3436966" y="281286"/>
                </a:lnTo>
                <a:cubicBezTo>
                  <a:pt x="3436966" y="320124"/>
                  <a:pt x="3405482" y="351608"/>
                  <a:pt x="3366645" y="351608"/>
                </a:cubicBezTo>
                <a:lnTo>
                  <a:pt x="70322" y="351608"/>
                </a:lnTo>
                <a:cubicBezTo>
                  <a:pt x="31510" y="351608"/>
                  <a:pt x="0" y="320098"/>
                  <a:pt x="0" y="281286"/>
                </a:cubicBezTo>
                <a:lnTo>
                  <a:pt x="0" y="70322"/>
                </a:lnTo>
                <a:cubicBezTo>
                  <a:pt x="0" y="31510"/>
                  <a:pt x="31510" y="0"/>
                  <a:pt x="7032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9"/>
          <p:cNvSpPr/>
          <p:nvPr/>
        </p:nvSpPr>
        <p:spPr>
          <a:xfrm>
            <a:off x="588943" y="5986123"/>
            <a:ext cx="140643" cy="140643"/>
          </a:xfrm>
          <a:custGeom>
            <a:rect b="b" l="l" r="r" t="t"/>
            <a:pathLst>
              <a:path extrusionOk="0" h="140643" w="140643">
                <a:moveTo>
                  <a:pt x="17580" y="123063"/>
                </a:moveTo>
                <a:lnTo>
                  <a:pt x="123063" y="123063"/>
                </a:lnTo>
                <a:cubicBezTo>
                  <a:pt x="132759" y="123063"/>
                  <a:pt x="140643" y="115179"/>
                  <a:pt x="140643" y="105482"/>
                </a:cubicBezTo>
                <a:lnTo>
                  <a:pt x="140643" y="39556"/>
                </a:lnTo>
                <a:cubicBezTo>
                  <a:pt x="140643" y="29859"/>
                  <a:pt x="132759" y="21975"/>
                  <a:pt x="123063" y="21975"/>
                </a:cubicBezTo>
                <a:lnTo>
                  <a:pt x="82051" y="21975"/>
                </a:lnTo>
                <a:cubicBezTo>
                  <a:pt x="80156" y="21975"/>
                  <a:pt x="78288" y="21371"/>
                  <a:pt x="76777" y="20217"/>
                </a:cubicBezTo>
                <a:lnTo>
                  <a:pt x="66229" y="12306"/>
                </a:lnTo>
                <a:cubicBezTo>
                  <a:pt x="63180" y="10026"/>
                  <a:pt x="59471" y="8790"/>
                  <a:pt x="55680" y="8790"/>
                </a:cubicBezTo>
                <a:lnTo>
                  <a:pt x="17580" y="8790"/>
                </a:lnTo>
                <a:cubicBezTo>
                  <a:pt x="7884" y="8790"/>
                  <a:pt x="0" y="16674"/>
                  <a:pt x="0" y="26371"/>
                </a:cubicBezTo>
                <a:lnTo>
                  <a:pt x="0" y="105482"/>
                </a:lnTo>
                <a:cubicBezTo>
                  <a:pt x="0" y="115179"/>
                  <a:pt x="7884" y="123063"/>
                  <a:pt x="17580" y="123063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9"/>
          <p:cNvSpPr/>
          <p:nvPr/>
        </p:nvSpPr>
        <p:spPr>
          <a:xfrm>
            <a:off x="817488" y="5950962"/>
            <a:ext cx="395559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data/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9"/>
          <p:cNvSpPr/>
          <p:nvPr/>
        </p:nvSpPr>
        <p:spPr>
          <a:xfrm>
            <a:off x="3242071" y="5968542"/>
            <a:ext cx="685635" cy="175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8"/>
              <a:buFont typeface="Arial"/>
              <a:buNone/>
            </a:pPr>
            <a:r>
              <a:rPr b="0" i="0" lang="en-US" sz="968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Placeholder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9"/>
          <p:cNvSpPr/>
          <p:nvPr/>
        </p:nvSpPr>
        <p:spPr>
          <a:xfrm>
            <a:off x="4231449" y="1235022"/>
            <a:ext cx="3727043" cy="5616934"/>
          </a:xfrm>
          <a:custGeom>
            <a:rect b="b" l="l" r="r" t="t"/>
            <a:pathLst>
              <a:path extrusionOk="0" h="5616934" w="3727043">
                <a:moveTo>
                  <a:pt x="140659" y="0"/>
                </a:moveTo>
                <a:lnTo>
                  <a:pt x="3586384" y="0"/>
                </a:lnTo>
                <a:cubicBezTo>
                  <a:pt x="3664016" y="0"/>
                  <a:pt x="3727043" y="63027"/>
                  <a:pt x="3727043" y="140659"/>
                </a:cubicBezTo>
                <a:lnTo>
                  <a:pt x="3727043" y="5476276"/>
                </a:lnTo>
                <a:cubicBezTo>
                  <a:pt x="3727043" y="5553959"/>
                  <a:pt x="3664068" y="5616934"/>
                  <a:pt x="3586384" y="5616934"/>
                </a:cubicBezTo>
                <a:lnTo>
                  <a:pt x="140659" y="5616934"/>
                </a:lnTo>
                <a:cubicBezTo>
                  <a:pt x="63027" y="5616934"/>
                  <a:pt x="0" y="5553907"/>
                  <a:pt x="0" y="5476276"/>
                </a:cubicBezTo>
                <a:lnTo>
                  <a:pt x="0" y="140659"/>
                </a:lnTo>
                <a:cubicBezTo>
                  <a:pt x="0" y="63027"/>
                  <a:pt x="63027" y="0"/>
                  <a:pt x="140659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8D99A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4398462" y="1415221"/>
            <a:ext cx="175804" cy="175804"/>
          </a:xfrm>
          <a:custGeom>
            <a:rect b="b" l="l" r="r" t="t"/>
            <a:pathLst>
              <a:path extrusionOk="0" h="175804" w="175804">
                <a:moveTo>
                  <a:pt x="79833" y="1786"/>
                </a:moveTo>
                <a:cubicBezTo>
                  <a:pt x="84949" y="-584"/>
                  <a:pt x="90855" y="-584"/>
                  <a:pt x="95971" y="1786"/>
                </a:cubicBezTo>
                <a:lnTo>
                  <a:pt x="171031" y="36466"/>
                </a:lnTo>
                <a:cubicBezTo>
                  <a:pt x="173950" y="37805"/>
                  <a:pt x="175804" y="40723"/>
                  <a:pt x="175804" y="43951"/>
                </a:cubicBezTo>
                <a:cubicBezTo>
                  <a:pt x="175804" y="47179"/>
                  <a:pt x="173950" y="50097"/>
                  <a:pt x="171031" y="51436"/>
                </a:cubicBezTo>
                <a:lnTo>
                  <a:pt x="95971" y="86116"/>
                </a:lnTo>
                <a:cubicBezTo>
                  <a:pt x="90855" y="88486"/>
                  <a:pt x="84949" y="88486"/>
                  <a:pt x="79833" y="86116"/>
                </a:cubicBezTo>
                <a:lnTo>
                  <a:pt x="4773" y="51436"/>
                </a:lnTo>
                <a:cubicBezTo>
                  <a:pt x="1854" y="50063"/>
                  <a:pt x="0" y="47144"/>
                  <a:pt x="0" y="43951"/>
                </a:cubicBezTo>
                <a:cubicBezTo>
                  <a:pt x="0" y="40758"/>
                  <a:pt x="1854" y="37805"/>
                  <a:pt x="4773" y="36466"/>
                </a:cubicBezTo>
                <a:lnTo>
                  <a:pt x="79833" y="1786"/>
                </a:lnTo>
                <a:close/>
                <a:moveTo>
                  <a:pt x="16516" y="74991"/>
                </a:moveTo>
                <a:lnTo>
                  <a:pt x="72931" y="101053"/>
                </a:lnTo>
                <a:cubicBezTo>
                  <a:pt x="82442" y="105448"/>
                  <a:pt x="93396" y="105448"/>
                  <a:pt x="102907" y="101053"/>
                </a:cubicBezTo>
                <a:lnTo>
                  <a:pt x="159322" y="74991"/>
                </a:lnTo>
                <a:lnTo>
                  <a:pt x="171031" y="80417"/>
                </a:lnTo>
                <a:cubicBezTo>
                  <a:pt x="173950" y="81756"/>
                  <a:pt x="175804" y="84674"/>
                  <a:pt x="175804" y="87902"/>
                </a:cubicBezTo>
                <a:cubicBezTo>
                  <a:pt x="175804" y="91130"/>
                  <a:pt x="173950" y="94048"/>
                  <a:pt x="171031" y="95387"/>
                </a:cubicBezTo>
                <a:lnTo>
                  <a:pt x="95971" y="130067"/>
                </a:lnTo>
                <a:cubicBezTo>
                  <a:pt x="90855" y="132437"/>
                  <a:pt x="84949" y="132437"/>
                  <a:pt x="79833" y="130067"/>
                </a:cubicBezTo>
                <a:lnTo>
                  <a:pt x="4773" y="95387"/>
                </a:lnTo>
                <a:cubicBezTo>
                  <a:pt x="1854" y="94014"/>
                  <a:pt x="0" y="91095"/>
                  <a:pt x="0" y="87902"/>
                </a:cubicBezTo>
                <a:cubicBezTo>
                  <a:pt x="0" y="84709"/>
                  <a:pt x="1854" y="81756"/>
                  <a:pt x="4773" y="80417"/>
                </a:cubicBezTo>
                <a:lnTo>
                  <a:pt x="16482" y="74991"/>
                </a:lnTo>
                <a:close/>
                <a:moveTo>
                  <a:pt x="4773" y="124368"/>
                </a:moveTo>
                <a:lnTo>
                  <a:pt x="16482" y="118942"/>
                </a:lnTo>
                <a:lnTo>
                  <a:pt x="72897" y="145004"/>
                </a:lnTo>
                <a:cubicBezTo>
                  <a:pt x="82408" y="149399"/>
                  <a:pt x="93361" y="149399"/>
                  <a:pt x="102873" y="145004"/>
                </a:cubicBezTo>
                <a:lnTo>
                  <a:pt x="159288" y="118942"/>
                </a:lnTo>
                <a:lnTo>
                  <a:pt x="170997" y="124368"/>
                </a:lnTo>
                <a:cubicBezTo>
                  <a:pt x="173915" y="125707"/>
                  <a:pt x="175770" y="128625"/>
                  <a:pt x="175770" y="131853"/>
                </a:cubicBezTo>
                <a:cubicBezTo>
                  <a:pt x="175770" y="135081"/>
                  <a:pt x="173915" y="137999"/>
                  <a:pt x="170997" y="139338"/>
                </a:cubicBezTo>
                <a:lnTo>
                  <a:pt x="95937" y="174018"/>
                </a:lnTo>
                <a:cubicBezTo>
                  <a:pt x="90821" y="176388"/>
                  <a:pt x="84915" y="176388"/>
                  <a:pt x="79798" y="174018"/>
                </a:cubicBezTo>
                <a:lnTo>
                  <a:pt x="4773" y="139338"/>
                </a:lnTo>
                <a:cubicBezTo>
                  <a:pt x="1854" y="137965"/>
                  <a:pt x="0" y="135046"/>
                  <a:pt x="0" y="131853"/>
                </a:cubicBezTo>
                <a:cubicBezTo>
                  <a:pt x="0" y="128660"/>
                  <a:pt x="1854" y="125707"/>
                  <a:pt x="4773" y="124368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9"/>
          <p:cNvSpPr/>
          <p:nvPr/>
        </p:nvSpPr>
        <p:spPr>
          <a:xfrm>
            <a:off x="4596242" y="1380061"/>
            <a:ext cx="3305113" cy="246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4"/>
              <a:buFont typeface="Arial"/>
              <a:buNone/>
            </a:pPr>
            <a:r>
              <a:rPr b="1" i="0" lang="en-US" sz="1384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Tech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9"/>
          <p:cNvSpPr/>
          <p:nvPr/>
        </p:nvSpPr>
        <p:spPr>
          <a:xfrm>
            <a:off x="4376487" y="1731668"/>
            <a:ext cx="3436966" cy="703216"/>
          </a:xfrm>
          <a:custGeom>
            <a:rect b="b" l="l" r="r" t="t"/>
            <a:pathLst>
              <a:path extrusionOk="0" h="703216" w="3436966">
                <a:moveTo>
                  <a:pt x="105482" y="0"/>
                </a:moveTo>
                <a:lnTo>
                  <a:pt x="3331484" y="0"/>
                </a:lnTo>
                <a:cubicBezTo>
                  <a:pt x="3389740" y="0"/>
                  <a:pt x="3436966" y="47226"/>
                  <a:pt x="3436966" y="105482"/>
                </a:cubicBezTo>
                <a:lnTo>
                  <a:pt x="3436966" y="597733"/>
                </a:lnTo>
                <a:cubicBezTo>
                  <a:pt x="3436966" y="655990"/>
                  <a:pt x="3389740" y="703216"/>
                  <a:pt x="3331484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9"/>
          <p:cNvSpPr/>
          <p:nvPr/>
        </p:nvSpPr>
        <p:spPr>
          <a:xfrm>
            <a:off x="4503945" y="1863521"/>
            <a:ext cx="158224" cy="158224"/>
          </a:xfrm>
          <a:custGeom>
            <a:rect b="b" l="l" r="r" t="t"/>
            <a:pathLst>
              <a:path extrusionOk="0" h="158224" w="158224">
                <a:moveTo>
                  <a:pt x="37084" y="17306"/>
                </a:moveTo>
                <a:cubicBezTo>
                  <a:pt x="37084" y="7757"/>
                  <a:pt x="44840" y="0"/>
                  <a:pt x="54389" y="0"/>
                </a:cubicBezTo>
                <a:lnTo>
                  <a:pt x="61806" y="0"/>
                </a:lnTo>
                <a:cubicBezTo>
                  <a:pt x="67276" y="0"/>
                  <a:pt x="71695" y="4419"/>
                  <a:pt x="71695" y="9889"/>
                </a:cubicBezTo>
                <a:lnTo>
                  <a:pt x="71695" y="148335"/>
                </a:lnTo>
                <a:cubicBezTo>
                  <a:pt x="71695" y="153804"/>
                  <a:pt x="67276" y="158224"/>
                  <a:pt x="61806" y="158224"/>
                </a:cubicBezTo>
                <a:lnTo>
                  <a:pt x="51917" y="158224"/>
                </a:lnTo>
                <a:cubicBezTo>
                  <a:pt x="42708" y="158224"/>
                  <a:pt x="34951" y="151919"/>
                  <a:pt x="32757" y="143390"/>
                </a:cubicBezTo>
                <a:cubicBezTo>
                  <a:pt x="32541" y="143390"/>
                  <a:pt x="32355" y="143390"/>
                  <a:pt x="32139" y="143390"/>
                </a:cubicBezTo>
                <a:cubicBezTo>
                  <a:pt x="18480" y="143390"/>
                  <a:pt x="7417" y="132327"/>
                  <a:pt x="7417" y="118668"/>
                </a:cubicBezTo>
                <a:cubicBezTo>
                  <a:pt x="7417" y="113105"/>
                  <a:pt x="9271" y="107975"/>
                  <a:pt x="12361" y="103834"/>
                </a:cubicBezTo>
                <a:cubicBezTo>
                  <a:pt x="6366" y="99322"/>
                  <a:pt x="2472" y="92153"/>
                  <a:pt x="2472" y="84056"/>
                </a:cubicBezTo>
                <a:cubicBezTo>
                  <a:pt x="2472" y="74507"/>
                  <a:pt x="7911" y="66194"/>
                  <a:pt x="15822" y="62084"/>
                </a:cubicBezTo>
                <a:cubicBezTo>
                  <a:pt x="13628" y="58376"/>
                  <a:pt x="12361" y="54049"/>
                  <a:pt x="12361" y="49445"/>
                </a:cubicBezTo>
                <a:cubicBezTo>
                  <a:pt x="12361" y="35786"/>
                  <a:pt x="23424" y="24722"/>
                  <a:pt x="37084" y="24722"/>
                </a:cubicBezTo>
                <a:lnTo>
                  <a:pt x="37084" y="17306"/>
                </a:lnTo>
                <a:close/>
                <a:moveTo>
                  <a:pt x="121140" y="17306"/>
                </a:moveTo>
                <a:lnTo>
                  <a:pt x="121140" y="24722"/>
                </a:lnTo>
                <a:cubicBezTo>
                  <a:pt x="134799" y="24722"/>
                  <a:pt x="145862" y="35786"/>
                  <a:pt x="145862" y="49445"/>
                </a:cubicBezTo>
                <a:cubicBezTo>
                  <a:pt x="145862" y="54080"/>
                  <a:pt x="144595" y="58407"/>
                  <a:pt x="142401" y="62084"/>
                </a:cubicBezTo>
                <a:cubicBezTo>
                  <a:pt x="150343" y="66194"/>
                  <a:pt x="155751" y="74476"/>
                  <a:pt x="155751" y="84056"/>
                </a:cubicBezTo>
                <a:cubicBezTo>
                  <a:pt x="155751" y="92153"/>
                  <a:pt x="151857" y="99322"/>
                  <a:pt x="145862" y="103834"/>
                </a:cubicBezTo>
                <a:cubicBezTo>
                  <a:pt x="148953" y="107975"/>
                  <a:pt x="150807" y="113105"/>
                  <a:pt x="150807" y="118668"/>
                </a:cubicBezTo>
                <a:cubicBezTo>
                  <a:pt x="150807" y="132327"/>
                  <a:pt x="139743" y="143390"/>
                  <a:pt x="126084" y="143390"/>
                </a:cubicBezTo>
                <a:cubicBezTo>
                  <a:pt x="125868" y="143390"/>
                  <a:pt x="125683" y="143390"/>
                  <a:pt x="125466" y="143390"/>
                </a:cubicBezTo>
                <a:cubicBezTo>
                  <a:pt x="123272" y="151919"/>
                  <a:pt x="115516" y="158224"/>
                  <a:pt x="106306" y="158224"/>
                </a:cubicBezTo>
                <a:lnTo>
                  <a:pt x="96417" y="158224"/>
                </a:lnTo>
                <a:cubicBezTo>
                  <a:pt x="90948" y="158224"/>
                  <a:pt x="86528" y="153804"/>
                  <a:pt x="86528" y="148335"/>
                </a:cubicBezTo>
                <a:lnTo>
                  <a:pt x="86528" y="9889"/>
                </a:lnTo>
                <a:cubicBezTo>
                  <a:pt x="86528" y="4419"/>
                  <a:pt x="90948" y="0"/>
                  <a:pt x="96417" y="0"/>
                </a:cubicBezTo>
                <a:lnTo>
                  <a:pt x="103834" y="0"/>
                </a:lnTo>
                <a:cubicBezTo>
                  <a:pt x="113383" y="0"/>
                  <a:pt x="121140" y="7757"/>
                  <a:pt x="121140" y="17306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4750070" y="1837151"/>
            <a:ext cx="518621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9"/>
          <p:cNvSpPr/>
          <p:nvPr/>
        </p:nvSpPr>
        <p:spPr>
          <a:xfrm>
            <a:off x="4728095" y="2118437"/>
            <a:ext cx="3050198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PyTorch · ResNet-18 · BiLSTM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9"/>
          <p:cNvSpPr/>
          <p:nvPr/>
        </p:nvSpPr>
        <p:spPr>
          <a:xfrm>
            <a:off x="4376487" y="2505205"/>
            <a:ext cx="3436966" cy="703216"/>
          </a:xfrm>
          <a:custGeom>
            <a:rect b="b" l="l" r="r" t="t"/>
            <a:pathLst>
              <a:path extrusionOk="0" h="703216" w="3436966">
                <a:moveTo>
                  <a:pt x="105482" y="0"/>
                </a:moveTo>
                <a:lnTo>
                  <a:pt x="3331484" y="0"/>
                </a:lnTo>
                <a:cubicBezTo>
                  <a:pt x="3389740" y="0"/>
                  <a:pt x="3436966" y="47226"/>
                  <a:pt x="3436966" y="105482"/>
                </a:cubicBezTo>
                <a:lnTo>
                  <a:pt x="3436966" y="597733"/>
                </a:lnTo>
                <a:cubicBezTo>
                  <a:pt x="3436966" y="655990"/>
                  <a:pt x="3389740" y="703216"/>
                  <a:pt x="3331484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9"/>
          <p:cNvSpPr/>
          <p:nvPr/>
        </p:nvSpPr>
        <p:spPr>
          <a:xfrm>
            <a:off x="4503945" y="2637058"/>
            <a:ext cx="158224" cy="158224"/>
          </a:xfrm>
          <a:custGeom>
            <a:rect b="b" l="l" r="r" t="t"/>
            <a:pathLst>
              <a:path extrusionOk="0" h="158224" w="158224">
                <a:moveTo>
                  <a:pt x="20365" y="70613"/>
                </a:moveTo>
                <a:cubicBezTo>
                  <a:pt x="24475" y="41874"/>
                  <a:pt x="49229" y="19778"/>
                  <a:pt x="79112" y="19778"/>
                </a:cubicBezTo>
                <a:cubicBezTo>
                  <a:pt x="95490" y="19778"/>
                  <a:pt x="110324" y="26422"/>
                  <a:pt x="121078" y="37145"/>
                </a:cubicBezTo>
                <a:cubicBezTo>
                  <a:pt x="121140" y="37207"/>
                  <a:pt x="121202" y="37269"/>
                  <a:pt x="121263" y="37331"/>
                </a:cubicBezTo>
                <a:lnTo>
                  <a:pt x="123612" y="39556"/>
                </a:lnTo>
                <a:lnTo>
                  <a:pt x="108810" y="39556"/>
                </a:lnTo>
                <a:cubicBezTo>
                  <a:pt x="103340" y="39556"/>
                  <a:pt x="98921" y="43975"/>
                  <a:pt x="98921" y="49445"/>
                </a:cubicBezTo>
                <a:cubicBezTo>
                  <a:pt x="98921" y="54915"/>
                  <a:pt x="103340" y="59334"/>
                  <a:pt x="108810" y="59334"/>
                </a:cubicBezTo>
                <a:lnTo>
                  <a:pt x="148365" y="59334"/>
                </a:lnTo>
                <a:cubicBezTo>
                  <a:pt x="153835" y="59334"/>
                  <a:pt x="158254" y="54915"/>
                  <a:pt x="158254" y="49445"/>
                </a:cubicBezTo>
                <a:lnTo>
                  <a:pt x="158254" y="9889"/>
                </a:lnTo>
                <a:cubicBezTo>
                  <a:pt x="158254" y="4419"/>
                  <a:pt x="153835" y="0"/>
                  <a:pt x="148365" y="0"/>
                </a:cubicBezTo>
                <a:cubicBezTo>
                  <a:pt x="142896" y="0"/>
                  <a:pt x="138476" y="4419"/>
                  <a:pt x="138476" y="9889"/>
                </a:cubicBezTo>
                <a:lnTo>
                  <a:pt x="138476" y="26391"/>
                </a:lnTo>
                <a:lnTo>
                  <a:pt x="134984" y="23085"/>
                </a:lnTo>
                <a:cubicBezTo>
                  <a:pt x="120676" y="8838"/>
                  <a:pt x="100898" y="0"/>
                  <a:pt x="79112" y="0"/>
                </a:cubicBezTo>
                <a:cubicBezTo>
                  <a:pt x="39247" y="0"/>
                  <a:pt x="6273" y="29481"/>
                  <a:pt x="803" y="67832"/>
                </a:cubicBezTo>
                <a:cubicBezTo>
                  <a:pt x="31" y="73240"/>
                  <a:pt x="3770" y="78246"/>
                  <a:pt x="9178" y="79019"/>
                </a:cubicBezTo>
                <a:cubicBezTo>
                  <a:pt x="14586" y="79792"/>
                  <a:pt x="19593" y="76021"/>
                  <a:pt x="20365" y="70644"/>
                </a:cubicBezTo>
                <a:close/>
                <a:moveTo>
                  <a:pt x="157420" y="90391"/>
                </a:moveTo>
                <a:cubicBezTo>
                  <a:pt x="158193" y="84983"/>
                  <a:pt x="154422" y="79977"/>
                  <a:pt x="149045" y="79204"/>
                </a:cubicBezTo>
                <a:cubicBezTo>
                  <a:pt x="143668" y="78432"/>
                  <a:pt x="138631" y="82202"/>
                  <a:pt x="137858" y="87579"/>
                </a:cubicBezTo>
                <a:cubicBezTo>
                  <a:pt x="133748" y="116319"/>
                  <a:pt x="108995" y="138415"/>
                  <a:pt x="79112" y="138415"/>
                </a:cubicBezTo>
                <a:cubicBezTo>
                  <a:pt x="62733" y="138415"/>
                  <a:pt x="47900" y="131771"/>
                  <a:pt x="37145" y="121047"/>
                </a:cubicBezTo>
                <a:cubicBezTo>
                  <a:pt x="37084" y="120985"/>
                  <a:pt x="37022" y="120924"/>
                  <a:pt x="36960" y="120862"/>
                </a:cubicBezTo>
                <a:lnTo>
                  <a:pt x="34611" y="118637"/>
                </a:lnTo>
                <a:lnTo>
                  <a:pt x="49414" y="118637"/>
                </a:lnTo>
                <a:cubicBezTo>
                  <a:pt x="54884" y="118637"/>
                  <a:pt x="59303" y="114218"/>
                  <a:pt x="59303" y="108748"/>
                </a:cubicBezTo>
                <a:cubicBezTo>
                  <a:pt x="59303" y="103278"/>
                  <a:pt x="54884" y="98859"/>
                  <a:pt x="49414" y="98859"/>
                </a:cubicBezTo>
                <a:lnTo>
                  <a:pt x="9889" y="98890"/>
                </a:lnTo>
                <a:cubicBezTo>
                  <a:pt x="7262" y="98890"/>
                  <a:pt x="4728" y="99940"/>
                  <a:pt x="2874" y="101825"/>
                </a:cubicBezTo>
                <a:cubicBezTo>
                  <a:pt x="1020" y="103711"/>
                  <a:pt x="-31" y="106214"/>
                  <a:pt x="0" y="108871"/>
                </a:cubicBezTo>
                <a:lnTo>
                  <a:pt x="309" y="148118"/>
                </a:lnTo>
                <a:cubicBezTo>
                  <a:pt x="340" y="153588"/>
                  <a:pt x="4821" y="157976"/>
                  <a:pt x="10291" y="157914"/>
                </a:cubicBezTo>
                <a:cubicBezTo>
                  <a:pt x="15761" y="157853"/>
                  <a:pt x="20149" y="153403"/>
                  <a:pt x="20087" y="147933"/>
                </a:cubicBezTo>
                <a:lnTo>
                  <a:pt x="19963" y="132018"/>
                </a:lnTo>
                <a:lnTo>
                  <a:pt x="23270" y="135139"/>
                </a:lnTo>
                <a:cubicBezTo>
                  <a:pt x="37578" y="149385"/>
                  <a:pt x="57325" y="158224"/>
                  <a:pt x="79112" y="158224"/>
                </a:cubicBezTo>
                <a:cubicBezTo>
                  <a:pt x="118977" y="158224"/>
                  <a:pt x="151950" y="128742"/>
                  <a:pt x="157420" y="90391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4750070" y="2610688"/>
            <a:ext cx="817488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9"/>
          <p:cNvSpPr/>
          <p:nvPr/>
        </p:nvSpPr>
        <p:spPr>
          <a:xfrm>
            <a:off x="4728095" y="2891974"/>
            <a:ext cx="3050198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GloVe / Clinical Word2Vec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9"/>
          <p:cNvSpPr/>
          <p:nvPr/>
        </p:nvSpPr>
        <p:spPr>
          <a:xfrm>
            <a:off x="4376487" y="3278743"/>
            <a:ext cx="3436966" cy="703216"/>
          </a:xfrm>
          <a:custGeom>
            <a:rect b="b" l="l" r="r" t="t"/>
            <a:pathLst>
              <a:path extrusionOk="0" h="703216" w="3436966">
                <a:moveTo>
                  <a:pt x="105482" y="0"/>
                </a:moveTo>
                <a:lnTo>
                  <a:pt x="3331484" y="0"/>
                </a:lnTo>
                <a:cubicBezTo>
                  <a:pt x="3389740" y="0"/>
                  <a:pt x="3436966" y="47226"/>
                  <a:pt x="3436966" y="105482"/>
                </a:cubicBezTo>
                <a:lnTo>
                  <a:pt x="3436966" y="597733"/>
                </a:lnTo>
                <a:cubicBezTo>
                  <a:pt x="3436966" y="655990"/>
                  <a:pt x="3389740" y="703216"/>
                  <a:pt x="3331484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9"/>
          <p:cNvSpPr/>
          <p:nvPr/>
        </p:nvSpPr>
        <p:spPr>
          <a:xfrm>
            <a:off x="4484167" y="3410596"/>
            <a:ext cx="197779" cy="158224"/>
          </a:xfrm>
          <a:custGeom>
            <a:rect b="b" l="l" r="r" t="t"/>
            <a:pathLst>
              <a:path extrusionOk="0" h="158224" w="197779">
                <a:moveTo>
                  <a:pt x="108779" y="0"/>
                </a:moveTo>
                <a:cubicBezTo>
                  <a:pt x="108779" y="-5470"/>
                  <a:pt x="104360" y="-9889"/>
                  <a:pt x="98890" y="-9889"/>
                </a:cubicBezTo>
                <a:cubicBezTo>
                  <a:pt x="93420" y="-9889"/>
                  <a:pt x="89001" y="-5470"/>
                  <a:pt x="89001" y="0"/>
                </a:cubicBezTo>
                <a:lnTo>
                  <a:pt x="89001" y="19778"/>
                </a:lnTo>
                <a:lnTo>
                  <a:pt x="59334" y="19778"/>
                </a:lnTo>
                <a:cubicBezTo>
                  <a:pt x="42955" y="19778"/>
                  <a:pt x="29667" y="33066"/>
                  <a:pt x="29667" y="49445"/>
                </a:cubicBezTo>
                <a:lnTo>
                  <a:pt x="29667" y="118668"/>
                </a:lnTo>
                <a:cubicBezTo>
                  <a:pt x="29667" y="135046"/>
                  <a:pt x="42955" y="148335"/>
                  <a:pt x="59334" y="148335"/>
                </a:cubicBezTo>
                <a:lnTo>
                  <a:pt x="138446" y="148335"/>
                </a:lnTo>
                <a:cubicBezTo>
                  <a:pt x="154824" y="148335"/>
                  <a:pt x="168112" y="135046"/>
                  <a:pt x="168112" y="118668"/>
                </a:cubicBezTo>
                <a:lnTo>
                  <a:pt x="168112" y="49445"/>
                </a:lnTo>
                <a:cubicBezTo>
                  <a:pt x="168112" y="33066"/>
                  <a:pt x="154824" y="19778"/>
                  <a:pt x="138446" y="19778"/>
                </a:cubicBezTo>
                <a:lnTo>
                  <a:pt x="108779" y="19778"/>
                </a:lnTo>
                <a:lnTo>
                  <a:pt x="108779" y="0"/>
                </a:lnTo>
                <a:close/>
                <a:moveTo>
                  <a:pt x="49445" y="113723"/>
                </a:moveTo>
                <a:cubicBezTo>
                  <a:pt x="49445" y="109613"/>
                  <a:pt x="52751" y="106306"/>
                  <a:pt x="56862" y="106306"/>
                </a:cubicBezTo>
                <a:lnTo>
                  <a:pt x="66751" y="106306"/>
                </a:lnTo>
                <a:cubicBezTo>
                  <a:pt x="70861" y="106306"/>
                  <a:pt x="74167" y="109613"/>
                  <a:pt x="74167" y="113723"/>
                </a:cubicBezTo>
                <a:cubicBezTo>
                  <a:pt x="74167" y="117833"/>
                  <a:pt x="70861" y="121140"/>
                  <a:pt x="66751" y="121140"/>
                </a:cubicBezTo>
                <a:lnTo>
                  <a:pt x="56862" y="121140"/>
                </a:lnTo>
                <a:cubicBezTo>
                  <a:pt x="52751" y="121140"/>
                  <a:pt x="49445" y="117833"/>
                  <a:pt x="49445" y="113723"/>
                </a:cubicBezTo>
                <a:close/>
                <a:moveTo>
                  <a:pt x="86528" y="113723"/>
                </a:moveTo>
                <a:cubicBezTo>
                  <a:pt x="86528" y="109613"/>
                  <a:pt x="89835" y="106306"/>
                  <a:pt x="93945" y="106306"/>
                </a:cubicBezTo>
                <a:lnTo>
                  <a:pt x="103834" y="106306"/>
                </a:lnTo>
                <a:cubicBezTo>
                  <a:pt x="107944" y="106306"/>
                  <a:pt x="111251" y="109613"/>
                  <a:pt x="111251" y="113723"/>
                </a:cubicBezTo>
                <a:cubicBezTo>
                  <a:pt x="111251" y="117833"/>
                  <a:pt x="107944" y="121140"/>
                  <a:pt x="103834" y="121140"/>
                </a:cubicBezTo>
                <a:lnTo>
                  <a:pt x="93945" y="121140"/>
                </a:lnTo>
                <a:cubicBezTo>
                  <a:pt x="89835" y="121140"/>
                  <a:pt x="86528" y="117833"/>
                  <a:pt x="86528" y="113723"/>
                </a:cubicBezTo>
                <a:close/>
                <a:moveTo>
                  <a:pt x="123612" y="113723"/>
                </a:moveTo>
                <a:cubicBezTo>
                  <a:pt x="123612" y="109613"/>
                  <a:pt x="126919" y="106306"/>
                  <a:pt x="131029" y="106306"/>
                </a:cubicBezTo>
                <a:lnTo>
                  <a:pt x="140918" y="106306"/>
                </a:lnTo>
                <a:cubicBezTo>
                  <a:pt x="145028" y="106306"/>
                  <a:pt x="148335" y="109613"/>
                  <a:pt x="148335" y="113723"/>
                </a:cubicBezTo>
                <a:cubicBezTo>
                  <a:pt x="148335" y="117833"/>
                  <a:pt x="145028" y="121140"/>
                  <a:pt x="140918" y="121140"/>
                </a:cubicBezTo>
                <a:lnTo>
                  <a:pt x="131029" y="121140"/>
                </a:lnTo>
                <a:cubicBezTo>
                  <a:pt x="126919" y="121140"/>
                  <a:pt x="123612" y="117833"/>
                  <a:pt x="123612" y="113723"/>
                </a:cubicBezTo>
                <a:close/>
                <a:moveTo>
                  <a:pt x="69223" y="54389"/>
                </a:moveTo>
                <a:cubicBezTo>
                  <a:pt x="77410" y="54389"/>
                  <a:pt x="84056" y="61036"/>
                  <a:pt x="84056" y="69223"/>
                </a:cubicBezTo>
                <a:cubicBezTo>
                  <a:pt x="84056" y="77410"/>
                  <a:pt x="77410" y="84056"/>
                  <a:pt x="69223" y="84056"/>
                </a:cubicBezTo>
                <a:cubicBezTo>
                  <a:pt x="61036" y="84056"/>
                  <a:pt x="54389" y="77410"/>
                  <a:pt x="54389" y="69223"/>
                </a:cubicBezTo>
                <a:cubicBezTo>
                  <a:pt x="54389" y="61036"/>
                  <a:pt x="61036" y="54389"/>
                  <a:pt x="69223" y="54389"/>
                </a:cubicBezTo>
                <a:close/>
                <a:moveTo>
                  <a:pt x="113723" y="69223"/>
                </a:moveTo>
                <a:cubicBezTo>
                  <a:pt x="113723" y="61036"/>
                  <a:pt x="120370" y="54389"/>
                  <a:pt x="128557" y="54389"/>
                </a:cubicBezTo>
                <a:cubicBezTo>
                  <a:pt x="136743" y="54389"/>
                  <a:pt x="143390" y="61036"/>
                  <a:pt x="143390" y="69223"/>
                </a:cubicBezTo>
                <a:cubicBezTo>
                  <a:pt x="143390" y="77410"/>
                  <a:pt x="136743" y="84056"/>
                  <a:pt x="128557" y="84056"/>
                </a:cubicBezTo>
                <a:cubicBezTo>
                  <a:pt x="120370" y="84056"/>
                  <a:pt x="113723" y="77410"/>
                  <a:pt x="113723" y="69223"/>
                </a:cubicBezTo>
                <a:close/>
                <a:moveTo>
                  <a:pt x="19778" y="69223"/>
                </a:moveTo>
                <a:cubicBezTo>
                  <a:pt x="19778" y="63753"/>
                  <a:pt x="15359" y="59334"/>
                  <a:pt x="9889" y="59334"/>
                </a:cubicBezTo>
                <a:cubicBezTo>
                  <a:pt x="4419" y="59334"/>
                  <a:pt x="0" y="63753"/>
                  <a:pt x="0" y="69223"/>
                </a:cubicBezTo>
                <a:lnTo>
                  <a:pt x="0" y="98890"/>
                </a:lnTo>
                <a:cubicBezTo>
                  <a:pt x="0" y="104360"/>
                  <a:pt x="4419" y="108779"/>
                  <a:pt x="9889" y="108779"/>
                </a:cubicBezTo>
                <a:cubicBezTo>
                  <a:pt x="15359" y="108779"/>
                  <a:pt x="19778" y="104360"/>
                  <a:pt x="19778" y="98890"/>
                </a:cubicBezTo>
                <a:lnTo>
                  <a:pt x="19778" y="69223"/>
                </a:lnTo>
                <a:close/>
                <a:moveTo>
                  <a:pt x="187890" y="59334"/>
                </a:moveTo>
                <a:cubicBezTo>
                  <a:pt x="182421" y="59334"/>
                  <a:pt x="178001" y="63753"/>
                  <a:pt x="178001" y="69223"/>
                </a:cubicBezTo>
                <a:lnTo>
                  <a:pt x="178001" y="98890"/>
                </a:lnTo>
                <a:cubicBezTo>
                  <a:pt x="178001" y="104360"/>
                  <a:pt x="182421" y="108779"/>
                  <a:pt x="187890" y="108779"/>
                </a:cubicBezTo>
                <a:cubicBezTo>
                  <a:pt x="193360" y="108779"/>
                  <a:pt x="197779" y="104360"/>
                  <a:pt x="197779" y="98890"/>
                </a:cubicBezTo>
                <a:lnTo>
                  <a:pt x="197779" y="69223"/>
                </a:lnTo>
                <a:cubicBezTo>
                  <a:pt x="197779" y="63753"/>
                  <a:pt x="193360" y="59334"/>
                  <a:pt x="187890" y="59334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4750070" y="3384225"/>
            <a:ext cx="483461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4728095" y="3665511"/>
            <a:ext cx="3050198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LangChain · Gemini 2.5 Flash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4376487" y="4052280"/>
            <a:ext cx="3436966" cy="703216"/>
          </a:xfrm>
          <a:custGeom>
            <a:rect b="b" l="l" r="r" t="t"/>
            <a:pathLst>
              <a:path extrusionOk="0" h="703216" w="3436966">
                <a:moveTo>
                  <a:pt x="105482" y="0"/>
                </a:moveTo>
                <a:lnTo>
                  <a:pt x="3331484" y="0"/>
                </a:lnTo>
                <a:cubicBezTo>
                  <a:pt x="3389740" y="0"/>
                  <a:pt x="3436966" y="47226"/>
                  <a:pt x="3436966" y="105482"/>
                </a:cubicBezTo>
                <a:lnTo>
                  <a:pt x="3436966" y="597733"/>
                </a:lnTo>
                <a:cubicBezTo>
                  <a:pt x="3436966" y="655990"/>
                  <a:pt x="3389740" y="703216"/>
                  <a:pt x="3331484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4503945" y="4184133"/>
            <a:ext cx="158224" cy="158224"/>
          </a:xfrm>
          <a:custGeom>
            <a:rect b="b" l="l" r="r" t="t"/>
            <a:pathLst>
              <a:path extrusionOk="0" h="158224" w="158224">
                <a:moveTo>
                  <a:pt x="19778" y="9889"/>
                </a:moveTo>
                <a:cubicBezTo>
                  <a:pt x="8869" y="9889"/>
                  <a:pt x="0" y="18758"/>
                  <a:pt x="0" y="29667"/>
                </a:cubicBezTo>
                <a:lnTo>
                  <a:pt x="0" y="108779"/>
                </a:lnTo>
                <a:cubicBezTo>
                  <a:pt x="0" y="119687"/>
                  <a:pt x="8869" y="128557"/>
                  <a:pt x="19778" y="128557"/>
                </a:cubicBezTo>
                <a:lnTo>
                  <a:pt x="64278" y="128557"/>
                </a:lnTo>
                <a:lnTo>
                  <a:pt x="59334" y="143390"/>
                </a:lnTo>
                <a:lnTo>
                  <a:pt x="37084" y="143390"/>
                </a:lnTo>
                <a:cubicBezTo>
                  <a:pt x="32974" y="143390"/>
                  <a:pt x="29667" y="146697"/>
                  <a:pt x="29667" y="150807"/>
                </a:cubicBezTo>
                <a:cubicBezTo>
                  <a:pt x="29667" y="154917"/>
                  <a:pt x="32974" y="158224"/>
                  <a:pt x="37084" y="158224"/>
                </a:cubicBezTo>
                <a:lnTo>
                  <a:pt x="121140" y="158224"/>
                </a:lnTo>
                <a:cubicBezTo>
                  <a:pt x="125250" y="158224"/>
                  <a:pt x="128557" y="154917"/>
                  <a:pt x="128557" y="150807"/>
                </a:cubicBezTo>
                <a:cubicBezTo>
                  <a:pt x="128557" y="146697"/>
                  <a:pt x="125250" y="143390"/>
                  <a:pt x="121140" y="143390"/>
                </a:cubicBezTo>
                <a:lnTo>
                  <a:pt x="98890" y="143390"/>
                </a:lnTo>
                <a:lnTo>
                  <a:pt x="93945" y="128557"/>
                </a:lnTo>
                <a:lnTo>
                  <a:pt x="138446" y="128557"/>
                </a:lnTo>
                <a:cubicBezTo>
                  <a:pt x="149354" y="128557"/>
                  <a:pt x="158224" y="119687"/>
                  <a:pt x="158224" y="108779"/>
                </a:cubicBezTo>
                <a:lnTo>
                  <a:pt x="158224" y="29667"/>
                </a:lnTo>
                <a:cubicBezTo>
                  <a:pt x="158224" y="18758"/>
                  <a:pt x="149354" y="9889"/>
                  <a:pt x="138446" y="9889"/>
                </a:cubicBezTo>
                <a:lnTo>
                  <a:pt x="19778" y="9889"/>
                </a:lnTo>
                <a:close/>
                <a:moveTo>
                  <a:pt x="29667" y="29667"/>
                </a:moveTo>
                <a:lnTo>
                  <a:pt x="128557" y="29667"/>
                </a:lnTo>
                <a:cubicBezTo>
                  <a:pt x="134026" y="29667"/>
                  <a:pt x="138446" y="34086"/>
                  <a:pt x="138446" y="39556"/>
                </a:cubicBezTo>
                <a:lnTo>
                  <a:pt x="138446" y="89001"/>
                </a:lnTo>
                <a:cubicBezTo>
                  <a:pt x="138446" y="94471"/>
                  <a:pt x="134026" y="98890"/>
                  <a:pt x="128557" y="98890"/>
                </a:cubicBezTo>
                <a:lnTo>
                  <a:pt x="29667" y="98890"/>
                </a:lnTo>
                <a:cubicBezTo>
                  <a:pt x="24197" y="98890"/>
                  <a:pt x="19778" y="94471"/>
                  <a:pt x="19778" y="89001"/>
                </a:cubicBezTo>
                <a:lnTo>
                  <a:pt x="19778" y="39556"/>
                </a:lnTo>
                <a:cubicBezTo>
                  <a:pt x="19778" y="34086"/>
                  <a:pt x="24197" y="29667"/>
                  <a:pt x="29667" y="29667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4750070" y="4157762"/>
            <a:ext cx="659265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 App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4728095" y="4439048"/>
            <a:ext cx="3050198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React based Front end with Fast API backend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9"/>
          <p:cNvSpPr/>
          <p:nvPr/>
        </p:nvSpPr>
        <p:spPr>
          <a:xfrm>
            <a:off x="4376487" y="4825817"/>
            <a:ext cx="3436966" cy="703216"/>
          </a:xfrm>
          <a:custGeom>
            <a:rect b="b" l="l" r="r" t="t"/>
            <a:pathLst>
              <a:path extrusionOk="0" h="703216" w="3436966">
                <a:moveTo>
                  <a:pt x="105482" y="0"/>
                </a:moveTo>
                <a:lnTo>
                  <a:pt x="3331484" y="0"/>
                </a:lnTo>
                <a:cubicBezTo>
                  <a:pt x="3389740" y="0"/>
                  <a:pt x="3436966" y="47226"/>
                  <a:pt x="3436966" y="105482"/>
                </a:cubicBezTo>
                <a:lnTo>
                  <a:pt x="3436966" y="597733"/>
                </a:lnTo>
                <a:cubicBezTo>
                  <a:pt x="3436966" y="655990"/>
                  <a:pt x="3389740" y="703216"/>
                  <a:pt x="3331484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9"/>
          <p:cNvSpPr/>
          <p:nvPr/>
        </p:nvSpPr>
        <p:spPr>
          <a:xfrm>
            <a:off x="4513834" y="4957670"/>
            <a:ext cx="138446" cy="158224"/>
          </a:xfrm>
          <a:custGeom>
            <a:rect b="b" l="l" r="r" t="t"/>
            <a:pathLst>
              <a:path extrusionOk="0" h="158224" w="138446">
                <a:moveTo>
                  <a:pt x="138446" y="63598"/>
                </a:moveTo>
                <a:cubicBezTo>
                  <a:pt x="133872" y="66627"/>
                  <a:pt x="128618" y="69068"/>
                  <a:pt x="123149" y="71015"/>
                </a:cubicBezTo>
                <a:cubicBezTo>
                  <a:pt x="108624" y="76207"/>
                  <a:pt x="89557" y="79112"/>
                  <a:pt x="69223" y="79112"/>
                </a:cubicBezTo>
                <a:cubicBezTo>
                  <a:pt x="48889" y="79112"/>
                  <a:pt x="29791" y="76176"/>
                  <a:pt x="15297" y="71015"/>
                </a:cubicBezTo>
                <a:cubicBezTo>
                  <a:pt x="9858" y="69068"/>
                  <a:pt x="4574" y="66627"/>
                  <a:pt x="0" y="63598"/>
                </a:cubicBezTo>
                <a:lnTo>
                  <a:pt x="0" y="89001"/>
                </a:lnTo>
                <a:cubicBezTo>
                  <a:pt x="0" y="102660"/>
                  <a:pt x="30996" y="113723"/>
                  <a:pt x="69223" y="113723"/>
                </a:cubicBezTo>
                <a:cubicBezTo>
                  <a:pt x="107450" y="113723"/>
                  <a:pt x="138446" y="102660"/>
                  <a:pt x="138446" y="89001"/>
                </a:cubicBezTo>
                <a:lnTo>
                  <a:pt x="138446" y="63598"/>
                </a:lnTo>
                <a:close/>
                <a:moveTo>
                  <a:pt x="138446" y="39556"/>
                </a:moveTo>
                <a:lnTo>
                  <a:pt x="138446" y="24722"/>
                </a:lnTo>
                <a:cubicBezTo>
                  <a:pt x="138446" y="11063"/>
                  <a:pt x="107450" y="0"/>
                  <a:pt x="69223" y="0"/>
                </a:cubicBezTo>
                <a:cubicBezTo>
                  <a:pt x="30996" y="0"/>
                  <a:pt x="0" y="11063"/>
                  <a:pt x="0" y="24722"/>
                </a:cubicBezTo>
                <a:lnTo>
                  <a:pt x="0" y="39556"/>
                </a:lnTo>
                <a:cubicBezTo>
                  <a:pt x="0" y="53215"/>
                  <a:pt x="30996" y="64278"/>
                  <a:pt x="69223" y="64278"/>
                </a:cubicBezTo>
                <a:cubicBezTo>
                  <a:pt x="107450" y="64278"/>
                  <a:pt x="138446" y="53215"/>
                  <a:pt x="138446" y="39556"/>
                </a:cubicBezTo>
                <a:close/>
                <a:moveTo>
                  <a:pt x="123149" y="120460"/>
                </a:moveTo>
                <a:cubicBezTo>
                  <a:pt x="108655" y="125621"/>
                  <a:pt x="89588" y="128557"/>
                  <a:pt x="69223" y="128557"/>
                </a:cubicBezTo>
                <a:cubicBezTo>
                  <a:pt x="48858" y="128557"/>
                  <a:pt x="29791" y="125621"/>
                  <a:pt x="15297" y="120460"/>
                </a:cubicBezTo>
                <a:cubicBezTo>
                  <a:pt x="9858" y="118513"/>
                  <a:pt x="4574" y="116072"/>
                  <a:pt x="0" y="113043"/>
                </a:cubicBezTo>
                <a:lnTo>
                  <a:pt x="0" y="133501"/>
                </a:lnTo>
                <a:cubicBezTo>
                  <a:pt x="0" y="147160"/>
                  <a:pt x="30996" y="158224"/>
                  <a:pt x="69223" y="158224"/>
                </a:cubicBezTo>
                <a:cubicBezTo>
                  <a:pt x="107450" y="158224"/>
                  <a:pt x="138446" y="147160"/>
                  <a:pt x="138446" y="133501"/>
                </a:cubicBezTo>
                <a:lnTo>
                  <a:pt x="138446" y="113043"/>
                </a:lnTo>
                <a:cubicBezTo>
                  <a:pt x="133872" y="116072"/>
                  <a:pt x="128618" y="118513"/>
                  <a:pt x="123149" y="12046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4750070" y="4931299"/>
            <a:ext cx="536202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4728095" y="5212585"/>
            <a:ext cx="3050198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IU X-Ray (Kaggle)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9"/>
          <p:cNvSpPr/>
          <p:nvPr/>
        </p:nvSpPr>
        <p:spPr>
          <a:xfrm>
            <a:off x="4376487" y="5599354"/>
            <a:ext cx="3436966" cy="703216"/>
          </a:xfrm>
          <a:custGeom>
            <a:rect b="b" l="l" r="r" t="t"/>
            <a:pathLst>
              <a:path extrusionOk="0" h="703216" w="3436966">
                <a:moveTo>
                  <a:pt x="105482" y="0"/>
                </a:moveTo>
                <a:lnTo>
                  <a:pt x="3331484" y="0"/>
                </a:lnTo>
                <a:cubicBezTo>
                  <a:pt x="3389740" y="0"/>
                  <a:pt x="3436966" y="47226"/>
                  <a:pt x="3436966" y="105482"/>
                </a:cubicBezTo>
                <a:lnTo>
                  <a:pt x="3436966" y="597733"/>
                </a:lnTo>
                <a:cubicBezTo>
                  <a:pt x="3436966" y="655990"/>
                  <a:pt x="3389740" y="703216"/>
                  <a:pt x="3331484" y="703216"/>
                </a:cubicBezTo>
                <a:lnTo>
                  <a:pt x="105482" y="703216"/>
                </a:lnTo>
                <a:cubicBezTo>
                  <a:pt x="47265" y="703216"/>
                  <a:pt x="0" y="655951"/>
                  <a:pt x="0" y="597733"/>
                </a:cubicBezTo>
                <a:lnTo>
                  <a:pt x="0" y="105482"/>
                </a:lnTo>
                <a:cubicBezTo>
                  <a:pt x="0" y="47265"/>
                  <a:pt x="47265" y="0"/>
                  <a:pt x="1054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4503945" y="5731207"/>
            <a:ext cx="158224" cy="158224"/>
          </a:xfrm>
          <a:custGeom>
            <a:rect b="b" l="l" r="r" t="t"/>
            <a:pathLst>
              <a:path extrusionOk="0" h="158224" w="158224">
                <a:moveTo>
                  <a:pt x="19778" y="19778"/>
                </a:moveTo>
                <a:cubicBezTo>
                  <a:pt x="19778" y="14308"/>
                  <a:pt x="15359" y="9889"/>
                  <a:pt x="9889" y="9889"/>
                </a:cubicBezTo>
                <a:cubicBezTo>
                  <a:pt x="4419" y="9889"/>
                  <a:pt x="0" y="14308"/>
                  <a:pt x="0" y="19778"/>
                </a:cubicBezTo>
                <a:lnTo>
                  <a:pt x="0" y="123612"/>
                </a:lnTo>
                <a:cubicBezTo>
                  <a:pt x="0" y="137271"/>
                  <a:pt x="11063" y="148335"/>
                  <a:pt x="24722" y="148335"/>
                </a:cubicBezTo>
                <a:lnTo>
                  <a:pt x="148335" y="148335"/>
                </a:lnTo>
                <a:cubicBezTo>
                  <a:pt x="153804" y="148335"/>
                  <a:pt x="158224" y="143915"/>
                  <a:pt x="158224" y="138446"/>
                </a:cubicBezTo>
                <a:cubicBezTo>
                  <a:pt x="158224" y="132976"/>
                  <a:pt x="153804" y="128557"/>
                  <a:pt x="148335" y="128557"/>
                </a:cubicBezTo>
                <a:lnTo>
                  <a:pt x="24722" y="128557"/>
                </a:lnTo>
                <a:cubicBezTo>
                  <a:pt x="22003" y="128557"/>
                  <a:pt x="19778" y="126332"/>
                  <a:pt x="19778" y="123612"/>
                </a:cubicBezTo>
                <a:lnTo>
                  <a:pt x="19778" y="19778"/>
                </a:lnTo>
                <a:close/>
                <a:moveTo>
                  <a:pt x="145430" y="46540"/>
                </a:moveTo>
                <a:cubicBezTo>
                  <a:pt x="149293" y="42677"/>
                  <a:pt x="149293" y="36404"/>
                  <a:pt x="145430" y="32541"/>
                </a:cubicBezTo>
                <a:cubicBezTo>
                  <a:pt x="141567" y="28678"/>
                  <a:pt x="135293" y="28678"/>
                  <a:pt x="131431" y="32541"/>
                </a:cubicBezTo>
                <a:lnTo>
                  <a:pt x="98890" y="65113"/>
                </a:lnTo>
                <a:lnTo>
                  <a:pt x="81151" y="47405"/>
                </a:lnTo>
                <a:cubicBezTo>
                  <a:pt x="77288" y="43542"/>
                  <a:pt x="71015" y="43542"/>
                  <a:pt x="67152" y="47405"/>
                </a:cubicBezTo>
                <a:lnTo>
                  <a:pt x="37485" y="77072"/>
                </a:lnTo>
                <a:cubicBezTo>
                  <a:pt x="33622" y="80935"/>
                  <a:pt x="33622" y="87208"/>
                  <a:pt x="37485" y="91071"/>
                </a:cubicBezTo>
                <a:cubicBezTo>
                  <a:pt x="41348" y="94934"/>
                  <a:pt x="47622" y="94934"/>
                  <a:pt x="51484" y="91071"/>
                </a:cubicBezTo>
                <a:lnTo>
                  <a:pt x="74167" y="68388"/>
                </a:lnTo>
                <a:lnTo>
                  <a:pt x="91906" y="86127"/>
                </a:lnTo>
                <a:cubicBezTo>
                  <a:pt x="95768" y="89990"/>
                  <a:pt x="102042" y="89990"/>
                  <a:pt x="105905" y="86127"/>
                </a:cubicBezTo>
                <a:lnTo>
                  <a:pt x="145461" y="46571"/>
                </a:ln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9"/>
          <p:cNvSpPr/>
          <p:nvPr/>
        </p:nvSpPr>
        <p:spPr>
          <a:xfrm>
            <a:off x="4750070" y="5704836"/>
            <a:ext cx="694425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9"/>
          <p:cNvSpPr/>
          <p:nvPr/>
        </p:nvSpPr>
        <p:spPr>
          <a:xfrm>
            <a:off x="4728095" y="5986123"/>
            <a:ext cx="3050198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BLEU · ROUGE · F1 · Human-HITL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9"/>
          <p:cNvSpPr/>
          <p:nvPr/>
        </p:nvSpPr>
        <p:spPr>
          <a:xfrm>
            <a:off x="8106963" y="1235022"/>
            <a:ext cx="3727043" cy="5616934"/>
          </a:xfrm>
          <a:custGeom>
            <a:rect b="b" l="l" r="r" t="t"/>
            <a:pathLst>
              <a:path extrusionOk="0" h="5616934" w="3727043">
                <a:moveTo>
                  <a:pt x="140659" y="0"/>
                </a:moveTo>
                <a:lnTo>
                  <a:pt x="3586384" y="0"/>
                </a:lnTo>
                <a:cubicBezTo>
                  <a:pt x="3664016" y="0"/>
                  <a:pt x="3727043" y="63027"/>
                  <a:pt x="3727043" y="140659"/>
                </a:cubicBezTo>
                <a:lnTo>
                  <a:pt x="3727043" y="5476276"/>
                </a:lnTo>
                <a:cubicBezTo>
                  <a:pt x="3727043" y="5553959"/>
                  <a:pt x="3664068" y="5616934"/>
                  <a:pt x="3586384" y="5616934"/>
                </a:cubicBezTo>
                <a:lnTo>
                  <a:pt x="140659" y="5616934"/>
                </a:lnTo>
                <a:cubicBezTo>
                  <a:pt x="63027" y="5616934"/>
                  <a:pt x="0" y="5553907"/>
                  <a:pt x="0" y="5476276"/>
                </a:cubicBezTo>
                <a:lnTo>
                  <a:pt x="0" y="140659"/>
                </a:lnTo>
                <a:cubicBezTo>
                  <a:pt x="0" y="63027"/>
                  <a:pt x="63027" y="0"/>
                  <a:pt x="140659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2700">
            <a:solidFill>
              <a:srgbClr val="4A908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9"/>
          <p:cNvSpPr/>
          <p:nvPr/>
        </p:nvSpPr>
        <p:spPr>
          <a:xfrm>
            <a:off x="8273977" y="1415221"/>
            <a:ext cx="175804" cy="175804"/>
          </a:xfrm>
          <a:custGeom>
            <a:rect b="b" l="l" r="r" t="t"/>
            <a:pathLst>
              <a:path extrusionOk="0" h="175804" w="175804">
                <a:moveTo>
                  <a:pt x="45943" y="12464"/>
                </a:moveTo>
                <a:cubicBezTo>
                  <a:pt x="49685" y="15074"/>
                  <a:pt x="50578" y="20224"/>
                  <a:pt x="47968" y="23933"/>
                </a:cubicBezTo>
                <a:lnTo>
                  <a:pt x="28740" y="51402"/>
                </a:lnTo>
                <a:cubicBezTo>
                  <a:pt x="27332" y="53394"/>
                  <a:pt x="25134" y="54664"/>
                  <a:pt x="22697" y="54870"/>
                </a:cubicBezTo>
                <a:cubicBezTo>
                  <a:pt x="20259" y="55076"/>
                  <a:pt x="17855" y="54252"/>
                  <a:pt x="16138" y="52535"/>
                </a:cubicBezTo>
                <a:lnTo>
                  <a:pt x="2404" y="38800"/>
                </a:lnTo>
                <a:cubicBezTo>
                  <a:pt x="-790" y="35573"/>
                  <a:pt x="-790" y="30354"/>
                  <a:pt x="2404" y="27126"/>
                </a:cubicBezTo>
                <a:cubicBezTo>
                  <a:pt x="5597" y="23898"/>
                  <a:pt x="10850" y="23933"/>
                  <a:pt x="14078" y="27126"/>
                </a:cubicBezTo>
                <a:lnTo>
                  <a:pt x="20877" y="33925"/>
                </a:lnTo>
                <a:lnTo>
                  <a:pt x="34474" y="14490"/>
                </a:lnTo>
                <a:cubicBezTo>
                  <a:pt x="37084" y="10747"/>
                  <a:pt x="42234" y="9855"/>
                  <a:pt x="45943" y="12464"/>
                </a:cubicBezTo>
                <a:close/>
                <a:moveTo>
                  <a:pt x="45943" y="67403"/>
                </a:moveTo>
                <a:cubicBezTo>
                  <a:pt x="49685" y="70013"/>
                  <a:pt x="50578" y="75163"/>
                  <a:pt x="47968" y="78871"/>
                </a:cubicBezTo>
                <a:lnTo>
                  <a:pt x="28740" y="106341"/>
                </a:lnTo>
                <a:cubicBezTo>
                  <a:pt x="27332" y="108332"/>
                  <a:pt x="25134" y="109603"/>
                  <a:pt x="22697" y="109809"/>
                </a:cubicBezTo>
                <a:cubicBezTo>
                  <a:pt x="20259" y="110015"/>
                  <a:pt x="17855" y="109191"/>
                  <a:pt x="16138" y="107474"/>
                </a:cubicBezTo>
                <a:lnTo>
                  <a:pt x="2404" y="93739"/>
                </a:lnTo>
                <a:cubicBezTo>
                  <a:pt x="-824" y="90512"/>
                  <a:pt x="-824" y="85292"/>
                  <a:pt x="2404" y="82099"/>
                </a:cubicBezTo>
                <a:cubicBezTo>
                  <a:pt x="5631" y="78906"/>
                  <a:pt x="10850" y="78871"/>
                  <a:pt x="14044" y="82099"/>
                </a:cubicBezTo>
                <a:lnTo>
                  <a:pt x="20842" y="88898"/>
                </a:lnTo>
                <a:lnTo>
                  <a:pt x="34440" y="69463"/>
                </a:lnTo>
                <a:cubicBezTo>
                  <a:pt x="37049" y="65720"/>
                  <a:pt x="42200" y="64828"/>
                  <a:pt x="45908" y="67437"/>
                </a:cubicBezTo>
                <a:close/>
                <a:moveTo>
                  <a:pt x="76914" y="32963"/>
                </a:moveTo>
                <a:cubicBezTo>
                  <a:pt x="76914" y="26886"/>
                  <a:pt x="81824" y="21975"/>
                  <a:pt x="87902" y="21975"/>
                </a:cubicBezTo>
                <a:lnTo>
                  <a:pt x="164816" y="21975"/>
                </a:lnTo>
                <a:cubicBezTo>
                  <a:pt x="170894" y="21975"/>
                  <a:pt x="175804" y="26886"/>
                  <a:pt x="175804" y="32963"/>
                </a:cubicBezTo>
                <a:cubicBezTo>
                  <a:pt x="175804" y="39041"/>
                  <a:pt x="170894" y="43951"/>
                  <a:pt x="164816" y="43951"/>
                </a:cubicBezTo>
                <a:lnTo>
                  <a:pt x="87902" y="43951"/>
                </a:lnTo>
                <a:cubicBezTo>
                  <a:pt x="81824" y="43951"/>
                  <a:pt x="76914" y="39041"/>
                  <a:pt x="76914" y="32963"/>
                </a:cubicBezTo>
                <a:close/>
                <a:moveTo>
                  <a:pt x="76914" y="87902"/>
                </a:moveTo>
                <a:cubicBezTo>
                  <a:pt x="76914" y="81824"/>
                  <a:pt x="81824" y="76914"/>
                  <a:pt x="87902" y="76914"/>
                </a:cubicBezTo>
                <a:lnTo>
                  <a:pt x="164816" y="76914"/>
                </a:lnTo>
                <a:cubicBezTo>
                  <a:pt x="170894" y="76914"/>
                  <a:pt x="175804" y="81824"/>
                  <a:pt x="175804" y="87902"/>
                </a:cubicBezTo>
                <a:cubicBezTo>
                  <a:pt x="175804" y="93980"/>
                  <a:pt x="170894" y="98890"/>
                  <a:pt x="164816" y="98890"/>
                </a:cubicBezTo>
                <a:lnTo>
                  <a:pt x="87902" y="98890"/>
                </a:lnTo>
                <a:cubicBezTo>
                  <a:pt x="81824" y="98890"/>
                  <a:pt x="76914" y="93980"/>
                  <a:pt x="76914" y="87902"/>
                </a:cubicBezTo>
                <a:close/>
                <a:moveTo>
                  <a:pt x="54939" y="142841"/>
                </a:moveTo>
                <a:cubicBezTo>
                  <a:pt x="54939" y="136763"/>
                  <a:pt x="59849" y="131853"/>
                  <a:pt x="65926" y="131853"/>
                </a:cubicBezTo>
                <a:lnTo>
                  <a:pt x="164816" y="131853"/>
                </a:lnTo>
                <a:cubicBezTo>
                  <a:pt x="170894" y="131853"/>
                  <a:pt x="175804" y="136763"/>
                  <a:pt x="175804" y="142841"/>
                </a:cubicBezTo>
                <a:cubicBezTo>
                  <a:pt x="175804" y="148918"/>
                  <a:pt x="170894" y="153828"/>
                  <a:pt x="164816" y="153828"/>
                </a:cubicBezTo>
                <a:lnTo>
                  <a:pt x="65926" y="153828"/>
                </a:lnTo>
                <a:cubicBezTo>
                  <a:pt x="59849" y="153828"/>
                  <a:pt x="54939" y="148918"/>
                  <a:pt x="54939" y="142841"/>
                </a:cubicBezTo>
                <a:close/>
                <a:moveTo>
                  <a:pt x="21975" y="129106"/>
                </a:moveTo>
                <a:cubicBezTo>
                  <a:pt x="29556" y="129106"/>
                  <a:pt x="35710" y="135260"/>
                  <a:pt x="35710" y="142841"/>
                </a:cubicBezTo>
                <a:cubicBezTo>
                  <a:pt x="35710" y="150421"/>
                  <a:pt x="29556" y="156575"/>
                  <a:pt x="21975" y="156575"/>
                </a:cubicBezTo>
                <a:cubicBezTo>
                  <a:pt x="14395" y="156575"/>
                  <a:pt x="8241" y="150421"/>
                  <a:pt x="8241" y="142841"/>
                </a:cubicBezTo>
                <a:cubicBezTo>
                  <a:pt x="8241" y="135260"/>
                  <a:pt x="14395" y="129106"/>
                  <a:pt x="21975" y="129106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9"/>
          <p:cNvSpPr/>
          <p:nvPr/>
        </p:nvSpPr>
        <p:spPr>
          <a:xfrm>
            <a:off x="8471756" y="1380061"/>
            <a:ext cx="3305113" cy="246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4"/>
              <a:buFont typeface="Arial"/>
              <a:buNone/>
            </a:pPr>
            <a:r>
              <a:rPr b="1" i="0" lang="en-US" sz="1384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Phase 3 Checklist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9"/>
          <p:cNvSpPr/>
          <p:nvPr/>
        </p:nvSpPr>
        <p:spPr>
          <a:xfrm>
            <a:off x="8256396" y="1736063"/>
            <a:ext cx="3428176" cy="641684"/>
          </a:xfrm>
          <a:custGeom>
            <a:rect b="b" l="l" r="r" t="t"/>
            <a:pathLst>
              <a:path extrusionOk="0" h="641684" w="3428176">
                <a:moveTo>
                  <a:pt x="105480" y="0"/>
                </a:moveTo>
                <a:lnTo>
                  <a:pt x="3322696" y="0"/>
                </a:lnTo>
                <a:cubicBezTo>
                  <a:pt x="3380951" y="0"/>
                  <a:pt x="3428176" y="47225"/>
                  <a:pt x="3428176" y="105480"/>
                </a:cubicBezTo>
                <a:lnTo>
                  <a:pt x="3428176" y="536204"/>
                </a:lnTo>
                <a:cubicBezTo>
                  <a:pt x="3428176" y="594459"/>
                  <a:pt x="3380951" y="641684"/>
                  <a:pt x="3322696" y="641684"/>
                </a:cubicBezTo>
                <a:lnTo>
                  <a:pt x="105480" y="641684"/>
                </a:lnTo>
                <a:cubicBezTo>
                  <a:pt x="47225" y="641684"/>
                  <a:pt x="0" y="594459"/>
                  <a:pt x="0" y="536204"/>
                </a:cubicBezTo>
                <a:lnTo>
                  <a:pt x="0" y="105480"/>
                </a:lnTo>
                <a:cubicBezTo>
                  <a:pt x="0" y="47264"/>
                  <a:pt x="47264" y="0"/>
                  <a:pt x="10548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9"/>
          <p:cNvSpPr/>
          <p:nvPr/>
        </p:nvSpPr>
        <p:spPr>
          <a:xfrm>
            <a:off x="8388249" y="1969004"/>
            <a:ext cx="175804" cy="175804"/>
          </a:xfrm>
          <a:custGeom>
            <a:rect b="b" l="l" r="r" t="t"/>
            <a:pathLst>
              <a:path extrusionOk="0" h="175804" w="175804">
                <a:moveTo>
                  <a:pt x="87902" y="175804"/>
                </a:moveTo>
                <a:cubicBezTo>
                  <a:pt x="136416" y="175804"/>
                  <a:pt x="175804" y="136416"/>
                  <a:pt x="175804" y="87902"/>
                </a:cubicBezTo>
                <a:cubicBezTo>
                  <a:pt x="175804" y="39388"/>
                  <a:pt x="136416" y="0"/>
                  <a:pt x="87902" y="0"/>
                </a:cubicBezTo>
                <a:cubicBezTo>
                  <a:pt x="39388" y="0"/>
                  <a:pt x="0" y="39388"/>
                  <a:pt x="0" y="87902"/>
                </a:cubicBezTo>
                <a:cubicBezTo>
                  <a:pt x="0" y="136416"/>
                  <a:pt x="39388" y="175804"/>
                  <a:pt x="87902" y="175804"/>
                </a:cubicBezTo>
                <a:close/>
                <a:moveTo>
                  <a:pt x="116882" y="73034"/>
                </a:moveTo>
                <a:lnTo>
                  <a:pt x="89413" y="116985"/>
                </a:lnTo>
                <a:cubicBezTo>
                  <a:pt x="87971" y="119286"/>
                  <a:pt x="85498" y="120728"/>
                  <a:pt x="82786" y="120865"/>
                </a:cubicBezTo>
                <a:cubicBezTo>
                  <a:pt x="80073" y="121003"/>
                  <a:pt x="77464" y="119766"/>
                  <a:pt x="75850" y="117569"/>
                </a:cubicBezTo>
                <a:lnTo>
                  <a:pt x="59368" y="95593"/>
                </a:lnTo>
                <a:cubicBezTo>
                  <a:pt x="56621" y="91954"/>
                  <a:pt x="57377" y="86803"/>
                  <a:pt x="61016" y="84056"/>
                </a:cubicBezTo>
                <a:cubicBezTo>
                  <a:pt x="64656" y="81309"/>
                  <a:pt x="69807" y="82065"/>
                  <a:pt x="72553" y="85704"/>
                </a:cubicBezTo>
                <a:lnTo>
                  <a:pt x="81824" y="98066"/>
                </a:lnTo>
                <a:lnTo>
                  <a:pt x="102907" y="64313"/>
                </a:lnTo>
                <a:cubicBezTo>
                  <a:pt x="105311" y="60467"/>
                  <a:pt x="110392" y="59265"/>
                  <a:pt x="114273" y="61703"/>
                </a:cubicBezTo>
                <a:cubicBezTo>
                  <a:pt x="118153" y="64141"/>
                  <a:pt x="119320" y="69188"/>
                  <a:pt x="116882" y="73068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9"/>
          <p:cNvSpPr/>
          <p:nvPr/>
        </p:nvSpPr>
        <p:spPr>
          <a:xfrm>
            <a:off x="8691511" y="1845941"/>
            <a:ext cx="1643766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Phase 2 report committed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9"/>
          <p:cNvSpPr/>
          <p:nvPr/>
        </p:nvSpPr>
        <p:spPr>
          <a:xfrm>
            <a:off x="8691511" y="2056906"/>
            <a:ext cx="1643766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ACL-format PDF &amp; LaTeX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9"/>
          <p:cNvSpPr/>
          <p:nvPr/>
        </p:nvSpPr>
        <p:spPr>
          <a:xfrm>
            <a:off x="8256396" y="2456859"/>
            <a:ext cx="3428176" cy="641684"/>
          </a:xfrm>
          <a:custGeom>
            <a:rect b="b" l="l" r="r" t="t"/>
            <a:pathLst>
              <a:path extrusionOk="0" h="641684" w="3428176">
                <a:moveTo>
                  <a:pt x="105480" y="0"/>
                </a:moveTo>
                <a:lnTo>
                  <a:pt x="3322696" y="0"/>
                </a:lnTo>
                <a:cubicBezTo>
                  <a:pt x="3380951" y="0"/>
                  <a:pt x="3428176" y="47225"/>
                  <a:pt x="3428176" y="105480"/>
                </a:cubicBezTo>
                <a:lnTo>
                  <a:pt x="3428176" y="536204"/>
                </a:lnTo>
                <a:cubicBezTo>
                  <a:pt x="3428176" y="594459"/>
                  <a:pt x="3380951" y="641684"/>
                  <a:pt x="3322696" y="641684"/>
                </a:cubicBezTo>
                <a:lnTo>
                  <a:pt x="105480" y="641684"/>
                </a:lnTo>
                <a:cubicBezTo>
                  <a:pt x="47225" y="641684"/>
                  <a:pt x="0" y="594459"/>
                  <a:pt x="0" y="536204"/>
                </a:cubicBezTo>
                <a:lnTo>
                  <a:pt x="0" y="105480"/>
                </a:lnTo>
                <a:cubicBezTo>
                  <a:pt x="0" y="47264"/>
                  <a:pt x="47264" y="0"/>
                  <a:pt x="10548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9"/>
          <p:cNvSpPr/>
          <p:nvPr/>
        </p:nvSpPr>
        <p:spPr>
          <a:xfrm>
            <a:off x="8388249" y="2689800"/>
            <a:ext cx="175804" cy="175804"/>
          </a:xfrm>
          <a:custGeom>
            <a:rect b="b" l="l" r="r" t="t"/>
            <a:pathLst>
              <a:path extrusionOk="0" h="175804" w="175804">
                <a:moveTo>
                  <a:pt x="87902" y="175804"/>
                </a:moveTo>
                <a:cubicBezTo>
                  <a:pt x="136416" y="175804"/>
                  <a:pt x="175804" y="136416"/>
                  <a:pt x="175804" y="87902"/>
                </a:cubicBezTo>
                <a:cubicBezTo>
                  <a:pt x="175804" y="39388"/>
                  <a:pt x="136416" y="0"/>
                  <a:pt x="87902" y="0"/>
                </a:cubicBezTo>
                <a:cubicBezTo>
                  <a:pt x="39388" y="0"/>
                  <a:pt x="0" y="39388"/>
                  <a:pt x="0" y="87902"/>
                </a:cubicBezTo>
                <a:cubicBezTo>
                  <a:pt x="0" y="136416"/>
                  <a:pt x="39388" y="175804"/>
                  <a:pt x="87902" y="175804"/>
                </a:cubicBezTo>
                <a:close/>
                <a:moveTo>
                  <a:pt x="116882" y="73034"/>
                </a:moveTo>
                <a:lnTo>
                  <a:pt x="89413" y="116985"/>
                </a:lnTo>
                <a:cubicBezTo>
                  <a:pt x="87971" y="119286"/>
                  <a:pt x="85498" y="120728"/>
                  <a:pt x="82786" y="120865"/>
                </a:cubicBezTo>
                <a:cubicBezTo>
                  <a:pt x="80073" y="121003"/>
                  <a:pt x="77464" y="119766"/>
                  <a:pt x="75850" y="117569"/>
                </a:cubicBezTo>
                <a:lnTo>
                  <a:pt x="59368" y="95593"/>
                </a:lnTo>
                <a:cubicBezTo>
                  <a:pt x="56621" y="91954"/>
                  <a:pt x="57377" y="86803"/>
                  <a:pt x="61016" y="84056"/>
                </a:cubicBezTo>
                <a:cubicBezTo>
                  <a:pt x="64656" y="81309"/>
                  <a:pt x="69807" y="82065"/>
                  <a:pt x="72553" y="85704"/>
                </a:cubicBezTo>
                <a:lnTo>
                  <a:pt x="81824" y="98066"/>
                </a:lnTo>
                <a:lnTo>
                  <a:pt x="102907" y="64313"/>
                </a:lnTo>
                <a:cubicBezTo>
                  <a:pt x="105311" y="60467"/>
                  <a:pt x="110392" y="59265"/>
                  <a:pt x="114273" y="61703"/>
                </a:cubicBezTo>
                <a:cubicBezTo>
                  <a:pt x="118153" y="64141"/>
                  <a:pt x="119320" y="69188"/>
                  <a:pt x="116882" y="73068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9"/>
          <p:cNvSpPr/>
          <p:nvPr/>
        </p:nvSpPr>
        <p:spPr>
          <a:xfrm>
            <a:off x="8691511" y="2566737"/>
            <a:ext cx="1617396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Repository scaffolded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9"/>
          <p:cNvSpPr/>
          <p:nvPr/>
        </p:nvSpPr>
        <p:spPr>
          <a:xfrm>
            <a:off x="8691511" y="2777702"/>
            <a:ext cx="1617396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Directory structure active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9"/>
          <p:cNvSpPr/>
          <p:nvPr/>
        </p:nvSpPr>
        <p:spPr>
          <a:xfrm>
            <a:off x="8256396" y="3177655"/>
            <a:ext cx="3428176" cy="641684"/>
          </a:xfrm>
          <a:custGeom>
            <a:rect b="b" l="l" r="r" t="t"/>
            <a:pathLst>
              <a:path extrusionOk="0" h="641684" w="3428176">
                <a:moveTo>
                  <a:pt x="105480" y="0"/>
                </a:moveTo>
                <a:lnTo>
                  <a:pt x="3322696" y="0"/>
                </a:lnTo>
                <a:cubicBezTo>
                  <a:pt x="3380951" y="0"/>
                  <a:pt x="3428176" y="47225"/>
                  <a:pt x="3428176" y="105480"/>
                </a:cubicBezTo>
                <a:lnTo>
                  <a:pt x="3428176" y="536204"/>
                </a:lnTo>
                <a:cubicBezTo>
                  <a:pt x="3428176" y="594459"/>
                  <a:pt x="3380951" y="641684"/>
                  <a:pt x="3322696" y="641684"/>
                </a:cubicBezTo>
                <a:lnTo>
                  <a:pt x="105480" y="641684"/>
                </a:lnTo>
                <a:cubicBezTo>
                  <a:pt x="47225" y="641684"/>
                  <a:pt x="0" y="594459"/>
                  <a:pt x="0" y="536204"/>
                </a:cubicBezTo>
                <a:lnTo>
                  <a:pt x="0" y="105480"/>
                </a:lnTo>
                <a:cubicBezTo>
                  <a:pt x="0" y="47264"/>
                  <a:pt x="47264" y="0"/>
                  <a:pt x="10548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9"/>
          <p:cNvSpPr/>
          <p:nvPr/>
        </p:nvSpPr>
        <p:spPr>
          <a:xfrm>
            <a:off x="8388249" y="3410596"/>
            <a:ext cx="175804" cy="175804"/>
          </a:xfrm>
          <a:custGeom>
            <a:rect b="b" l="l" r="r" t="t"/>
            <a:pathLst>
              <a:path extrusionOk="0" h="175804" w="175804">
                <a:moveTo>
                  <a:pt x="87902" y="175804"/>
                </a:moveTo>
                <a:cubicBezTo>
                  <a:pt x="136416" y="175804"/>
                  <a:pt x="175804" y="136416"/>
                  <a:pt x="175804" y="87902"/>
                </a:cubicBezTo>
                <a:cubicBezTo>
                  <a:pt x="175804" y="39388"/>
                  <a:pt x="136416" y="0"/>
                  <a:pt x="87902" y="0"/>
                </a:cubicBezTo>
                <a:cubicBezTo>
                  <a:pt x="39388" y="0"/>
                  <a:pt x="0" y="39388"/>
                  <a:pt x="0" y="87902"/>
                </a:cubicBezTo>
                <a:cubicBezTo>
                  <a:pt x="0" y="136416"/>
                  <a:pt x="39388" y="175804"/>
                  <a:pt x="87902" y="175804"/>
                </a:cubicBezTo>
                <a:close/>
                <a:moveTo>
                  <a:pt x="116882" y="73034"/>
                </a:moveTo>
                <a:lnTo>
                  <a:pt x="89413" y="116985"/>
                </a:lnTo>
                <a:cubicBezTo>
                  <a:pt x="87971" y="119286"/>
                  <a:pt x="85498" y="120728"/>
                  <a:pt x="82786" y="120865"/>
                </a:cubicBezTo>
                <a:cubicBezTo>
                  <a:pt x="80073" y="121003"/>
                  <a:pt x="77464" y="119766"/>
                  <a:pt x="75850" y="117569"/>
                </a:cubicBezTo>
                <a:lnTo>
                  <a:pt x="59368" y="95593"/>
                </a:lnTo>
                <a:cubicBezTo>
                  <a:pt x="56621" y="91954"/>
                  <a:pt x="57377" y="86803"/>
                  <a:pt x="61016" y="84056"/>
                </a:cubicBezTo>
                <a:cubicBezTo>
                  <a:pt x="64656" y="81309"/>
                  <a:pt x="69807" y="82065"/>
                  <a:pt x="72553" y="85704"/>
                </a:cubicBezTo>
                <a:lnTo>
                  <a:pt x="81824" y="98066"/>
                </a:lnTo>
                <a:lnTo>
                  <a:pt x="102907" y="64313"/>
                </a:lnTo>
                <a:cubicBezTo>
                  <a:pt x="105311" y="60467"/>
                  <a:pt x="110392" y="59265"/>
                  <a:pt x="114273" y="61703"/>
                </a:cubicBezTo>
                <a:cubicBezTo>
                  <a:pt x="118153" y="64141"/>
                  <a:pt x="119320" y="69188"/>
                  <a:pt x="116882" y="73068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9"/>
          <p:cNvSpPr/>
          <p:nvPr/>
        </p:nvSpPr>
        <p:spPr>
          <a:xfrm>
            <a:off x="8691511" y="3287533"/>
            <a:ext cx="1678927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README documentation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9"/>
          <p:cNvSpPr/>
          <p:nvPr/>
        </p:nvSpPr>
        <p:spPr>
          <a:xfrm>
            <a:off x="8691511" y="3498497"/>
            <a:ext cx="1678927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 project docs complete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9"/>
          <p:cNvSpPr/>
          <p:nvPr/>
        </p:nvSpPr>
        <p:spPr>
          <a:xfrm>
            <a:off x="8256396" y="3898451"/>
            <a:ext cx="3428176" cy="641684"/>
          </a:xfrm>
          <a:custGeom>
            <a:rect b="b" l="l" r="r" t="t"/>
            <a:pathLst>
              <a:path extrusionOk="0" h="641684" w="3428176">
                <a:moveTo>
                  <a:pt x="105480" y="0"/>
                </a:moveTo>
                <a:lnTo>
                  <a:pt x="3322696" y="0"/>
                </a:lnTo>
                <a:cubicBezTo>
                  <a:pt x="3380951" y="0"/>
                  <a:pt x="3428176" y="47225"/>
                  <a:pt x="3428176" y="105480"/>
                </a:cubicBezTo>
                <a:lnTo>
                  <a:pt x="3428176" y="536204"/>
                </a:lnTo>
                <a:cubicBezTo>
                  <a:pt x="3428176" y="594459"/>
                  <a:pt x="3380951" y="641684"/>
                  <a:pt x="3322696" y="641684"/>
                </a:cubicBezTo>
                <a:lnTo>
                  <a:pt x="105480" y="641684"/>
                </a:lnTo>
                <a:cubicBezTo>
                  <a:pt x="47225" y="641684"/>
                  <a:pt x="0" y="594459"/>
                  <a:pt x="0" y="536204"/>
                </a:cubicBezTo>
                <a:lnTo>
                  <a:pt x="0" y="105480"/>
                </a:lnTo>
                <a:cubicBezTo>
                  <a:pt x="0" y="47264"/>
                  <a:pt x="47264" y="0"/>
                  <a:pt x="10548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9"/>
          <p:cNvSpPr/>
          <p:nvPr/>
        </p:nvSpPr>
        <p:spPr>
          <a:xfrm>
            <a:off x="8388249" y="4131391"/>
            <a:ext cx="175804" cy="175804"/>
          </a:xfrm>
          <a:custGeom>
            <a:rect b="b" l="l" r="r" t="t"/>
            <a:pathLst>
              <a:path extrusionOk="0" h="175804" w="175804">
                <a:moveTo>
                  <a:pt x="87902" y="175804"/>
                </a:moveTo>
                <a:cubicBezTo>
                  <a:pt x="136416" y="175804"/>
                  <a:pt x="175804" y="136416"/>
                  <a:pt x="175804" y="87902"/>
                </a:cubicBezTo>
                <a:cubicBezTo>
                  <a:pt x="175804" y="39388"/>
                  <a:pt x="136416" y="0"/>
                  <a:pt x="87902" y="0"/>
                </a:cubicBezTo>
                <a:cubicBezTo>
                  <a:pt x="39388" y="0"/>
                  <a:pt x="0" y="39388"/>
                  <a:pt x="0" y="87902"/>
                </a:cubicBezTo>
                <a:cubicBezTo>
                  <a:pt x="0" y="136416"/>
                  <a:pt x="39388" y="175804"/>
                  <a:pt x="87902" y="175804"/>
                </a:cubicBezTo>
                <a:close/>
                <a:moveTo>
                  <a:pt x="116882" y="73034"/>
                </a:moveTo>
                <a:lnTo>
                  <a:pt x="89413" y="116985"/>
                </a:lnTo>
                <a:cubicBezTo>
                  <a:pt x="87971" y="119286"/>
                  <a:pt x="85498" y="120728"/>
                  <a:pt x="82786" y="120865"/>
                </a:cubicBezTo>
                <a:cubicBezTo>
                  <a:pt x="80073" y="121003"/>
                  <a:pt x="77464" y="119766"/>
                  <a:pt x="75850" y="117569"/>
                </a:cubicBezTo>
                <a:lnTo>
                  <a:pt x="59368" y="95593"/>
                </a:lnTo>
                <a:cubicBezTo>
                  <a:pt x="56621" y="91954"/>
                  <a:pt x="57377" y="86803"/>
                  <a:pt x="61016" y="84056"/>
                </a:cubicBezTo>
                <a:cubicBezTo>
                  <a:pt x="64656" y="81309"/>
                  <a:pt x="69807" y="82065"/>
                  <a:pt x="72553" y="85704"/>
                </a:cubicBezTo>
                <a:lnTo>
                  <a:pt x="81824" y="98066"/>
                </a:lnTo>
                <a:lnTo>
                  <a:pt x="102907" y="64313"/>
                </a:lnTo>
                <a:cubicBezTo>
                  <a:pt x="105311" y="60467"/>
                  <a:pt x="110392" y="59265"/>
                  <a:pt x="114273" y="61703"/>
                </a:cubicBezTo>
                <a:cubicBezTo>
                  <a:pt x="118153" y="64141"/>
                  <a:pt x="119320" y="69188"/>
                  <a:pt x="116882" y="73068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9"/>
          <p:cNvSpPr/>
          <p:nvPr/>
        </p:nvSpPr>
        <p:spPr>
          <a:xfrm>
            <a:off x="8691511" y="4008329"/>
            <a:ext cx="1599815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Notebooks initialized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9"/>
          <p:cNvSpPr/>
          <p:nvPr/>
        </p:nvSpPr>
        <p:spPr>
          <a:xfrm>
            <a:off x="8691511" y="4219293"/>
            <a:ext cx="1599815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 pipelines started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9"/>
          <p:cNvSpPr/>
          <p:nvPr/>
        </p:nvSpPr>
        <p:spPr>
          <a:xfrm>
            <a:off x="8256396" y="4619247"/>
            <a:ext cx="3428176" cy="641684"/>
          </a:xfrm>
          <a:custGeom>
            <a:rect b="b" l="l" r="r" t="t"/>
            <a:pathLst>
              <a:path extrusionOk="0" h="641684" w="3428176">
                <a:moveTo>
                  <a:pt x="105480" y="0"/>
                </a:moveTo>
                <a:lnTo>
                  <a:pt x="3322696" y="0"/>
                </a:lnTo>
                <a:cubicBezTo>
                  <a:pt x="3380951" y="0"/>
                  <a:pt x="3428176" y="47225"/>
                  <a:pt x="3428176" y="105480"/>
                </a:cubicBezTo>
                <a:lnTo>
                  <a:pt x="3428176" y="536204"/>
                </a:lnTo>
                <a:cubicBezTo>
                  <a:pt x="3428176" y="594459"/>
                  <a:pt x="3380951" y="641684"/>
                  <a:pt x="3322696" y="641684"/>
                </a:cubicBezTo>
                <a:lnTo>
                  <a:pt x="105480" y="641684"/>
                </a:lnTo>
                <a:cubicBezTo>
                  <a:pt x="47225" y="641684"/>
                  <a:pt x="0" y="594459"/>
                  <a:pt x="0" y="536204"/>
                </a:cubicBezTo>
                <a:lnTo>
                  <a:pt x="0" y="105480"/>
                </a:lnTo>
                <a:cubicBezTo>
                  <a:pt x="0" y="47264"/>
                  <a:pt x="47264" y="0"/>
                  <a:pt x="10548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9"/>
          <p:cNvSpPr/>
          <p:nvPr/>
        </p:nvSpPr>
        <p:spPr>
          <a:xfrm>
            <a:off x="8388249" y="4852187"/>
            <a:ext cx="175804" cy="175804"/>
          </a:xfrm>
          <a:custGeom>
            <a:rect b="b" l="l" r="r" t="t"/>
            <a:pathLst>
              <a:path extrusionOk="0" h="175804" w="175804">
                <a:moveTo>
                  <a:pt x="87902" y="175804"/>
                </a:moveTo>
                <a:cubicBezTo>
                  <a:pt x="136416" y="175804"/>
                  <a:pt x="175804" y="136416"/>
                  <a:pt x="175804" y="87902"/>
                </a:cubicBezTo>
                <a:cubicBezTo>
                  <a:pt x="175804" y="39388"/>
                  <a:pt x="136416" y="0"/>
                  <a:pt x="87902" y="0"/>
                </a:cubicBezTo>
                <a:cubicBezTo>
                  <a:pt x="39388" y="0"/>
                  <a:pt x="0" y="39388"/>
                  <a:pt x="0" y="87902"/>
                </a:cubicBezTo>
                <a:cubicBezTo>
                  <a:pt x="0" y="136416"/>
                  <a:pt x="39388" y="175804"/>
                  <a:pt x="87902" y="175804"/>
                </a:cubicBezTo>
                <a:close/>
                <a:moveTo>
                  <a:pt x="116882" y="73034"/>
                </a:moveTo>
                <a:lnTo>
                  <a:pt x="89413" y="116985"/>
                </a:lnTo>
                <a:cubicBezTo>
                  <a:pt x="87971" y="119286"/>
                  <a:pt x="85498" y="120728"/>
                  <a:pt x="82786" y="120865"/>
                </a:cubicBezTo>
                <a:cubicBezTo>
                  <a:pt x="80073" y="121003"/>
                  <a:pt x="77464" y="119766"/>
                  <a:pt x="75850" y="117569"/>
                </a:cubicBezTo>
                <a:lnTo>
                  <a:pt x="59368" y="95593"/>
                </a:lnTo>
                <a:cubicBezTo>
                  <a:pt x="56621" y="91954"/>
                  <a:pt x="57377" y="86803"/>
                  <a:pt x="61016" y="84056"/>
                </a:cubicBezTo>
                <a:cubicBezTo>
                  <a:pt x="64656" y="81309"/>
                  <a:pt x="69807" y="82065"/>
                  <a:pt x="72553" y="85704"/>
                </a:cubicBezTo>
                <a:lnTo>
                  <a:pt x="81824" y="98066"/>
                </a:lnTo>
                <a:lnTo>
                  <a:pt x="102907" y="64313"/>
                </a:lnTo>
                <a:cubicBezTo>
                  <a:pt x="105311" y="60467"/>
                  <a:pt x="110392" y="59265"/>
                  <a:pt x="114273" y="61703"/>
                </a:cubicBezTo>
                <a:cubicBezTo>
                  <a:pt x="118153" y="64141"/>
                  <a:pt x="119320" y="69188"/>
                  <a:pt x="116882" y="73068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9"/>
          <p:cNvSpPr/>
          <p:nvPr/>
        </p:nvSpPr>
        <p:spPr>
          <a:xfrm>
            <a:off x="8691511" y="4729125"/>
            <a:ext cx="1617396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Streamlit skeleton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9"/>
          <p:cNvSpPr/>
          <p:nvPr/>
        </p:nvSpPr>
        <p:spPr>
          <a:xfrm>
            <a:off x="8691511" y="4940089"/>
            <a:ext cx="1617396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 app scaffold started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9"/>
          <p:cNvSpPr/>
          <p:nvPr/>
        </p:nvSpPr>
        <p:spPr>
          <a:xfrm>
            <a:off x="8256396" y="5340043"/>
            <a:ext cx="3428176" cy="641684"/>
          </a:xfrm>
          <a:custGeom>
            <a:rect b="b" l="l" r="r" t="t"/>
            <a:pathLst>
              <a:path extrusionOk="0" h="641684" w="3428176">
                <a:moveTo>
                  <a:pt x="105480" y="0"/>
                </a:moveTo>
                <a:lnTo>
                  <a:pt x="3322696" y="0"/>
                </a:lnTo>
                <a:cubicBezTo>
                  <a:pt x="3380951" y="0"/>
                  <a:pt x="3428176" y="47225"/>
                  <a:pt x="3428176" y="105480"/>
                </a:cubicBezTo>
                <a:lnTo>
                  <a:pt x="3428176" y="536204"/>
                </a:lnTo>
                <a:cubicBezTo>
                  <a:pt x="3428176" y="594459"/>
                  <a:pt x="3380951" y="641684"/>
                  <a:pt x="3322696" y="641684"/>
                </a:cubicBezTo>
                <a:lnTo>
                  <a:pt x="105480" y="641684"/>
                </a:lnTo>
                <a:cubicBezTo>
                  <a:pt x="47225" y="641684"/>
                  <a:pt x="0" y="594459"/>
                  <a:pt x="0" y="536204"/>
                </a:cubicBezTo>
                <a:lnTo>
                  <a:pt x="0" y="105480"/>
                </a:lnTo>
                <a:cubicBezTo>
                  <a:pt x="0" y="47264"/>
                  <a:pt x="47264" y="0"/>
                  <a:pt x="10548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cap="flat" cmpd="sng" w="12700">
            <a:solidFill>
              <a:srgbClr val="8D99A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9"/>
          <p:cNvSpPr/>
          <p:nvPr/>
        </p:nvSpPr>
        <p:spPr>
          <a:xfrm>
            <a:off x="8388249" y="5581774"/>
            <a:ext cx="158224" cy="158224"/>
          </a:xfrm>
          <a:custGeom>
            <a:rect b="b" l="l" r="r" t="t"/>
            <a:pathLst>
              <a:path extrusionOk="0" h="158224" w="158224">
                <a:moveTo>
                  <a:pt x="0" y="79112"/>
                </a:moveTo>
                <a:cubicBezTo>
                  <a:pt x="0" y="35449"/>
                  <a:pt x="35449" y="0"/>
                  <a:pt x="79112" y="0"/>
                </a:cubicBezTo>
                <a:cubicBezTo>
                  <a:pt x="122775" y="0"/>
                  <a:pt x="158224" y="35449"/>
                  <a:pt x="158224" y="79112"/>
                </a:cubicBezTo>
                <a:cubicBezTo>
                  <a:pt x="158224" y="122775"/>
                  <a:pt x="122775" y="158224"/>
                  <a:pt x="79112" y="158224"/>
                </a:cubicBezTo>
                <a:cubicBezTo>
                  <a:pt x="35449" y="158224"/>
                  <a:pt x="0" y="122775"/>
                  <a:pt x="0" y="79112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9"/>
          <p:cNvSpPr/>
          <p:nvPr/>
        </p:nvSpPr>
        <p:spPr>
          <a:xfrm>
            <a:off x="8669536" y="5449921"/>
            <a:ext cx="1441592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IU X-Ray data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9"/>
          <p:cNvSpPr/>
          <p:nvPr/>
        </p:nvSpPr>
        <p:spPr>
          <a:xfrm>
            <a:off x="8669536" y="5660885"/>
            <a:ext cx="1441592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progress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9"/>
          <p:cNvSpPr/>
          <p:nvPr/>
        </p:nvSpPr>
        <p:spPr>
          <a:xfrm>
            <a:off x="8256396" y="6060839"/>
            <a:ext cx="3428176" cy="641684"/>
          </a:xfrm>
          <a:custGeom>
            <a:rect b="b" l="l" r="r" t="t"/>
            <a:pathLst>
              <a:path extrusionOk="0" h="641684" w="3428176">
                <a:moveTo>
                  <a:pt x="105480" y="0"/>
                </a:moveTo>
                <a:lnTo>
                  <a:pt x="3322696" y="0"/>
                </a:lnTo>
                <a:cubicBezTo>
                  <a:pt x="3380951" y="0"/>
                  <a:pt x="3428176" y="47225"/>
                  <a:pt x="3428176" y="105480"/>
                </a:cubicBezTo>
                <a:lnTo>
                  <a:pt x="3428176" y="536204"/>
                </a:lnTo>
                <a:cubicBezTo>
                  <a:pt x="3428176" y="594459"/>
                  <a:pt x="3380951" y="641684"/>
                  <a:pt x="3322696" y="641684"/>
                </a:cubicBezTo>
                <a:lnTo>
                  <a:pt x="105480" y="641684"/>
                </a:lnTo>
                <a:cubicBezTo>
                  <a:pt x="47225" y="641684"/>
                  <a:pt x="0" y="594459"/>
                  <a:pt x="0" y="536204"/>
                </a:cubicBezTo>
                <a:lnTo>
                  <a:pt x="0" y="105480"/>
                </a:lnTo>
                <a:cubicBezTo>
                  <a:pt x="0" y="47264"/>
                  <a:pt x="47264" y="0"/>
                  <a:pt x="10548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cap="flat" cmpd="sng" w="12700">
            <a:solidFill>
              <a:srgbClr val="8D99A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9"/>
          <p:cNvSpPr/>
          <p:nvPr/>
        </p:nvSpPr>
        <p:spPr>
          <a:xfrm>
            <a:off x="8388249" y="6302570"/>
            <a:ext cx="158224" cy="158224"/>
          </a:xfrm>
          <a:custGeom>
            <a:rect b="b" l="l" r="r" t="t"/>
            <a:pathLst>
              <a:path extrusionOk="0" h="158224" w="158224">
                <a:moveTo>
                  <a:pt x="0" y="79112"/>
                </a:moveTo>
                <a:cubicBezTo>
                  <a:pt x="0" y="35449"/>
                  <a:pt x="35449" y="0"/>
                  <a:pt x="79112" y="0"/>
                </a:cubicBezTo>
                <a:cubicBezTo>
                  <a:pt x="122775" y="0"/>
                  <a:pt x="158224" y="35449"/>
                  <a:pt x="158224" y="79112"/>
                </a:cubicBezTo>
                <a:cubicBezTo>
                  <a:pt x="158224" y="122775"/>
                  <a:pt x="122775" y="158224"/>
                  <a:pt x="79112" y="158224"/>
                </a:cubicBezTo>
                <a:cubicBezTo>
                  <a:pt x="35449" y="158224"/>
                  <a:pt x="0" y="122775"/>
                  <a:pt x="0" y="79112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9"/>
          <p:cNvSpPr/>
          <p:nvPr/>
        </p:nvSpPr>
        <p:spPr>
          <a:xfrm>
            <a:off x="8669536" y="6170717"/>
            <a:ext cx="1573445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1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CNN &amp; BiLSTM baselines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9"/>
          <p:cNvSpPr/>
          <p:nvPr/>
        </p:nvSpPr>
        <p:spPr>
          <a:xfrm>
            <a:off x="8669536" y="6381681"/>
            <a:ext cx="1573445" cy="210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7"/>
              <a:buFont typeface="Arial"/>
              <a:buNone/>
            </a:pPr>
            <a:r>
              <a:rPr b="0" i="0" lang="en-US" sz="1107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pending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601" name="Google Shape;601;p9"/>
          <p:cNvPicPr preferRelativeResize="0"/>
          <p:nvPr/>
        </p:nvPicPr>
        <p:blipFill rotWithShape="1">
          <a:blip r:embed="rId3">
            <a:alphaModFix/>
          </a:blip>
          <a:srcRect b="41394" l="1" r="2027" t="0"/>
          <a:stretch/>
        </p:blipFill>
        <p:spPr>
          <a:xfrm>
            <a:off x="607335" y="1645784"/>
            <a:ext cx="3170845" cy="1795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0"/>
          <p:cNvSpPr/>
          <p:nvPr/>
        </p:nvSpPr>
        <p:spPr>
          <a:xfrm>
            <a:off x="334945" y="368440"/>
            <a:ext cx="66989" cy="334945"/>
          </a:xfrm>
          <a:custGeom>
            <a:rect b="b" l="l" r="r" t="t"/>
            <a:pathLst>
              <a:path extrusionOk="0" h="334945" w="66989">
                <a:moveTo>
                  <a:pt x="0" y="0"/>
                </a:moveTo>
                <a:lnTo>
                  <a:pt x="66989" y="0"/>
                </a:lnTo>
                <a:lnTo>
                  <a:pt x="66989" y="334945"/>
                </a:lnTo>
                <a:lnTo>
                  <a:pt x="0" y="334945"/>
                </a:lnTo>
                <a:lnTo>
                  <a:pt x="0" y="0"/>
                </a:lnTo>
                <a:close/>
              </a:path>
            </a:pathLst>
          </a:custGeom>
          <a:solidFill>
            <a:srgbClr val="4A908A"/>
          </a:solidFill>
          <a:ln>
            <a:noFill/>
          </a:ln>
        </p:spPr>
      </p:sp>
      <p:sp>
        <p:nvSpPr>
          <p:cNvPr id="608" name="Google Shape;608;p10"/>
          <p:cNvSpPr/>
          <p:nvPr/>
        </p:nvSpPr>
        <p:spPr>
          <a:xfrm>
            <a:off x="502418" y="334945"/>
            <a:ext cx="3801626" cy="401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65"/>
              <a:buFont typeface="Arial"/>
              <a:buNone/>
            </a:pPr>
            <a:r>
              <a:rPr b="1" i="0" lang="en-US" sz="3165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Expected Outcomes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0"/>
          <p:cNvSpPr/>
          <p:nvPr/>
        </p:nvSpPr>
        <p:spPr>
          <a:xfrm>
            <a:off x="502418" y="803868"/>
            <a:ext cx="11438374" cy="234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9"/>
              <a:buFont typeface="Arial"/>
              <a:buNone/>
            </a:pPr>
            <a:r>
              <a:rPr b="0" i="0" lang="en-US" sz="131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 vs. MediSim Architecture Comparison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0"/>
          <p:cNvSpPr/>
          <p:nvPr/>
        </p:nvSpPr>
        <p:spPr>
          <a:xfrm>
            <a:off x="401925" y="1256400"/>
            <a:ext cx="8145968" cy="4099728"/>
          </a:xfrm>
          <a:custGeom>
            <a:rect b="b" l="l" r="r" t="t"/>
            <a:pathLst>
              <a:path extrusionOk="0" h="4555253" w="11513736">
                <a:moveTo>
                  <a:pt x="133970" y="0"/>
                </a:moveTo>
                <a:lnTo>
                  <a:pt x="11379766" y="0"/>
                </a:lnTo>
                <a:cubicBezTo>
                  <a:pt x="11453756" y="0"/>
                  <a:pt x="11513736" y="59980"/>
                  <a:pt x="11513736" y="133970"/>
                </a:cubicBezTo>
                <a:lnTo>
                  <a:pt x="11513736" y="4421283"/>
                </a:lnTo>
                <a:cubicBezTo>
                  <a:pt x="11513736" y="4495272"/>
                  <a:pt x="11453756" y="4555253"/>
                  <a:pt x="11379766" y="4555253"/>
                </a:cubicBezTo>
                <a:lnTo>
                  <a:pt x="133970" y="4555253"/>
                </a:lnTo>
                <a:cubicBezTo>
                  <a:pt x="59980" y="4555253"/>
                  <a:pt x="0" y="4495272"/>
                  <a:pt x="0" y="4421283"/>
                </a:cubicBezTo>
                <a:lnTo>
                  <a:pt x="0" y="133970"/>
                </a:lnTo>
                <a:cubicBezTo>
                  <a:pt x="0" y="59980"/>
                  <a:pt x="59980" y="0"/>
                  <a:pt x="133970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cap="flat" cmpd="sng" w="11450">
            <a:solidFill>
              <a:srgbClr val="8D99A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0"/>
          <p:cNvSpPr/>
          <p:nvPr/>
        </p:nvSpPr>
        <p:spPr>
          <a:xfrm>
            <a:off x="698524" y="1714223"/>
            <a:ext cx="7735514" cy="9463"/>
          </a:xfrm>
          <a:custGeom>
            <a:rect b="b" l="l" r="r" t="t"/>
            <a:pathLst>
              <a:path extrusionOk="0" h="8374" w="11170418">
                <a:moveTo>
                  <a:pt x="0" y="0"/>
                </a:moveTo>
                <a:lnTo>
                  <a:pt x="11170418" y="0"/>
                </a:lnTo>
                <a:lnTo>
                  <a:pt x="11170418" y="8374"/>
                </a:lnTo>
                <a:lnTo>
                  <a:pt x="0" y="8374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30196"/>
            </a:srgbClr>
          </a:solidFill>
          <a:ln>
            <a:noFill/>
          </a:ln>
        </p:spPr>
      </p:sp>
      <p:sp>
        <p:nvSpPr>
          <p:cNvPr id="612" name="Google Shape;612;p10"/>
          <p:cNvSpPr/>
          <p:nvPr/>
        </p:nvSpPr>
        <p:spPr>
          <a:xfrm>
            <a:off x="895253" y="1410912"/>
            <a:ext cx="6936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"/>
              <a:buFont typeface="Arial"/>
              <a:buNone/>
            </a:pPr>
            <a:r>
              <a:rPr b="1" i="0" lang="en-US" sz="1068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Dimension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0"/>
          <p:cNvSpPr/>
          <p:nvPr/>
        </p:nvSpPr>
        <p:spPr>
          <a:xfrm>
            <a:off x="3137020" y="1410912"/>
            <a:ext cx="5502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"/>
              <a:buFont typeface="Arial"/>
              <a:buNone/>
            </a:pPr>
            <a:r>
              <a:rPr b="1" i="0" lang="en-US" sz="1068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0"/>
          <p:cNvSpPr/>
          <p:nvPr/>
        </p:nvSpPr>
        <p:spPr>
          <a:xfrm>
            <a:off x="6173492" y="1410912"/>
            <a:ext cx="12588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"/>
              <a:buFont typeface="Arial"/>
              <a:buNone/>
            </a:pPr>
            <a:r>
              <a:rPr b="1" i="0" lang="en-US" sz="1068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MediSim (Proposed)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0"/>
          <p:cNvSpPr/>
          <p:nvPr/>
        </p:nvSpPr>
        <p:spPr>
          <a:xfrm>
            <a:off x="774666" y="1908388"/>
            <a:ext cx="51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Modality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0"/>
          <p:cNvSpPr/>
          <p:nvPr/>
        </p:nvSpPr>
        <p:spPr>
          <a:xfrm>
            <a:off x="1741649" y="1840545"/>
            <a:ext cx="3270739" cy="376813"/>
          </a:xfrm>
          <a:custGeom>
            <a:rect b="b" l="l" r="r" t="t"/>
            <a:pathLst>
              <a:path extrusionOk="0" h="418681" w="3634154">
                <a:moveTo>
                  <a:pt x="66989" y="0"/>
                </a:moveTo>
                <a:lnTo>
                  <a:pt x="3567165" y="0"/>
                </a:lnTo>
                <a:cubicBezTo>
                  <a:pt x="3604162" y="0"/>
                  <a:pt x="3634154" y="29992"/>
                  <a:pt x="3634154" y="66989"/>
                </a:cubicBezTo>
                <a:lnTo>
                  <a:pt x="3634154" y="351692"/>
                </a:lnTo>
                <a:cubicBezTo>
                  <a:pt x="3634154" y="388689"/>
                  <a:pt x="3604162" y="418681"/>
                  <a:pt x="3567165" y="418681"/>
                </a:cubicBezTo>
                <a:lnTo>
                  <a:pt x="66989" y="418681"/>
                </a:lnTo>
                <a:cubicBezTo>
                  <a:pt x="30017" y="418681"/>
                  <a:pt x="0" y="388665"/>
                  <a:pt x="0" y="351692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0"/>
          <p:cNvSpPr/>
          <p:nvPr/>
        </p:nvSpPr>
        <p:spPr>
          <a:xfrm>
            <a:off x="2572770" y="1938531"/>
            <a:ext cx="1605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4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Unimodal (text or image only)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0"/>
          <p:cNvSpPr/>
          <p:nvPr/>
        </p:nvSpPr>
        <p:spPr>
          <a:xfrm>
            <a:off x="5137270" y="1844313"/>
            <a:ext cx="3263202" cy="369277"/>
          </a:xfrm>
          <a:custGeom>
            <a:rect b="b" l="l" r="r" t="t"/>
            <a:pathLst>
              <a:path extrusionOk="0" h="410308" w="3625780">
                <a:moveTo>
                  <a:pt x="66991" y="0"/>
                </a:moveTo>
                <a:lnTo>
                  <a:pt x="3558789" y="0"/>
                </a:lnTo>
                <a:cubicBezTo>
                  <a:pt x="3595787" y="0"/>
                  <a:pt x="3625780" y="29993"/>
                  <a:pt x="3625780" y="66991"/>
                </a:cubicBezTo>
                <a:lnTo>
                  <a:pt x="3625780" y="343317"/>
                </a:lnTo>
                <a:cubicBezTo>
                  <a:pt x="3625780" y="380315"/>
                  <a:pt x="3595787" y="410308"/>
                  <a:pt x="3558789" y="410308"/>
                </a:cubicBezTo>
                <a:lnTo>
                  <a:pt x="66991" y="410308"/>
                </a:lnTo>
                <a:cubicBezTo>
                  <a:pt x="29993" y="410308"/>
                  <a:pt x="0" y="380315"/>
                  <a:pt x="0" y="343317"/>
                </a:cubicBezTo>
                <a:lnTo>
                  <a:pt x="0" y="66991"/>
                </a:lnTo>
                <a:cubicBezTo>
                  <a:pt x="0" y="29993"/>
                  <a:pt x="29993" y="0"/>
                  <a:pt x="66991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145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0"/>
          <p:cNvSpPr/>
          <p:nvPr/>
        </p:nvSpPr>
        <p:spPr>
          <a:xfrm>
            <a:off x="5898022" y="1938531"/>
            <a:ext cx="1741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Multimodal: Text + Image Fusion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0"/>
          <p:cNvSpPr/>
          <p:nvPr/>
        </p:nvSpPr>
        <p:spPr>
          <a:xfrm>
            <a:off x="774666" y="2405857"/>
            <a:ext cx="7011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0"/>
          <p:cNvSpPr/>
          <p:nvPr/>
        </p:nvSpPr>
        <p:spPr>
          <a:xfrm>
            <a:off x="1741649" y="2338014"/>
            <a:ext cx="3270739" cy="376813"/>
          </a:xfrm>
          <a:custGeom>
            <a:rect b="b" l="l" r="r" t="t"/>
            <a:pathLst>
              <a:path extrusionOk="0" h="418681" w="3634154">
                <a:moveTo>
                  <a:pt x="66989" y="0"/>
                </a:moveTo>
                <a:lnTo>
                  <a:pt x="3567165" y="0"/>
                </a:lnTo>
                <a:cubicBezTo>
                  <a:pt x="3604162" y="0"/>
                  <a:pt x="3634154" y="29992"/>
                  <a:pt x="3634154" y="66989"/>
                </a:cubicBezTo>
                <a:lnTo>
                  <a:pt x="3634154" y="351692"/>
                </a:lnTo>
                <a:cubicBezTo>
                  <a:pt x="3634154" y="388689"/>
                  <a:pt x="3604162" y="418681"/>
                  <a:pt x="3567165" y="418681"/>
                </a:cubicBezTo>
                <a:lnTo>
                  <a:pt x="66989" y="418681"/>
                </a:lnTo>
                <a:cubicBezTo>
                  <a:pt x="30017" y="418681"/>
                  <a:pt x="0" y="388665"/>
                  <a:pt x="0" y="351692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0"/>
          <p:cNvSpPr/>
          <p:nvPr/>
        </p:nvSpPr>
        <p:spPr>
          <a:xfrm>
            <a:off x="2677588" y="2436000"/>
            <a:ext cx="1401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4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Single-stage classification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0"/>
          <p:cNvSpPr/>
          <p:nvPr/>
        </p:nvSpPr>
        <p:spPr>
          <a:xfrm>
            <a:off x="5137270" y="2341783"/>
            <a:ext cx="3263202" cy="369277"/>
          </a:xfrm>
          <a:custGeom>
            <a:rect b="b" l="l" r="r" t="t"/>
            <a:pathLst>
              <a:path extrusionOk="0" h="410308" w="3625780">
                <a:moveTo>
                  <a:pt x="66991" y="0"/>
                </a:moveTo>
                <a:lnTo>
                  <a:pt x="3558789" y="0"/>
                </a:lnTo>
                <a:cubicBezTo>
                  <a:pt x="3595787" y="0"/>
                  <a:pt x="3625780" y="29993"/>
                  <a:pt x="3625780" y="66991"/>
                </a:cubicBezTo>
                <a:lnTo>
                  <a:pt x="3625780" y="343317"/>
                </a:lnTo>
                <a:cubicBezTo>
                  <a:pt x="3625780" y="380315"/>
                  <a:pt x="3595787" y="410308"/>
                  <a:pt x="3558789" y="410308"/>
                </a:cubicBezTo>
                <a:lnTo>
                  <a:pt x="66991" y="410308"/>
                </a:lnTo>
                <a:cubicBezTo>
                  <a:pt x="29993" y="410308"/>
                  <a:pt x="0" y="380315"/>
                  <a:pt x="0" y="343317"/>
                </a:cubicBezTo>
                <a:lnTo>
                  <a:pt x="0" y="66991"/>
                </a:lnTo>
                <a:cubicBezTo>
                  <a:pt x="0" y="29993"/>
                  <a:pt x="29993" y="0"/>
                  <a:pt x="66991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145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0"/>
          <p:cNvSpPr/>
          <p:nvPr/>
        </p:nvSpPr>
        <p:spPr>
          <a:xfrm>
            <a:off x="5619725" y="2436000"/>
            <a:ext cx="2298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Two-stage: Vision-Language + Multi-Agent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0"/>
          <p:cNvSpPr/>
          <p:nvPr/>
        </p:nvSpPr>
        <p:spPr>
          <a:xfrm>
            <a:off x="774666" y="2903326"/>
            <a:ext cx="595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Reasoning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0"/>
          <p:cNvSpPr/>
          <p:nvPr/>
        </p:nvSpPr>
        <p:spPr>
          <a:xfrm>
            <a:off x="1741649" y="2835483"/>
            <a:ext cx="3270739" cy="376813"/>
          </a:xfrm>
          <a:custGeom>
            <a:rect b="b" l="l" r="r" t="t"/>
            <a:pathLst>
              <a:path extrusionOk="0" h="418681" w="3634154">
                <a:moveTo>
                  <a:pt x="66989" y="0"/>
                </a:moveTo>
                <a:lnTo>
                  <a:pt x="3567165" y="0"/>
                </a:lnTo>
                <a:cubicBezTo>
                  <a:pt x="3604162" y="0"/>
                  <a:pt x="3634154" y="29992"/>
                  <a:pt x="3634154" y="66989"/>
                </a:cubicBezTo>
                <a:lnTo>
                  <a:pt x="3634154" y="351692"/>
                </a:lnTo>
                <a:cubicBezTo>
                  <a:pt x="3634154" y="388689"/>
                  <a:pt x="3604162" y="418681"/>
                  <a:pt x="3567165" y="418681"/>
                </a:cubicBezTo>
                <a:lnTo>
                  <a:pt x="66989" y="418681"/>
                </a:lnTo>
                <a:cubicBezTo>
                  <a:pt x="30017" y="418681"/>
                  <a:pt x="0" y="388665"/>
                  <a:pt x="0" y="351692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0"/>
          <p:cNvSpPr/>
          <p:nvPr/>
        </p:nvSpPr>
        <p:spPr>
          <a:xfrm>
            <a:off x="2639429" y="2933469"/>
            <a:ext cx="1477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4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Limited, static classification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0"/>
          <p:cNvSpPr/>
          <p:nvPr/>
        </p:nvSpPr>
        <p:spPr>
          <a:xfrm>
            <a:off x="5137270" y="2839252"/>
            <a:ext cx="3263202" cy="369277"/>
          </a:xfrm>
          <a:custGeom>
            <a:rect b="b" l="l" r="r" t="t"/>
            <a:pathLst>
              <a:path extrusionOk="0" h="410308" w="3625780">
                <a:moveTo>
                  <a:pt x="66991" y="0"/>
                </a:moveTo>
                <a:lnTo>
                  <a:pt x="3558789" y="0"/>
                </a:lnTo>
                <a:cubicBezTo>
                  <a:pt x="3595787" y="0"/>
                  <a:pt x="3625780" y="29993"/>
                  <a:pt x="3625780" y="66991"/>
                </a:cubicBezTo>
                <a:lnTo>
                  <a:pt x="3625780" y="343317"/>
                </a:lnTo>
                <a:cubicBezTo>
                  <a:pt x="3625780" y="380315"/>
                  <a:pt x="3595787" y="410308"/>
                  <a:pt x="3558789" y="410308"/>
                </a:cubicBezTo>
                <a:lnTo>
                  <a:pt x="66991" y="410308"/>
                </a:lnTo>
                <a:cubicBezTo>
                  <a:pt x="29993" y="410308"/>
                  <a:pt x="0" y="380315"/>
                  <a:pt x="0" y="343317"/>
                </a:cubicBezTo>
                <a:lnTo>
                  <a:pt x="0" y="66991"/>
                </a:lnTo>
                <a:cubicBezTo>
                  <a:pt x="0" y="29993"/>
                  <a:pt x="29993" y="0"/>
                  <a:pt x="6699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cap="flat" cmpd="sng" w="11450">
            <a:solidFill>
              <a:srgbClr val="E07A5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0"/>
          <p:cNvSpPr/>
          <p:nvPr/>
        </p:nvSpPr>
        <p:spPr>
          <a:xfrm>
            <a:off x="5585748" y="2933469"/>
            <a:ext cx="2366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Advanced: multi-agent debate &amp; verification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0"/>
          <p:cNvSpPr/>
          <p:nvPr/>
        </p:nvSpPr>
        <p:spPr>
          <a:xfrm>
            <a:off x="774666" y="3400796"/>
            <a:ext cx="814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Error Handling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0"/>
          <p:cNvSpPr/>
          <p:nvPr/>
        </p:nvSpPr>
        <p:spPr>
          <a:xfrm>
            <a:off x="1741649" y="3332953"/>
            <a:ext cx="3270739" cy="376813"/>
          </a:xfrm>
          <a:custGeom>
            <a:rect b="b" l="l" r="r" t="t"/>
            <a:pathLst>
              <a:path extrusionOk="0" h="418681" w="3634154">
                <a:moveTo>
                  <a:pt x="66989" y="0"/>
                </a:moveTo>
                <a:lnTo>
                  <a:pt x="3567165" y="0"/>
                </a:lnTo>
                <a:cubicBezTo>
                  <a:pt x="3604162" y="0"/>
                  <a:pt x="3634154" y="29992"/>
                  <a:pt x="3634154" y="66989"/>
                </a:cubicBezTo>
                <a:lnTo>
                  <a:pt x="3634154" y="351692"/>
                </a:lnTo>
                <a:cubicBezTo>
                  <a:pt x="3634154" y="388689"/>
                  <a:pt x="3604162" y="418681"/>
                  <a:pt x="3567165" y="418681"/>
                </a:cubicBezTo>
                <a:lnTo>
                  <a:pt x="66989" y="418681"/>
                </a:lnTo>
                <a:cubicBezTo>
                  <a:pt x="30017" y="418681"/>
                  <a:pt x="0" y="388665"/>
                  <a:pt x="0" y="351692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0"/>
          <p:cNvSpPr/>
          <p:nvPr/>
        </p:nvSpPr>
        <p:spPr>
          <a:xfrm>
            <a:off x="2799777" y="3430939"/>
            <a:ext cx="1153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4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 point of failure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0"/>
          <p:cNvSpPr/>
          <p:nvPr/>
        </p:nvSpPr>
        <p:spPr>
          <a:xfrm>
            <a:off x="5137270" y="3336721"/>
            <a:ext cx="3263202" cy="369277"/>
          </a:xfrm>
          <a:custGeom>
            <a:rect b="b" l="l" r="r" t="t"/>
            <a:pathLst>
              <a:path extrusionOk="0" h="410308" w="3625780">
                <a:moveTo>
                  <a:pt x="66991" y="0"/>
                </a:moveTo>
                <a:lnTo>
                  <a:pt x="3558789" y="0"/>
                </a:lnTo>
                <a:cubicBezTo>
                  <a:pt x="3595787" y="0"/>
                  <a:pt x="3625780" y="29993"/>
                  <a:pt x="3625780" y="66991"/>
                </a:cubicBezTo>
                <a:lnTo>
                  <a:pt x="3625780" y="343317"/>
                </a:lnTo>
                <a:cubicBezTo>
                  <a:pt x="3625780" y="380315"/>
                  <a:pt x="3595787" y="410308"/>
                  <a:pt x="3558789" y="410308"/>
                </a:cubicBezTo>
                <a:lnTo>
                  <a:pt x="66991" y="410308"/>
                </a:lnTo>
                <a:cubicBezTo>
                  <a:pt x="29993" y="410308"/>
                  <a:pt x="0" y="380315"/>
                  <a:pt x="0" y="343317"/>
                </a:cubicBezTo>
                <a:lnTo>
                  <a:pt x="0" y="66991"/>
                </a:lnTo>
                <a:cubicBezTo>
                  <a:pt x="0" y="29993"/>
                  <a:pt x="29993" y="0"/>
                  <a:pt x="66991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145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0"/>
          <p:cNvSpPr/>
          <p:nvPr/>
        </p:nvSpPr>
        <p:spPr>
          <a:xfrm>
            <a:off x="5614190" y="3430939"/>
            <a:ext cx="2306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Robust: cross-verification via Fact-Checker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0"/>
          <p:cNvSpPr/>
          <p:nvPr/>
        </p:nvSpPr>
        <p:spPr>
          <a:xfrm>
            <a:off x="774666" y="3898265"/>
            <a:ext cx="588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0"/>
          <p:cNvSpPr/>
          <p:nvPr/>
        </p:nvSpPr>
        <p:spPr>
          <a:xfrm>
            <a:off x="1741649" y="3830422"/>
            <a:ext cx="3270739" cy="376813"/>
          </a:xfrm>
          <a:custGeom>
            <a:rect b="b" l="l" r="r" t="t"/>
            <a:pathLst>
              <a:path extrusionOk="0" h="418681" w="3634154">
                <a:moveTo>
                  <a:pt x="66989" y="0"/>
                </a:moveTo>
                <a:lnTo>
                  <a:pt x="3567165" y="0"/>
                </a:lnTo>
                <a:cubicBezTo>
                  <a:pt x="3604162" y="0"/>
                  <a:pt x="3634154" y="29992"/>
                  <a:pt x="3634154" y="66989"/>
                </a:cubicBezTo>
                <a:lnTo>
                  <a:pt x="3634154" y="351692"/>
                </a:lnTo>
                <a:cubicBezTo>
                  <a:pt x="3634154" y="388689"/>
                  <a:pt x="3604162" y="418681"/>
                  <a:pt x="3567165" y="418681"/>
                </a:cubicBezTo>
                <a:lnTo>
                  <a:pt x="66989" y="418681"/>
                </a:lnTo>
                <a:cubicBezTo>
                  <a:pt x="30017" y="418681"/>
                  <a:pt x="0" y="388665"/>
                  <a:pt x="0" y="351692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0"/>
          <p:cNvSpPr/>
          <p:nvPr/>
        </p:nvSpPr>
        <p:spPr>
          <a:xfrm>
            <a:off x="2763327" y="3928408"/>
            <a:ext cx="1228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4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Low, rigid architecture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0"/>
          <p:cNvSpPr/>
          <p:nvPr/>
        </p:nvSpPr>
        <p:spPr>
          <a:xfrm>
            <a:off x="5137270" y="3834191"/>
            <a:ext cx="3263202" cy="369277"/>
          </a:xfrm>
          <a:custGeom>
            <a:rect b="b" l="l" r="r" t="t"/>
            <a:pathLst>
              <a:path extrusionOk="0" h="410308" w="3625780">
                <a:moveTo>
                  <a:pt x="66991" y="0"/>
                </a:moveTo>
                <a:lnTo>
                  <a:pt x="3558789" y="0"/>
                </a:lnTo>
                <a:cubicBezTo>
                  <a:pt x="3595787" y="0"/>
                  <a:pt x="3625780" y="29993"/>
                  <a:pt x="3625780" y="66991"/>
                </a:cubicBezTo>
                <a:lnTo>
                  <a:pt x="3625780" y="343317"/>
                </a:lnTo>
                <a:cubicBezTo>
                  <a:pt x="3625780" y="380315"/>
                  <a:pt x="3595787" y="410308"/>
                  <a:pt x="3558789" y="410308"/>
                </a:cubicBezTo>
                <a:lnTo>
                  <a:pt x="66991" y="410308"/>
                </a:lnTo>
                <a:cubicBezTo>
                  <a:pt x="29993" y="410308"/>
                  <a:pt x="0" y="380315"/>
                  <a:pt x="0" y="343317"/>
                </a:cubicBezTo>
                <a:lnTo>
                  <a:pt x="0" y="66991"/>
                </a:lnTo>
                <a:cubicBezTo>
                  <a:pt x="0" y="29993"/>
                  <a:pt x="29993" y="0"/>
                  <a:pt x="66991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145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0"/>
          <p:cNvSpPr/>
          <p:nvPr/>
        </p:nvSpPr>
        <p:spPr>
          <a:xfrm>
            <a:off x="5473040" y="3928408"/>
            <a:ext cx="2592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High: modular, independently upgradable agents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0"/>
          <p:cNvSpPr/>
          <p:nvPr/>
        </p:nvSpPr>
        <p:spPr>
          <a:xfrm>
            <a:off x="774666" y="4395734"/>
            <a:ext cx="5502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UX Mode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0"/>
          <p:cNvSpPr/>
          <p:nvPr/>
        </p:nvSpPr>
        <p:spPr>
          <a:xfrm>
            <a:off x="1741649" y="4327891"/>
            <a:ext cx="3270739" cy="376813"/>
          </a:xfrm>
          <a:custGeom>
            <a:rect b="b" l="l" r="r" t="t"/>
            <a:pathLst>
              <a:path extrusionOk="0" h="418681" w="3634154">
                <a:moveTo>
                  <a:pt x="66989" y="0"/>
                </a:moveTo>
                <a:lnTo>
                  <a:pt x="3567165" y="0"/>
                </a:lnTo>
                <a:cubicBezTo>
                  <a:pt x="3604162" y="0"/>
                  <a:pt x="3634154" y="29992"/>
                  <a:pt x="3634154" y="66989"/>
                </a:cubicBezTo>
                <a:lnTo>
                  <a:pt x="3634154" y="351692"/>
                </a:lnTo>
                <a:cubicBezTo>
                  <a:pt x="3634154" y="388689"/>
                  <a:pt x="3604162" y="418681"/>
                  <a:pt x="3567165" y="418681"/>
                </a:cubicBezTo>
                <a:lnTo>
                  <a:pt x="66989" y="418681"/>
                </a:lnTo>
                <a:cubicBezTo>
                  <a:pt x="30017" y="418681"/>
                  <a:pt x="0" y="388665"/>
                  <a:pt x="0" y="351692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0"/>
          <p:cNvSpPr/>
          <p:nvPr/>
        </p:nvSpPr>
        <p:spPr>
          <a:xfrm>
            <a:off x="2839290" y="4425877"/>
            <a:ext cx="1077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4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Static report output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0"/>
          <p:cNvSpPr/>
          <p:nvPr/>
        </p:nvSpPr>
        <p:spPr>
          <a:xfrm>
            <a:off x="5137270" y="4331660"/>
            <a:ext cx="3263202" cy="369277"/>
          </a:xfrm>
          <a:custGeom>
            <a:rect b="b" l="l" r="r" t="t"/>
            <a:pathLst>
              <a:path extrusionOk="0" h="410308" w="3625780">
                <a:moveTo>
                  <a:pt x="66991" y="0"/>
                </a:moveTo>
                <a:lnTo>
                  <a:pt x="3558789" y="0"/>
                </a:lnTo>
                <a:cubicBezTo>
                  <a:pt x="3595787" y="0"/>
                  <a:pt x="3625780" y="29993"/>
                  <a:pt x="3625780" y="66991"/>
                </a:cubicBezTo>
                <a:lnTo>
                  <a:pt x="3625780" y="343317"/>
                </a:lnTo>
                <a:cubicBezTo>
                  <a:pt x="3625780" y="380315"/>
                  <a:pt x="3595787" y="410308"/>
                  <a:pt x="3558789" y="410308"/>
                </a:cubicBezTo>
                <a:lnTo>
                  <a:pt x="66991" y="410308"/>
                </a:lnTo>
                <a:cubicBezTo>
                  <a:pt x="29993" y="410308"/>
                  <a:pt x="0" y="380315"/>
                  <a:pt x="0" y="343317"/>
                </a:cubicBezTo>
                <a:lnTo>
                  <a:pt x="0" y="66991"/>
                </a:lnTo>
                <a:cubicBezTo>
                  <a:pt x="0" y="29993"/>
                  <a:pt x="29993" y="0"/>
                  <a:pt x="6699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  <a:ln cap="flat" cmpd="sng" w="11450">
            <a:solidFill>
              <a:srgbClr val="E07A5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0"/>
          <p:cNvSpPr/>
          <p:nvPr/>
        </p:nvSpPr>
        <p:spPr>
          <a:xfrm>
            <a:off x="5649463" y="4425877"/>
            <a:ext cx="2238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Interactive: conversational triage interface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0"/>
          <p:cNvSpPr/>
          <p:nvPr/>
        </p:nvSpPr>
        <p:spPr>
          <a:xfrm>
            <a:off x="774666" y="4893204"/>
            <a:ext cx="5955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0"/>
          <p:cNvSpPr/>
          <p:nvPr/>
        </p:nvSpPr>
        <p:spPr>
          <a:xfrm>
            <a:off x="1741649" y="4825361"/>
            <a:ext cx="3270739" cy="376813"/>
          </a:xfrm>
          <a:custGeom>
            <a:rect b="b" l="l" r="r" t="t"/>
            <a:pathLst>
              <a:path extrusionOk="0" h="418681" w="3634154">
                <a:moveTo>
                  <a:pt x="66989" y="0"/>
                </a:moveTo>
                <a:lnTo>
                  <a:pt x="3567165" y="0"/>
                </a:lnTo>
                <a:cubicBezTo>
                  <a:pt x="3604162" y="0"/>
                  <a:pt x="3634154" y="29992"/>
                  <a:pt x="3634154" y="66989"/>
                </a:cubicBezTo>
                <a:lnTo>
                  <a:pt x="3634154" y="351692"/>
                </a:lnTo>
                <a:cubicBezTo>
                  <a:pt x="3634154" y="388689"/>
                  <a:pt x="3604162" y="418681"/>
                  <a:pt x="3567165" y="418681"/>
                </a:cubicBezTo>
                <a:lnTo>
                  <a:pt x="66989" y="418681"/>
                </a:lnTo>
                <a:cubicBezTo>
                  <a:pt x="30017" y="418681"/>
                  <a:pt x="0" y="388665"/>
                  <a:pt x="0" y="351692"/>
                </a:cubicBezTo>
                <a:lnTo>
                  <a:pt x="0" y="66989"/>
                </a:lnTo>
                <a:cubicBezTo>
                  <a:pt x="0" y="30017"/>
                  <a:pt x="30017" y="0"/>
                  <a:pt x="66989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>
            <a:noFill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0"/>
          <p:cNvSpPr/>
          <p:nvPr/>
        </p:nvSpPr>
        <p:spPr>
          <a:xfrm>
            <a:off x="2625415" y="4923347"/>
            <a:ext cx="1499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49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BLEU / ROUGE metrics only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0"/>
          <p:cNvSpPr/>
          <p:nvPr/>
        </p:nvSpPr>
        <p:spPr>
          <a:xfrm>
            <a:off x="5137270" y="4829129"/>
            <a:ext cx="3263202" cy="369277"/>
          </a:xfrm>
          <a:custGeom>
            <a:rect b="b" l="l" r="r" t="t"/>
            <a:pathLst>
              <a:path extrusionOk="0" h="410308" w="3625780">
                <a:moveTo>
                  <a:pt x="66991" y="0"/>
                </a:moveTo>
                <a:lnTo>
                  <a:pt x="3558789" y="0"/>
                </a:lnTo>
                <a:cubicBezTo>
                  <a:pt x="3595787" y="0"/>
                  <a:pt x="3625780" y="29993"/>
                  <a:pt x="3625780" y="66991"/>
                </a:cubicBezTo>
                <a:lnTo>
                  <a:pt x="3625780" y="343317"/>
                </a:lnTo>
                <a:cubicBezTo>
                  <a:pt x="3625780" y="380315"/>
                  <a:pt x="3595787" y="410308"/>
                  <a:pt x="3558789" y="410308"/>
                </a:cubicBezTo>
                <a:lnTo>
                  <a:pt x="66991" y="410308"/>
                </a:lnTo>
                <a:cubicBezTo>
                  <a:pt x="29993" y="410308"/>
                  <a:pt x="0" y="380315"/>
                  <a:pt x="0" y="343317"/>
                </a:cubicBezTo>
                <a:lnTo>
                  <a:pt x="0" y="66991"/>
                </a:lnTo>
                <a:cubicBezTo>
                  <a:pt x="0" y="29993"/>
                  <a:pt x="29993" y="0"/>
                  <a:pt x="66991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 cap="flat" cmpd="sng" w="1145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300" lIns="82300" spcFirstLastPara="1" rIns="82300" wrap="square" tIns="8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0"/>
          <p:cNvSpPr/>
          <p:nvPr/>
        </p:nvSpPr>
        <p:spPr>
          <a:xfrm>
            <a:off x="5479752" y="4923347"/>
            <a:ext cx="25776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49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BLEU / ROUGE + Human-in-the-loop coherence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0"/>
          <p:cNvSpPr/>
          <p:nvPr/>
        </p:nvSpPr>
        <p:spPr>
          <a:xfrm>
            <a:off x="339132" y="5874099"/>
            <a:ext cx="11513736" cy="778747"/>
          </a:xfrm>
          <a:custGeom>
            <a:rect b="b" l="l" r="r" t="t"/>
            <a:pathLst>
              <a:path extrusionOk="0" h="778747" w="11513736">
                <a:moveTo>
                  <a:pt x="133976" y="0"/>
                </a:moveTo>
                <a:lnTo>
                  <a:pt x="11379761" y="0"/>
                </a:lnTo>
                <a:cubicBezTo>
                  <a:pt x="11453753" y="0"/>
                  <a:pt x="11513736" y="59983"/>
                  <a:pt x="11513736" y="133976"/>
                </a:cubicBezTo>
                <a:lnTo>
                  <a:pt x="11513736" y="644772"/>
                </a:lnTo>
                <a:cubicBezTo>
                  <a:pt x="11513736" y="718764"/>
                  <a:pt x="11453753" y="778747"/>
                  <a:pt x="11379761" y="778747"/>
                </a:cubicBezTo>
                <a:lnTo>
                  <a:pt x="133976" y="778747"/>
                </a:lnTo>
                <a:cubicBezTo>
                  <a:pt x="59983" y="778747"/>
                  <a:pt x="0" y="718764"/>
                  <a:pt x="0" y="644772"/>
                </a:cubicBezTo>
                <a:lnTo>
                  <a:pt x="0" y="133976"/>
                </a:lnTo>
                <a:cubicBezTo>
                  <a:pt x="0" y="59983"/>
                  <a:pt x="59983" y="0"/>
                  <a:pt x="133976" y="0"/>
                </a:cubicBezTo>
                <a:close/>
              </a:path>
            </a:pathLst>
          </a:custGeom>
          <a:gradFill>
            <a:gsLst>
              <a:gs pos="0">
                <a:srgbClr val="E07A5F">
                  <a:alpha val="30196"/>
                </a:srgbClr>
              </a:gs>
              <a:gs pos="100000">
                <a:srgbClr val="4A908A">
                  <a:alpha val="30196"/>
                </a:srgbClr>
              </a:gs>
            </a:gsLst>
            <a:lin ang="0" scaled="0"/>
          </a:gradFill>
          <a:ln cap="flat" cmpd="sng" w="12700">
            <a:solidFill>
              <a:srgbClr val="E07A5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0"/>
          <p:cNvSpPr/>
          <p:nvPr/>
        </p:nvSpPr>
        <p:spPr>
          <a:xfrm>
            <a:off x="552659" y="6112747"/>
            <a:ext cx="226088" cy="301451"/>
          </a:xfrm>
          <a:custGeom>
            <a:rect b="b" l="l" r="r" t="t"/>
            <a:pathLst>
              <a:path extrusionOk="0" h="301451" w="226088">
                <a:moveTo>
                  <a:pt x="172451" y="226088"/>
                </a:moveTo>
                <a:cubicBezTo>
                  <a:pt x="176749" y="212958"/>
                  <a:pt x="185345" y="201065"/>
                  <a:pt x="195060" y="190821"/>
                </a:cubicBezTo>
                <a:cubicBezTo>
                  <a:pt x="214312" y="170567"/>
                  <a:pt x="226088" y="143189"/>
                  <a:pt x="226088" y="113044"/>
                </a:cubicBezTo>
                <a:cubicBezTo>
                  <a:pt x="226088" y="50634"/>
                  <a:pt x="175454" y="0"/>
                  <a:pt x="113044" y="0"/>
                </a:cubicBezTo>
                <a:cubicBezTo>
                  <a:pt x="50634" y="0"/>
                  <a:pt x="0" y="50634"/>
                  <a:pt x="0" y="113044"/>
                </a:cubicBezTo>
                <a:cubicBezTo>
                  <a:pt x="0" y="143189"/>
                  <a:pt x="11775" y="170567"/>
                  <a:pt x="31028" y="190821"/>
                </a:cubicBezTo>
                <a:cubicBezTo>
                  <a:pt x="40743" y="201065"/>
                  <a:pt x="49398" y="212958"/>
                  <a:pt x="53637" y="226088"/>
                </a:cubicBezTo>
                <a:lnTo>
                  <a:pt x="172392" y="226088"/>
                </a:lnTo>
                <a:close/>
                <a:moveTo>
                  <a:pt x="169566" y="254349"/>
                </a:moveTo>
                <a:lnTo>
                  <a:pt x="56522" y="254349"/>
                </a:lnTo>
                <a:lnTo>
                  <a:pt x="56522" y="263769"/>
                </a:lnTo>
                <a:cubicBezTo>
                  <a:pt x="56522" y="289793"/>
                  <a:pt x="77600" y="310871"/>
                  <a:pt x="103624" y="310871"/>
                </a:cubicBezTo>
                <a:lnTo>
                  <a:pt x="122464" y="310871"/>
                </a:lnTo>
                <a:cubicBezTo>
                  <a:pt x="148488" y="310871"/>
                  <a:pt x="169566" y="289793"/>
                  <a:pt x="169566" y="263769"/>
                </a:cubicBezTo>
                <a:lnTo>
                  <a:pt x="169566" y="254349"/>
                </a:lnTo>
                <a:close/>
                <a:moveTo>
                  <a:pt x="108334" y="65942"/>
                </a:moveTo>
                <a:cubicBezTo>
                  <a:pt x="84901" y="65942"/>
                  <a:pt x="65942" y="84901"/>
                  <a:pt x="65942" y="108334"/>
                </a:cubicBezTo>
                <a:cubicBezTo>
                  <a:pt x="65942" y="116164"/>
                  <a:pt x="59642" y="122464"/>
                  <a:pt x="51812" y="122464"/>
                </a:cubicBezTo>
                <a:cubicBezTo>
                  <a:pt x="43981" y="122464"/>
                  <a:pt x="37681" y="116164"/>
                  <a:pt x="37681" y="108334"/>
                </a:cubicBezTo>
                <a:cubicBezTo>
                  <a:pt x="37681" y="69298"/>
                  <a:pt x="69298" y="37681"/>
                  <a:pt x="108334" y="37681"/>
                </a:cubicBezTo>
                <a:cubicBezTo>
                  <a:pt x="116164" y="37681"/>
                  <a:pt x="122464" y="43981"/>
                  <a:pt x="122464" y="51812"/>
                </a:cubicBezTo>
                <a:cubicBezTo>
                  <a:pt x="122464" y="59642"/>
                  <a:pt x="116164" y="65942"/>
                  <a:pt x="108334" y="65942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0"/>
          <p:cNvSpPr/>
          <p:nvPr/>
        </p:nvSpPr>
        <p:spPr>
          <a:xfrm>
            <a:off x="988088" y="6012264"/>
            <a:ext cx="9420330" cy="234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19"/>
              <a:buFont typeface="Arial"/>
              <a:buNone/>
            </a:pPr>
            <a:r>
              <a:rPr b="1" i="0" lang="en-US" sz="1319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Hypothesis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0"/>
          <p:cNvSpPr/>
          <p:nvPr/>
        </p:nvSpPr>
        <p:spPr>
          <a:xfrm>
            <a:off x="988088" y="6280220"/>
            <a:ext cx="9403582" cy="234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5"/>
              <a:buFont typeface="Arial"/>
              <a:buNone/>
            </a:pPr>
            <a:r>
              <a:rPr b="0" i="0" lang="en-US" sz="1055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Multi-agent architecture expected to lower clinical discordance rates by </a:t>
            </a:r>
            <a:r>
              <a:rPr b="1" i="0" lang="en-US" sz="1187" u="none" cap="none" strike="noStrike">
                <a:solidFill>
                  <a:srgbClr val="E07A5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≥15%</a:t>
            </a:r>
            <a:r>
              <a:rPr b="0" i="0" lang="en-US" sz="1055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vs. standalone LLM baselines, consistent with TriageAgent (Lu et al., 2024) findings.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4" name="Google Shape;654;p10" title="Screenshot 2569-03-23 at 09.16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1175" y="4704689"/>
            <a:ext cx="3231691" cy="961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10" title="Screenshot 2569-03-23 at 09.16.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5775" y="1038325"/>
            <a:ext cx="3182500" cy="3572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c8.alamy.com/3f378dc152f28367f9919591abe59e8e8f812919.jpg" id="661" name="Google Shape;661;p11"/>
          <p:cNvPicPr preferRelativeResize="0"/>
          <p:nvPr/>
        </p:nvPicPr>
        <p:blipFill rotWithShape="1">
          <a:blip r:embed="rId3">
            <a:alphaModFix amt="30000"/>
          </a:blip>
          <a:srcRect b="8965" l="0" r="0" t="8965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62" name="Google Shape;662;p1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90196"/>
                </a:srgbClr>
              </a:gs>
              <a:gs pos="100000">
                <a:srgbClr val="4A908A">
                  <a:alpha val="2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663" name="Google Shape;663;p11"/>
          <p:cNvSpPr/>
          <p:nvPr/>
        </p:nvSpPr>
        <p:spPr>
          <a:xfrm>
            <a:off x="381000" y="419100"/>
            <a:ext cx="76200" cy="381000"/>
          </a:xfrm>
          <a:custGeom>
            <a:rect b="b" l="l" r="r" t="t"/>
            <a:pathLst>
              <a:path extrusionOk="0" h="381000" w="762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</p:sp>
      <p:sp>
        <p:nvSpPr>
          <p:cNvPr id="664" name="Google Shape;664;p11"/>
          <p:cNvSpPr/>
          <p:nvPr/>
        </p:nvSpPr>
        <p:spPr>
          <a:xfrm>
            <a:off x="571500" y="381000"/>
            <a:ext cx="2447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DF2F4"/>
                </a:solidFill>
                <a:latin typeface="Liter"/>
                <a:ea typeface="Liter"/>
                <a:cs typeface="Liter"/>
                <a:sym typeface="Liter"/>
              </a:rPr>
              <a:t>Next Steps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1"/>
          <p:cNvSpPr/>
          <p:nvPr/>
        </p:nvSpPr>
        <p:spPr>
          <a:xfrm>
            <a:off x="571500" y="914400"/>
            <a:ext cx="1133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Immediate Actions &amp; Core Contributions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1"/>
          <p:cNvSpPr/>
          <p:nvPr/>
        </p:nvSpPr>
        <p:spPr>
          <a:xfrm>
            <a:off x="385763" y="1338263"/>
            <a:ext cx="5610225" cy="4810125"/>
          </a:xfrm>
          <a:custGeom>
            <a:rect b="b" l="l" r="r" t="t"/>
            <a:pathLst>
              <a:path extrusionOk="0" h="4810125" w="5610225">
                <a:moveTo>
                  <a:pt x="152385" y="0"/>
                </a:moveTo>
                <a:lnTo>
                  <a:pt x="5457840" y="0"/>
                </a:lnTo>
                <a:cubicBezTo>
                  <a:pt x="5542000" y="0"/>
                  <a:pt x="5610225" y="68225"/>
                  <a:pt x="5610225" y="152385"/>
                </a:cubicBezTo>
                <a:lnTo>
                  <a:pt x="5610225" y="4657740"/>
                </a:lnTo>
                <a:cubicBezTo>
                  <a:pt x="5610225" y="4741900"/>
                  <a:pt x="5542000" y="4810125"/>
                  <a:pt x="5457840" y="4810125"/>
                </a:cubicBezTo>
                <a:lnTo>
                  <a:pt x="152385" y="4810125"/>
                </a:lnTo>
                <a:cubicBezTo>
                  <a:pt x="68225" y="4810125"/>
                  <a:pt x="0" y="4741900"/>
                  <a:pt x="0" y="4657740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cap="flat" cmpd="sng" w="12700">
            <a:solidFill>
              <a:srgbClr val="E07A5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1"/>
          <p:cNvSpPr/>
          <p:nvPr/>
        </p:nvSpPr>
        <p:spPr>
          <a:xfrm>
            <a:off x="581025" y="1533525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1"/>
          <p:cNvSpPr/>
          <p:nvPr/>
        </p:nvSpPr>
        <p:spPr>
          <a:xfrm>
            <a:off x="733425" y="1685925"/>
            <a:ext cx="228600" cy="228600"/>
          </a:xfrm>
          <a:custGeom>
            <a:rect b="b" l="l" r="r" t="t"/>
            <a:pathLst>
              <a:path extrusionOk="0" h="228600" w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1"/>
          <p:cNvSpPr/>
          <p:nvPr/>
        </p:nvSpPr>
        <p:spPr>
          <a:xfrm>
            <a:off x="1228725" y="1647825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07A5F"/>
                </a:solidFill>
                <a:latin typeface="Liter"/>
                <a:ea typeface="Liter"/>
                <a:cs typeface="Liter"/>
                <a:sym typeface="Liter"/>
              </a:rPr>
              <a:t>Immediate Actions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1"/>
          <p:cNvSpPr/>
          <p:nvPr/>
        </p:nvSpPr>
        <p:spPr>
          <a:xfrm>
            <a:off x="581025" y="2219325"/>
            <a:ext cx="5219700" cy="685800"/>
          </a:xfrm>
          <a:custGeom>
            <a:rect b="b" l="l" r="r" t="t"/>
            <a:pathLst>
              <a:path extrusionOk="0" h="685800" w="52197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1"/>
          <p:cNvSpPr/>
          <p:nvPr/>
        </p:nvSpPr>
        <p:spPr>
          <a:xfrm>
            <a:off x="695325" y="23336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1"/>
          <p:cNvSpPr/>
          <p:nvPr/>
        </p:nvSpPr>
        <p:spPr>
          <a:xfrm>
            <a:off x="657225" y="2333625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1"/>
          <p:cNvSpPr/>
          <p:nvPr/>
        </p:nvSpPr>
        <p:spPr>
          <a:xfrm>
            <a:off x="1114425" y="2333625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 IU X-Ray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1"/>
          <p:cNvSpPr/>
          <p:nvPr/>
        </p:nvSpPr>
        <p:spPr>
          <a:xfrm>
            <a:off x="1114425" y="2562225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preprocessing &amp; augmentation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1"/>
          <p:cNvSpPr/>
          <p:nvPr/>
        </p:nvSpPr>
        <p:spPr>
          <a:xfrm>
            <a:off x="581025" y="2981325"/>
            <a:ext cx="5219700" cy="685800"/>
          </a:xfrm>
          <a:custGeom>
            <a:rect b="b" l="l" r="r" t="t"/>
            <a:pathLst>
              <a:path extrusionOk="0" h="685800" w="52197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1"/>
          <p:cNvSpPr/>
          <p:nvPr/>
        </p:nvSpPr>
        <p:spPr>
          <a:xfrm>
            <a:off x="695325" y="30956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1"/>
          <p:cNvSpPr/>
          <p:nvPr/>
        </p:nvSpPr>
        <p:spPr>
          <a:xfrm>
            <a:off x="657225" y="3095625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1"/>
          <p:cNvSpPr/>
          <p:nvPr/>
        </p:nvSpPr>
        <p:spPr>
          <a:xfrm>
            <a:off x="1114425" y="3095625"/>
            <a:ext cx="1771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CNN Baseline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1"/>
          <p:cNvSpPr/>
          <p:nvPr/>
        </p:nvSpPr>
        <p:spPr>
          <a:xfrm>
            <a:off x="1114425" y="3324225"/>
            <a:ext cx="1771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ResNet-18 image encoder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1"/>
          <p:cNvSpPr/>
          <p:nvPr/>
        </p:nvSpPr>
        <p:spPr>
          <a:xfrm>
            <a:off x="581025" y="3743325"/>
            <a:ext cx="5219700" cy="685800"/>
          </a:xfrm>
          <a:custGeom>
            <a:rect b="b" l="l" r="r" t="t"/>
            <a:pathLst>
              <a:path extrusionOk="0" h="685800" w="52197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1"/>
          <p:cNvSpPr/>
          <p:nvPr/>
        </p:nvSpPr>
        <p:spPr>
          <a:xfrm>
            <a:off x="695325" y="38576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1"/>
          <p:cNvSpPr/>
          <p:nvPr/>
        </p:nvSpPr>
        <p:spPr>
          <a:xfrm>
            <a:off x="657225" y="3857625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1"/>
          <p:cNvSpPr/>
          <p:nvPr/>
        </p:nvSpPr>
        <p:spPr>
          <a:xfrm>
            <a:off x="1114425" y="3857625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BiLSTM Baseline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1"/>
          <p:cNvSpPr/>
          <p:nvPr/>
        </p:nvSpPr>
        <p:spPr>
          <a:xfrm>
            <a:off x="1114425" y="4086225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GloVe/Word2Vec text encoder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1"/>
          <p:cNvSpPr/>
          <p:nvPr/>
        </p:nvSpPr>
        <p:spPr>
          <a:xfrm>
            <a:off x="581025" y="4505325"/>
            <a:ext cx="5219700" cy="685800"/>
          </a:xfrm>
          <a:custGeom>
            <a:rect b="b" l="l" r="r" t="t"/>
            <a:pathLst>
              <a:path extrusionOk="0" h="685800" w="52197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1"/>
          <p:cNvSpPr/>
          <p:nvPr/>
        </p:nvSpPr>
        <p:spPr>
          <a:xfrm>
            <a:off x="695325" y="46196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1"/>
          <p:cNvSpPr/>
          <p:nvPr/>
        </p:nvSpPr>
        <p:spPr>
          <a:xfrm>
            <a:off x="657225" y="4619625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1"/>
          <p:cNvSpPr/>
          <p:nvPr/>
        </p:nvSpPr>
        <p:spPr>
          <a:xfrm>
            <a:off x="1114425" y="4619625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Integrate Fusion Head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1"/>
          <p:cNvSpPr/>
          <p:nvPr/>
        </p:nvSpPr>
        <p:spPr>
          <a:xfrm>
            <a:off x="1114425" y="4848225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Concatenation &amp; classification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1"/>
          <p:cNvSpPr/>
          <p:nvPr/>
        </p:nvSpPr>
        <p:spPr>
          <a:xfrm>
            <a:off x="581025" y="5267325"/>
            <a:ext cx="5219700" cy="685800"/>
          </a:xfrm>
          <a:custGeom>
            <a:rect b="b" l="l" r="r" t="t"/>
            <a:pathLst>
              <a:path extrusionOk="0" h="685800" w="52197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1"/>
          <p:cNvSpPr/>
          <p:nvPr/>
        </p:nvSpPr>
        <p:spPr>
          <a:xfrm>
            <a:off x="695325" y="53816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1"/>
          <p:cNvSpPr/>
          <p:nvPr/>
        </p:nvSpPr>
        <p:spPr>
          <a:xfrm>
            <a:off x="657225" y="5381625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1"/>
          <p:cNvSpPr/>
          <p:nvPr/>
        </p:nvSpPr>
        <p:spPr>
          <a:xfrm>
            <a:off x="1114425" y="5381625"/>
            <a:ext cx="2152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 Agent Orchestration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1"/>
          <p:cNvSpPr/>
          <p:nvPr/>
        </p:nvSpPr>
        <p:spPr>
          <a:xfrm>
            <a:off x="1114425" y="5610225"/>
            <a:ext cx="2152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LangChain + Gemini 2.5 Flash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1"/>
          <p:cNvSpPr/>
          <p:nvPr/>
        </p:nvSpPr>
        <p:spPr>
          <a:xfrm>
            <a:off x="6196013" y="1338263"/>
            <a:ext cx="5610225" cy="4810125"/>
          </a:xfrm>
          <a:custGeom>
            <a:rect b="b" l="l" r="r" t="t"/>
            <a:pathLst>
              <a:path extrusionOk="0" h="4810125" w="5610225">
                <a:moveTo>
                  <a:pt x="152385" y="0"/>
                </a:moveTo>
                <a:lnTo>
                  <a:pt x="5457840" y="0"/>
                </a:lnTo>
                <a:cubicBezTo>
                  <a:pt x="5542000" y="0"/>
                  <a:pt x="5610225" y="68225"/>
                  <a:pt x="5610225" y="152385"/>
                </a:cubicBezTo>
                <a:lnTo>
                  <a:pt x="5610225" y="4657740"/>
                </a:lnTo>
                <a:cubicBezTo>
                  <a:pt x="5610225" y="4741900"/>
                  <a:pt x="5542000" y="4810125"/>
                  <a:pt x="5457840" y="4810125"/>
                </a:cubicBezTo>
                <a:lnTo>
                  <a:pt x="152385" y="4810125"/>
                </a:lnTo>
                <a:cubicBezTo>
                  <a:pt x="68225" y="4810125"/>
                  <a:pt x="0" y="4741900"/>
                  <a:pt x="0" y="4657740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1"/>
          <p:cNvSpPr/>
          <p:nvPr/>
        </p:nvSpPr>
        <p:spPr>
          <a:xfrm>
            <a:off x="6391275" y="1533525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1"/>
          <p:cNvSpPr/>
          <p:nvPr/>
        </p:nvSpPr>
        <p:spPr>
          <a:xfrm>
            <a:off x="6529388" y="1685925"/>
            <a:ext cx="257175" cy="228600"/>
          </a:xfrm>
          <a:custGeom>
            <a:rect b="b" l="l" r="r" t="t"/>
            <a:pathLst>
              <a:path extrusionOk="0" h="228600" w="257175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1"/>
          <p:cNvSpPr/>
          <p:nvPr/>
        </p:nvSpPr>
        <p:spPr>
          <a:xfrm>
            <a:off x="7038975" y="1647825"/>
            <a:ext cx="2019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A908A"/>
                </a:solidFill>
                <a:latin typeface="Liter"/>
                <a:ea typeface="Liter"/>
                <a:cs typeface="Liter"/>
                <a:sym typeface="Liter"/>
              </a:rPr>
              <a:t>Core Contributions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1"/>
          <p:cNvSpPr/>
          <p:nvPr/>
        </p:nvSpPr>
        <p:spPr>
          <a:xfrm>
            <a:off x="6410325" y="2219325"/>
            <a:ext cx="5200650" cy="723900"/>
          </a:xfrm>
          <a:custGeom>
            <a:rect b="b" l="l" r="r" t="t"/>
            <a:pathLst>
              <a:path extrusionOk="0" h="723900" w="5200650">
                <a:moveTo>
                  <a:pt x="38100" y="0"/>
                </a:moveTo>
                <a:lnTo>
                  <a:pt x="5086353" y="0"/>
                </a:lnTo>
                <a:cubicBezTo>
                  <a:pt x="5149478" y="0"/>
                  <a:pt x="5200650" y="51172"/>
                  <a:pt x="5200650" y="114297"/>
                </a:cubicBezTo>
                <a:lnTo>
                  <a:pt x="5200650" y="609603"/>
                </a:lnTo>
                <a:cubicBezTo>
                  <a:pt x="5200650" y="672728"/>
                  <a:pt x="5149478" y="723900"/>
                  <a:pt x="508635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1"/>
          <p:cNvSpPr/>
          <p:nvPr/>
        </p:nvSpPr>
        <p:spPr>
          <a:xfrm>
            <a:off x="6410325" y="2219325"/>
            <a:ext cx="38100" cy="723900"/>
          </a:xfrm>
          <a:custGeom>
            <a:rect b="b" l="l" r="r" t="t"/>
            <a:pathLst>
              <a:path extrusionOk="0" h="723900" w="381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1"/>
          <p:cNvSpPr/>
          <p:nvPr/>
        </p:nvSpPr>
        <p:spPr>
          <a:xfrm>
            <a:off x="6562725" y="2371725"/>
            <a:ext cx="152400" cy="152400"/>
          </a:xfrm>
          <a:custGeom>
            <a:rect b="b" l="l" r="r" t="t"/>
            <a:pathLst>
              <a:path extrusionOk="0" h="152400" w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1"/>
          <p:cNvSpPr/>
          <p:nvPr/>
        </p:nvSpPr>
        <p:spPr>
          <a:xfrm>
            <a:off x="6810375" y="2333625"/>
            <a:ext cx="2181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Unified Multimodal 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1"/>
          <p:cNvSpPr/>
          <p:nvPr/>
        </p:nvSpPr>
        <p:spPr>
          <a:xfrm>
            <a:off x="6772275" y="2600325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CNN-BiLSTM fusion aligning radiology with symptoms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1"/>
          <p:cNvSpPr/>
          <p:nvPr/>
        </p:nvSpPr>
        <p:spPr>
          <a:xfrm>
            <a:off x="6410325" y="3019425"/>
            <a:ext cx="5200650" cy="723900"/>
          </a:xfrm>
          <a:custGeom>
            <a:rect b="b" l="l" r="r" t="t"/>
            <a:pathLst>
              <a:path extrusionOk="0" h="723900" w="5200650">
                <a:moveTo>
                  <a:pt x="38100" y="0"/>
                </a:moveTo>
                <a:lnTo>
                  <a:pt x="5086353" y="0"/>
                </a:lnTo>
                <a:cubicBezTo>
                  <a:pt x="5149478" y="0"/>
                  <a:pt x="5200650" y="51172"/>
                  <a:pt x="5200650" y="114297"/>
                </a:cubicBezTo>
                <a:lnTo>
                  <a:pt x="5200650" y="609603"/>
                </a:lnTo>
                <a:cubicBezTo>
                  <a:pt x="5200650" y="672728"/>
                  <a:pt x="5149478" y="723900"/>
                  <a:pt x="508635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1"/>
          <p:cNvSpPr/>
          <p:nvPr/>
        </p:nvSpPr>
        <p:spPr>
          <a:xfrm>
            <a:off x="6410325" y="3019425"/>
            <a:ext cx="38100" cy="723900"/>
          </a:xfrm>
          <a:custGeom>
            <a:rect b="b" l="l" r="r" t="t"/>
            <a:pathLst>
              <a:path extrusionOk="0" h="723900" w="381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1"/>
          <p:cNvSpPr/>
          <p:nvPr/>
        </p:nvSpPr>
        <p:spPr>
          <a:xfrm>
            <a:off x="6562725" y="3171825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1"/>
          <p:cNvSpPr/>
          <p:nvPr/>
        </p:nvSpPr>
        <p:spPr>
          <a:xfrm>
            <a:off x="6810375" y="3133725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Role-Based Verification Protocol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1"/>
          <p:cNvSpPr/>
          <p:nvPr/>
        </p:nvSpPr>
        <p:spPr>
          <a:xfrm>
            <a:off x="6772275" y="3400425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Multi-agent framework mitigating clinical hallucinations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1"/>
          <p:cNvSpPr/>
          <p:nvPr/>
        </p:nvSpPr>
        <p:spPr>
          <a:xfrm>
            <a:off x="6410325" y="3819525"/>
            <a:ext cx="5200650" cy="723900"/>
          </a:xfrm>
          <a:custGeom>
            <a:rect b="b" l="l" r="r" t="t"/>
            <a:pathLst>
              <a:path extrusionOk="0" h="723900" w="5200650">
                <a:moveTo>
                  <a:pt x="38100" y="0"/>
                </a:moveTo>
                <a:lnTo>
                  <a:pt x="5086353" y="0"/>
                </a:lnTo>
                <a:cubicBezTo>
                  <a:pt x="5149478" y="0"/>
                  <a:pt x="5200650" y="51172"/>
                  <a:pt x="5200650" y="114297"/>
                </a:cubicBezTo>
                <a:lnTo>
                  <a:pt x="5200650" y="609603"/>
                </a:lnTo>
                <a:cubicBezTo>
                  <a:pt x="5200650" y="672728"/>
                  <a:pt x="5149478" y="723900"/>
                  <a:pt x="508635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1"/>
          <p:cNvSpPr/>
          <p:nvPr/>
        </p:nvSpPr>
        <p:spPr>
          <a:xfrm>
            <a:off x="6410325" y="3819525"/>
            <a:ext cx="38100" cy="723900"/>
          </a:xfrm>
          <a:custGeom>
            <a:rect b="b" l="l" r="r" t="t"/>
            <a:pathLst>
              <a:path extrusionOk="0" h="723900" w="381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1"/>
          <p:cNvSpPr/>
          <p:nvPr/>
        </p:nvSpPr>
        <p:spPr>
          <a:xfrm>
            <a:off x="6562725" y="3971925"/>
            <a:ext cx="152400" cy="152400"/>
          </a:xfrm>
          <a:custGeom>
            <a:rect b="b" l="l" r="r" t="t"/>
            <a:pathLst>
              <a:path extrusionOk="0" h="152400" w="152400">
                <a:moveTo>
                  <a:pt x="141476" y="30"/>
                </a:moveTo>
                <a:cubicBezTo>
                  <a:pt x="144423" y="-208"/>
                  <a:pt x="147310" y="923"/>
                  <a:pt x="149394" y="3006"/>
                </a:cubicBezTo>
                <a:cubicBezTo>
                  <a:pt x="151477" y="5090"/>
                  <a:pt x="152608" y="7977"/>
                  <a:pt x="152370" y="10924"/>
                </a:cubicBezTo>
                <a:cubicBezTo>
                  <a:pt x="151180" y="25598"/>
                  <a:pt x="147191" y="48488"/>
                  <a:pt x="138589" y="70366"/>
                </a:cubicBezTo>
                <a:cubicBezTo>
                  <a:pt x="138053" y="71705"/>
                  <a:pt x="136952" y="72717"/>
                  <a:pt x="135553" y="73134"/>
                </a:cubicBezTo>
                <a:lnTo>
                  <a:pt x="111472" y="80367"/>
                </a:lnTo>
                <a:cubicBezTo>
                  <a:pt x="110311" y="80724"/>
                  <a:pt x="109537" y="81766"/>
                  <a:pt x="109537" y="82987"/>
                </a:cubicBezTo>
                <a:cubicBezTo>
                  <a:pt x="109537" y="84505"/>
                  <a:pt x="110758" y="85725"/>
                  <a:pt x="112276" y="85725"/>
                </a:cubicBezTo>
                <a:lnTo>
                  <a:pt x="123765" y="85725"/>
                </a:lnTo>
                <a:cubicBezTo>
                  <a:pt x="127337" y="85725"/>
                  <a:pt x="129629" y="89535"/>
                  <a:pt x="127784" y="92601"/>
                </a:cubicBezTo>
                <a:cubicBezTo>
                  <a:pt x="126593" y="94595"/>
                  <a:pt x="125313" y="96530"/>
                  <a:pt x="124004" y="98435"/>
                </a:cubicBezTo>
                <a:cubicBezTo>
                  <a:pt x="123408" y="99298"/>
                  <a:pt x="122515" y="99923"/>
                  <a:pt x="121503" y="100251"/>
                </a:cubicBezTo>
                <a:lnTo>
                  <a:pt x="92422" y="108942"/>
                </a:lnTo>
                <a:cubicBezTo>
                  <a:pt x="91261" y="109299"/>
                  <a:pt x="90488" y="110341"/>
                  <a:pt x="90488" y="111562"/>
                </a:cubicBezTo>
                <a:cubicBezTo>
                  <a:pt x="90488" y="113080"/>
                  <a:pt x="91708" y="114300"/>
                  <a:pt x="93226" y="114300"/>
                </a:cubicBezTo>
                <a:lnTo>
                  <a:pt x="97988" y="114300"/>
                </a:lnTo>
                <a:cubicBezTo>
                  <a:pt x="102334" y="114300"/>
                  <a:pt x="104239" y="119479"/>
                  <a:pt x="100608" y="121860"/>
                </a:cubicBezTo>
                <a:cubicBezTo>
                  <a:pt x="80367" y="135255"/>
                  <a:pt x="59621" y="134749"/>
                  <a:pt x="46315" y="131177"/>
                </a:cubicBezTo>
                <a:cubicBezTo>
                  <a:pt x="42535" y="130165"/>
                  <a:pt x="39172" y="128230"/>
                  <a:pt x="36076" y="125849"/>
                </a:cubicBezTo>
                <a:lnTo>
                  <a:pt x="14288" y="147638"/>
                </a:lnTo>
                <a:cubicBezTo>
                  <a:pt x="11668" y="150257"/>
                  <a:pt x="7382" y="150257"/>
                  <a:pt x="4763" y="147638"/>
                </a:cubicBezTo>
                <a:cubicBezTo>
                  <a:pt x="2143" y="145018"/>
                  <a:pt x="2143" y="140732"/>
                  <a:pt x="4763" y="138113"/>
                </a:cubicBezTo>
                <a:lnTo>
                  <a:pt x="28575" y="114300"/>
                </a:lnTo>
                <a:lnTo>
                  <a:pt x="28724" y="114449"/>
                </a:lnTo>
                <a:cubicBezTo>
                  <a:pt x="28932" y="114062"/>
                  <a:pt x="29200" y="113705"/>
                  <a:pt x="29527" y="113377"/>
                </a:cubicBezTo>
                <a:lnTo>
                  <a:pt x="76200" y="66675"/>
                </a:lnTo>
                <a:cubicBezTo>
                  <a:pt x="78819" y="64056"/>
                  <a:pt x="78819" y="59769"/>
                  <a:pt x="76200" y="57150"/>
                </a:cubicBezTo>
                <a:cubicBezTo>
                  <a:pt x="73581" y="54531"/>
                  <a:pt x="69294" y="54531"/>
                  <a:pt x="66675" y="57150"/>
                </a:cubicBezTo>
                <a:lnTo>
                  <a:pt x="26700" y="97095"/>
                </a:lnTo>
                <a:cubicBezTo>
                  <a:pt x="24051" y="99745"/>
                  <a:pt x="19556" y="98405"/>
                  <a:pt x="19258" y="94655"/>
                </a:cubicBezTo>
                <a:cubicBezTo>
                  <a:pt x="17978" y="78819"/>
                  <a:pt x="22027" y="58013"/>
                  <a:pt x="40868" y="39172"/>
                </a:cubicBezTo>
                <a:cubicBezTo>
                  <a:pt x="67985" y="12055"/>
                  <a:pt x="116532" y="2054"/>
                  <a:pt x="141446" y="30"/>
                </a:cubicBezTo>
                <a:close/>
              </a:path>
            </a:pathLst>
          </a:custGeom>
          <a:solidFill>
            <a:srgbClr val="4A9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1"/>
          <p:cNvSpPr/>
          <p:nvPr/>
        </p:nvSpPr>
        <p:spPr>
          <a:xfrm>
            <a:off x="6810375" y="3933825"/>
            <a:ext cx="255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Lightweight Edge-Deployable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1"/>
          <p:cNvSpPr/>
          <p:nvPr/>
        </p:nvSpPr>
        <p:spPr>
          <a:xfrm>
            <a:off x="6772275" y="4200525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Consumer-grade hardware feasibility (M-series / RTX)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1"/>
          <p:cNvSpPr/>
          <p:nvPr/>
        </p:nvSpPr>
        <p:spPr>
          <a:xfrm>
            <a:off x="6410325" y="4619625"/>
            <a:ext cx="5200650" cy="723900"/>
          </a:xfrm>
          <a:custGeom>
            <a:rect b="b" l="l" r="r" t="t"/>
            <a:pathLst>
              <a:path extrusionOk="0" h="723900" w="5200650">
                <a:moveTo>
                  <a:pt x="38100" y="0"/>
                </a:moveTo>
                <a:lnTo>
                  <a:pt x="5086353" y="0"/>
                </a:lnTo>
                <a:cubicBezTo>
                  <a:pt x="5149478" y="0"/>
                  <a:pt x="5200650" y="51172"/>
                  <a:pt x="5200650" y="114297"/>
                </a:cubicBezTo>
                <a:lnTo>
                  <a:pt x="5200650" y="609603"/>
                </a:lnTo>
                <a:cubicBezTo>
                  <a:pt x="5200650" y="672728"/>
                  <a:pt x="5149478" y="723900"/>
                  <a:pt x="508635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1"/>
          <p:cNvSpPr/>
          <p:nvPr/>
        </p:nvSpPr>
        <p:spPr>
          <a:xfrm>
            <a:off x="6410325" y="4619625"/>
            <a:ext cx="38100" cy="723900"/>
          </a:xfrm>
          <a:custGeom>
            <a:rect b="b" l="l" r="r" t="t"/>
            <a:pathLst>
              <a:path extrusionOk="0" h="723900" w="381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1"/>
          <p:cNvSpPr/>
          <p:nvPr/>
        </p:nvSpPr>
        <p:spPr>
          <a:xfrm>
            <a:off x="6553200" y="4772025"/>
            <a:ext cx="171450" cy="152400"/>
          </a:xfrm>
          <a:custGeom>
            <a:rect b="b" l="l" r="r" t="t"/>
            <a:pathLst>
              <a:path extrusionOk="0" h="152400" w="171450">
                <a:moveTo>
                  <a:pt x="85725" y="19050"/>
                </a:moveTo>
                <a:cubicBezTo>
                  <a:pt x="80468" y="19050"/>
                  <a:pt x="76200" y="23318"/>
                  <a:pt x="76200" y="28575"/>
                </a:cubicBezTo>
                <a:cubicBezTo>
                  <a:pt x="76200" y="33832"/>
                  <a:pt x="80468" y="38100"/>
                  <a:pt x="85725" y="38100"/>
                </a:cubicBezTo>
                <a:cubicBezTo>
                  <a:pt x="90982" y="38100"/>
                  <a:pt x="95250" y="33832"/>
                  <a:pt x="95250" y="28575"/>
                </a:cubicBezTo>
                <a:cubicBezTo>
                  <a:pt x="95250" y="23318"/>
                  <a:pt x="90982" y="19050"/>
                  <a:pt x="85725" y="19050"/>
                </a:cubicBezTo>
                <a:close/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cubicBezTo>
                  <a:pt x="114300" y="41017"/>
                  <a:pt x="106353" y="51614"/>
                  <a:pt x="95250" y="55513"/>
                </a:cubicBezTo>
                <a:lnTo>
                  <a:pt x="95250" y="132278"/>
                </a:lnTo>
                <a:cubicBezTo>
                  <a:pt x="113973" y="128022"/>
                  <a:pt x="128052" y="111532"/>
                  <a:pt x="128558" y="91648"/>
                </a:cubicBezTo>
                <a:lnTo>
                  <a:pt x="123765" y="95845"/>
                </a:lnTo>
                <a:cubicBezTo>
                  <a:pt x="120789" y="98435"/>
                  <a:pt x="116294" y="98137"/>
                  <a:pt x="113675" y="95161"/>
                </a:cubicBezTo>
                <a:cubicBezTo>
                  <a:pt x="111056" y="92184"/>
                  <a:pt x="111383" y="87690"/>
                  <a:pt x="114360" y="85070"/>
                </a:cubicBezTo>
                <a:lnTo>
                  <a:pt x="133410" y="68401"/>
                </a:lnTo>
                <a:cubicBezTo>
                  <a:pt x="136088" y="66050"/>
                  <a:pt x="140137" y="66050"/>
                  <a:pt x="142815" y="68401"/>
                </a:cubicBezTo>
                <a:lnTo>
                  <a:pt x="161865" y="85070"/>
                </a:lnTo>
                <a:cubicBezTo>
                  <a:pt x="164842" y="87660"/>
                  <a:pt x="165140" y="92184"/>
                  <a:pt x="162550" y="95161"/>
                </a:cubicBezTo>
                <a:cubicBezTo>
                  <a:pt x="159960" y="98137"/>
                  <a:pt x="155436" y="98435"/>
                  <a:pt x="152460" y="95845"/>
                </a:cubicBezTo>
                <a:lnTo>
                  <a:pt x="147638" y="91648"/>
                </a:lnTo>
                <a:cubicBezTo>
                  <a:pt x="147012" y="125313"/>
                  <a:pt x="119539" y="152400"/>
                  <a:pt x="85725" y="152400"/>
                </a:cubicBezTo>
                <a:cubicBezTo>
                  <a:pt x="51911" y="152400"/>
                  <a:pt x="24438" y="125313"/>
                  <a:pt x="23813" y="91648"/>
                </a:cubicBezTo>
                <a:lnTo>
                  <a:pt x="18990" y="95875"/>
                </a:lnTo>
                <a:cubicBezTo>
                  <a:pt x="16014" y="98465"/>
                  <a:pt x="11519" y="98167"/>
                  <a:pt x="8900" y="95190"/>
                </a:cubicBezTo>
                <a:cubicBezTo>
                  <a:pt x="6281" y="92214"/>
                  <a:pt x="6608" y="87719"/>
                  <a:pt x="9585" y="85100"/>
                </a:cubicBezTo>
                <a:lnTo>
                  <a:pt x="28635" y="68431"/>
                </a:lnTo>
                <a:cubicBezTo>
                  <a:pt x="31313" y="66080"/>
                  <a:pt x="35362" y="66080"/>
                  <a:pt x="38040" y="68431"/>
                </a:cubicBezTo>
                <a:lnTo>
                  <a:pt x="57090" y="85100"/>
                </a:lnTo>
                <a:cubicBezTo>
                  <a:pt x="60067" y="87690"/>
                  <a:pt x="60365" y="92214"/>
                  <a:pt x="57775" y="95190"/>
                </a:cubicBezTo>
                <a:cubicBezTo>
                  <a:pt x="55185" y="98167"/>
                  <a:pt x="50661" y="98465"/>
                  <a:pt x="47685" y="95875"/>
                </a:cubicBezTo>
                <a:lnTo>
                  <a:pt x="42892" y="91678"/>
                </a:lnTo>
                <a:cubicBezTo>
                  <a:pt x="43428" y="111562"/>
                  <a:pt x="57507" y="128052"/>
                  <a:pt x="76200" y="132308"/>
                </a:cubicBezTo>
                <a:lnTo>
                  <a:pt x="76200" y="55543"/>
                </a:lnTo>
                <a:cubicBezTo>
                  <a:pt x="65097" y="51614"/>
                  <a:pt x="57150" y="41047"/>
                  <a:pt x="57150" y="28605"/>
                </a:cubicBezTo>
                <a:close/>
              </a:path>
            </a:pathLst>
          </a:custGeom>
          <a:solidFill>
            <a:srgbClr val="8D99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1"/>
          <p:cNvSpPr/>
          <p:nvPr/>
        </p:nvSpPr>
        <p:spPr>
          <a:xfrm>
            <a:off x="6810375" y="4733925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DF2F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Grounded Generative Outputs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1"/>
          <p:cNvSpPr/>
          <p:nvPr/>
        </p:nvSpPr>
        <p:spPr>
          <a:xfrm>
            <a:off x="6772275" y="5000625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Deterministic Feature A anchors Feature B agents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1"/>
          <p:cNvSpPr/>
          <p:nvPr/>
        </p:nvSpPr>
        <p:spPr>
          <a:xfrm>
            <a:off x="342900" y="630555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Asian Institute of Technology — NLP 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1"/>
          <p:cNvSpPr/>
          <p:nvPr/>
        </p:nvSpPr>
        <p:spPr>
          <a:xfrm>
            <a:off x="342900" y="657225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MediSim: Multimodal Diagnostic &amp; Agentic Triage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2"/>
          <p:cNvSpPr/>
          <p:nvPr/>
        </p:nvSpPr>
        <p:spPr>
          <a:xfrm>
            <a:off x="733425" y="1685925"/>
            <a:ext cx="228600" cy="228600"/>
          </a:xfrm>
          <a:custGeom>
            <a:rect b="b" l="l" r="r" t="t"/>
            <a:pathLst>
              <a:path extrusionOk="0" h="228600" w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2"/>
          <p:cNvSpPr/>
          <p:nvPr/>
        </p:nvSpPr>
        <p:spPr>
          <a:xfrm>
            <a:off x="581025" y="2219325"/>
            <a:ext cx="5219700" cy="685800"/>
          </a:xfrm>
          <a:custGeom>
            <a:rect b="b" l="l" r="r" t="t"/>
            <a:pathLst>
              <a:path extrusionOk="0" h="685800" w="52197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2"/>
          <p:cNvSpPr/>
          <p:nvPr/>
        </p:nvSpPr>
        <p:spPr>
          <a:xfrm>
            <a:off x="581025" y="2981325"/>
            <a:ext cx="5219700" cy="685800"/>
          </a:xfrm>
          <a:custGeom>
            <a:rect b="b" l="l" r="r" t="t"/>
            <a:pathLst>
              <a:path extrusionOk="0" h="685800" w="52197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2"/>
          <p:cNvSpPr/>
          <p:nvPr/>
        </p:nvSpPr>
        <p:spPr>
          <a:xfrm>
            <a:off x="657225" y="3095625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2"/>
          <p:cNvSpPr/>
          <p:nvPr/>
        </p:nvSpPr>
        <p:spPr>
          <a:xfrm>
            <a:off x="581025" y="3743325"/>
            <a:ext cx="5219700" cy="685800"/>
          </a:xfrm>
          <a:custGeom>
            <a:rect b="b" l="l" r="r" t="t"/>
            <a:pathLst>
              <a:path extrusionOk="0" h="685800" w="52197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2"/>
          <p:cNvSpPr/>
          <p:nvPr/>
        </p:nvSpPr>
        <p:spPr>
          <a:xfrm>
            <a:off x="657225" y="3857625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2"/>
          <p:cNvSpPr/>
          <p:nvPr/>
        </p:nvSpPr>
        <p:spPr>
          <a:xfrm>
            <a:off x="581025" y="4505325"/>
            <a:ext cx="5219700" cy="685800"/>
          </a:xfrm>
          <a:custGeom>
            <a:rect b="b" l="l" r="r" t="t"/>
            <a:pathLst>
              <a:path extrusionOk="0" h="685800" w="52197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2"/>
          <p:cNvSpPr/>
          <p:nvPr/>
        </p:nvSpPr>
        <p:spPr>
          <a:xfrm>
            <a:off x="657225" y="4619625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2"/>
          <p:cNvSpPr/>
          <p:nvPr/>
        </p:nvSpPr>
        <p:spPr>
          <a:xfrm>
            <a:off x="581025" y="5267325"/>
            <a:ext cx="5219700" cy="685800"/>
          </a:xfrm>
          <a:custGeom>
            <a:rect b="b" l="l" r="r" t="t"/>
            <a:pathLst>
              <a:path extrusionOk="0" h="685800" w="5219700">
                <a:moveTo>
                  <a:pt x="114302" y="0"/>
                </a:moveTo>
                <a:lnTo>
                  <a:pt x="5105398" y="0"/>
                </a:lnTo>
                <a:cubicBezTo>
                  <a:pt x="5168483" y="0"/>
                  <a:pt x="5219700" y="51217"/>
                  <a:pt x="5219700" y="114302"/>
                </a:cubicBezTo>
                <a:lnTo>
                  <a:pt x="5219700" y="571498"/>
                </a:lnTo>
                <a:cubicBezTo>
                  <a:pt x="5219700" y="634583"/>
                  <a:pt x="5168483" y="685800"/>
                  <a:pt x="510539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2"/>
          <p:cNvSpPr/>
          <p:nvPr/>
        </p:nvSpPr>
        <p:spPr>
          <a:xfrm>
            <a:off x="3568917" y="1109401"/>
            <a:ext cx="5610225" cy="4810125"/>
          </a:xfrm>
          <a:custGeom>
            <a:rect b="b" l="l" r="r" t="t"/>
            <a:pathLst>
              <a:path extrusionOk="0" h="4810125" w="5610225">
                <a:moveTo>
                  <a:pt x="152385" y="0"/>
                </a:moveTo>
                <a:lnTo>
                  <a:pt x="5457840" y="0"/>
                </a:lnTo>
                <a:cubicBezTo>
                  <a:pt x="5542000" y="0"/>
                  <a:pt x="5610225" y="68225"/>
                  <a:pt x="5610225" y="152385"/>
                </a:cubicBezTo>
                <a:lnTo>
                  <a:pt x="5610225" y="4657740"/>
                </a:lnTo>
                <a:cubicBezTo>
                  <a:pt x="5610225" y="4741900"/>
                  <a:pt x="5542000" y="4810125"/>
                  <a:pt x="5457840" y="4810125"/>
                </a:cubicBezTo>
                <a:lnTo>
                  <a:pt x="152385" y="4810125"/>
                </a:lnTo>
                <a:cubicBezTo>
                  <a:pt x="68225" y="4810125"/>
                  <a:pt x="0" y="4741900"/>
                  <a:pt x="0" y="4657740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cap="flat" cmpd="sng" w="12700">
            <a:solidFill>
              <a:srgbClr val="4A908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2"/>
          <p:cNvSpPr/>
          <p:nvPr/>
        </p:nvSpPr>
        <p:spPr>
          <a:xfrm>
            <a:off x="342900" y="630555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D99A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Asian Institute of Technology — NLP Project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2"/>
          <p:cNvSpPr/>
          <p:nvPr/>
        </p:nvSpPr>
        <p:spPr>
          <a:xfrm>
            <a:off x="342900" y="657225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908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MediSim: Multimodal Diagnostic &amp; Agentic Triage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2"/>
          <p:cNvSpPr txBox="1"/>
          <p:nvPr/>
        </p:nvSpPr>
        <p:spPr>
          <a:xfrm>
            <a:off x="4613709" y="3012340"/>
            <a:ext cx="352063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